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mental-model deck, the first of three for this book. Its job is not to teach C++ syntax; it is to install the vocabulary and the hardware intuition that every later, more code-heavy deck assumes an audience already has. Concurrency and parallelism as independent axes, the real cost structure of the machine underneath a thread, why shared state is the place correctness gets hard, how to tell a trustworthy performance number from a flattering one, and what changes once the whole program runs inside a container.</a:t>
            </a:r>
          </a:p>
          <a:p>
            <a:r>
              <a:rPr sz="1200"/>
              <a:t>The audience is engineers new to concurrency and tech leads scoping a system, so the deck stays diagram-forward and light on code on purpose. Anyone who wants the concrete standard-library mechanisms that implement these ideas moves on to the 101 deck; anyone pushing toward microsecond-scale, low-latency systems moves on to the 201 deck after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Ten sections, read left to right, top to bottom. The first three build the vocabulary and the hardware ground truth: concurrency versus parallelism, the machine underneath a thread, and the clock and deadline discipline every timeout in the book depends on. The middle four get into why shared state is hard and how to reason about it honestly: locking and deadlock, the memory model, benchmarking without deception, and the two families of inter-process communication. The last three bring it to where it runs: debugging a race or a deadlock for real, what changes inside a container, and where the two companion decks pick up from here.</a:t>
            </a:r>
          </a:p>
          <a:p>
            <a:r>
              <a:rPr sz="1200"/>
              <a:t>Nothing in this agenda assumes prior concurrency experience; it assumes curiosity about why concurrent code is harder than it looks, and gives that curiosity a precise vocabulary to work with.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single most confused pair of words in the field, and the confusion costs real engineering time. Concurrency is a property of how a program is structured: how many units of work are outstanding at once. Parallelism is a property of how the machine executes it: how many of those units run at the same instant, on more than one core. Nothing requires the two to move together, and this section builds the shared vocabulary needed to keep them separate.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numbers to open the deck. Four execution models fall out of crossing two axes, not two models — sequential, concurrent alone, parallel alone, and both at once, and every one of them is a real, common shape of code. Zero cores beyond one are needed for a program to be fully concurrent: many tasks can queue and take turns on a single CPU, and that is still concurrency. A single statement, such as a standard-library call with an execution policy, can put every core on the box to work while reading as sequential code with no thread anywhere in sight. And underneath every sizing decision in this book sit two separate questions: how much independent work structure does the program need, and how much hardware is actually available to run it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grid is the vocabulary everything later in the book reaches for. Sequential is the baseline nobody argues about. Concurrent-not-parallel is structure with the hardware taken away on purpose — several runnable tasks pinned to one core, still taking turns. Parallel-not-concurrent is the opposite: almost no task structure visible in the source, yet every core on the box is busy, because the runtime supplied the parallelism without the caller writing any concurrent code at all. The fourth cell, both at once, is what an oversubscribed thread pool under real load actually looks like. The point worth landing here: sizing a thread pool is a parallelism decision, and deciding how many requests a handler can have outstanding is a concurrency decision — treating them as the same request is how a service ends up with far more threads than it has cores for.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core habit this slide tries to install: a core count or an affinity mask tells a program what it is allowed to do, never what it actually did. Only sampling which CPU a thread ran on, repeatedly across a run, tells you the outcome. Timing one execution model against another with a stopwatch is tempting and usually misleading, because wall-clock duration is sensitive to frequency scaling and whatever else is scheduled on the box at that moment. The fix the book uses throughout is to assert on counts that are reproducible in sign even when they are not reproducible in magnitude — how many distinct cores got touched, how many tasks were in flight at once. That habit of reaching for an observable outcome instead of a reported permission reappears every time a container or an orchestrator sits between the code and the hardware it assumes it has.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 later chapter talks about locks and atomics as if the machine were a uniform pool of execution units, and it isn't. A core shares its cache and execution ports with a sibling thread, sits at a measurably different distance from different banks of memory, and gets handed to another thread by a scheduler that charges real cycles for the privilege. None of that is optional background — it is why a correct, well-locked program can still run several times slower than it should, with every tool reporting no contention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latency numbers matter less than the shape: roughly two orders of magnitude separate an L1 hit from a DRAM miss, and the coherence protocol that keeps caches consistent across cores operates on a 64-byte line, not on the variable a programmer declared. That distinction is what makes false sharing possible and hard to see: two threads can write to two variables that are logically unrelated, and if those variables happen to land on the same cache line, every write from either side invalidates the other's copy of the whole line. Nothing in the source code suggests contention, because there is no shared variable and no lock — the collision is physical, not logical, and a profiler that counts cache misses without attributing them to a struct layout can miss it entirely.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slide that reframes what a context switch actually costs. The mechanical part — saving one thread's state and loading another's — is nearly free, on the order of a function call. What makes an unplanned switch expensive is almost entirely indirect: the incoming thread wakes up into a cold cache and has to rebuild the working set the outgoing thread just evicted, and that rebuild is paid in the following microseconds, not in the switch itself. For a service handling requests at microsecond scale, one unplanned switch mid-request can dominate the whole latency budget. That is also the motivation behind isolating a core from the scheduler's normal rotation entirely — it is a direct, mechanical answer to a cost this slide just quantified, not a vague performance tweak.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thread waiting on a lock, a socket, or a response needs to know how long it has been waiting, and it needs that answer to stay correct even while the wall clock is being corrected underneath it. This section fixes the clock choice once and shows the deadline discipline that every later timeout, in this book and in a real service, inherits from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rule is absolute: a duration or a deadline is always measured on steady_clock, never on system_clock. system_clock is wall time, and wall time gets corrected by NTP, which means it can be stepped forward or backward by the system — a stored deadline computed from system_clock can recede into the future if the clock steps backward, and a dead peer looks alive a little longer than it should. steady_clock carries exactly the guarantee a timeout needs: it never steps, only slews gently, and two reads always satisfy t1 &gt;= t0. The quiet trap in the family is high_resolution_clock — its name implies precision, not steadiness, and on some implementations it is simply an alias for system_clock, which makes it the wrong default whenever code is measuring an interval rather than displaying a timestamp.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slide is the practical payoff of the clock discipline. A request rarely stays inside one function — it calls into a connection pool, which calls into a query executor, which calls into a retry loop — and if each layer independently applies its own timeout to be careful, the caller's actual budget gets silently multiplied by however many layers are in the chain. The fix is mechanical: compute a single absolute deadline once, at the top, and hand that same time_point down through every hop instead of a duration that gets re-applied. Every hop does the same two things — check whether the deadline has already passed before doing any work, and pass the identical value further down. No hop can silently extend the total budget, and a hop that is already out of time fails fast instead of starting work it cannot finish. This is not a theoretical pattern — it is exactly what an HTTP client's request timeout and a gRPC deadline are doing underneath.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section where concurrency gets hard: more than one thread touching the same memory. The goal here is conceptual, not an API tour — what a lock actually is underneath the standard library, why an uncontended lock costs almost nothing, why a contended one costs orders of magnitude more, and why a deadlock produces no error at all, only a program that silently stops.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instinct that locks are expensive and worth minimizing measures the wrong variable. An uncontended std::mutex reduces to a single atomic compare-and-swap on a 32-bit word — no system call, no mode switch, no scheduler involvement, and an uncontended run's syscall profile looks identical to a program with no mutex at all. Only when that compare-and-swap loses, because another thread already holds the word, does the thread fall back to the futex syscall and ask the kernel to park it until woken. The practical takeaway: adding a mutex to data that is rarely contended costs one instruction and ownership of one cache line, indistinguishable in practice from no lock at all. What actually costs real cycles is waiting — contention is the thing worth minimizing, not the presence of synchronization.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Each family member trades away some of the default mutex's simplicity for one specific capability, and reaching for the wrong one is a common source of subtle bugs. A recursive_mutex exists for a call graph that must re-enter the same lock, not as a way to avoid thinking about who already holds it — every recursive acquisition is a place where the invariant the lock protects might already be mid-violation by the outer call. A timed_mutex trades correctness-under-contention for liveness: a server thread that would rather answer busy than block forever. A shared_mutex is the one that changes the concurrency model rather than adding a timeout, turning serialized reader traffic into parallel reads — but it is strictly more expensive per operation under light contention, so the payoff needs to be measured, not assumed. Across every member of the family, RAII wrapper types are what make the lock-forever bug structurally unreachable: the lock is tied to a scope's lifetime, not to a pair of calls a future refactor can separate.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textbook two-mutex deadlock needs only two threads acquiring the same two locks in opposite order, and the failure mode is worth naming precisely because it is so quiet: nothing raises an exception, returns an error code, or sets a flag. The two threads simply stop, forever, and the only external evidence is that every thread involved is parked waiting on a lock, visible only by inspecting the process from outside. There are two independent fixes, and they solve the problem differently. A global lock-ordering convention prevents the circular wait from ever forming, by requiring every thread to acquire shared locks in the same relative order — an organizational discipline, not a technical one, and it has to survive code review as new call sites appear. scoped_lock solves the same problem a different way: given two or more mutexes, it locks the first, attempts the rest, and backs off and retries from a different starting point if any attempt fails — the order the caller wrote the arguments in is not the order the implementation actually uses, so two threads naming the same two mutexes in opposite order cannot deadlock each other, not merely less often, but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 coordination primitive in the previous section is, underneath, built from two things: an atomic operation and a chosen ordering. This section is those two things directly — what std::atomic actually guarantees, what memory_order adds on top of that, and why the strongest ordering is not free on real hardware even though it is the easiest to reason about.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distinction the whole chapter turns on: atomicity and ordering are two separate guarantees, and atomicity alone does not hand you a correct handoff between threads. Consider a producer that writes a value into a slot and then writes a counter signaling the slot is ready — even if both operations are individually atomic, nothing about program order alone guarantees a consumer spinning on the counter actually sees the data write first. Both the compiler and the CPU are free to reorder independent memory operations as long as the reordering stays invisible to the thread that performed it, and a thread can never observe its own reordering by definition — the reordering only becomes visible to a different thread watching from another core, which is exactly the handoff situation this slide describes. A naive ring buffer built on plain atomic counters can exhibit this as a torn handoff that is intermittent, present only on the interleavings nobody's test happened to hit.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points on a spectrum, each giving up guarantees for cost, or buying guarantees at a cost. Sequential consistency is the strongest and the default: every seq_cst operation in the program joins one global total order every thread agrees on, which is strictly easier to reason about than a web of pairwise edges. Acquire and release, paired, create exactly one happens-before edge between the two specific threads at the specific point where one releases and the other acquires — nothing more. Relaxed promises indivisibility and nothing about ordering relative to anything else, and is only correct when some other mechanism already supplies the edge a location needs — it is a scalpel for a proven case, never a default reached for because the ordering argument felt inconvenient. On x86-64, acquire and release ride the hardware's own store-ordering guarantee almost for free, compiling to a plain move with no lock prefix — the one place the cost shows up is a seq_cst store, which needs a locked instruction to close a gap the hardware would otherwise leave open. The practical guidance: default to seq_cst until profiling shows the ordering matters on a specific hot path, then weaken it there, with a comment stating which other synchronization supplies the edge.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Several chapters in the book defer a performance claim to this methodology rather than to a single number, because the number depends on the host running it. The question this section answers is a prior one: when a measurement claims a path takes some number of nanoseconds, what has to be true for that claim to mean what it says.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Two separate deceptions on one slide. The first is temporal: the first several calls to almost any function are not representative of steady state, because the allocator has not carved out its arena yet, the branch predictor has not learned which way a check usually goes, and the caches are cold. A repeatable harness runs and discards a fixed number of throwaway iterations before timing anything, and the right count is the smallest one that makes reported percentiles stop drifting between runs. The second deception is statistical: latency distributions are heavy-tailed, most calls finishing in a narrow band with a small minority finishing orders of magnitude slower, and averaging those together drags the mean toward the tail while simultaneously hiding how bad the tail actually gets. A percentile answers a sharper question than a mean ever can — what latency do ninety-nine percent of calls beat — without blending the body and the tail into one misleading number.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failure mode that makes an otherwise careful benchmark lie specifically about the tail, the part a reader most needs to trust. A benchmark's timed loop is almost always closed — one iteration finishes before the next starts its clock — and if one iteration stalls for a thousand times its usual cost, the closed loop records exactly one sample for that stall. A real caller sending requests at a fixed rate does not pause while that stall plays out: several more requests queue up behind it, each waiting its turn, each experiencing a delay close to the stall's own length. The closed loop did not merely under-measure the tail, it erased the part of the distribution the tail exists to describe. The correction is mechanical once the picture is clear: for every sample exceeding the expected per-operation interval, backfill synthetic samples standing in for the requests that would have queued, and the corrected percentile is always at least as large as the raw one from the same run — a cheap sanity check any harness can assert on itself.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Everything earlier in the deck assumed threads sharing one address space. This section steps outside that assumption to communication between separate processes, possibly on separate machines, where the memory model no longer reaches and every handoff crosses a boundary the kernel, or a network, has to mediate.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two families trade the same resource in opposite directions: coupling for throughput, or throughput for decoupling. Shared memory is the tightest possible coupling — both sides must agree on a byte-for-byte layout, must run on the same machine, and must build their own notification scheme on top, typically a futex word a reader sleeps on and a writer wakes, paired with a seqlock so an optimistic read can detect and retry if a writer raced it. Message passing instead hands the work to the kernel, which copies the data at least once but, in exchange, handles ordering and delivery and gives back-pressure for free — a full kernel buffer blocks the writer rather than requiring hand-rolled coordination. Most production systems use both at once: shared memory for the tightest same-host, latency-critical handoff, and message passing for anything that needs to cross a process or machine boundary, tolerate a restart on either side, or simply does not sit on a latency-critical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decision guide version of the previous slide, and the underlying question behind every row is the same one: how tightly can the two sides afford to be coupled, and how much of that coupling cost actually gets paid back in latency or throughput where it matters. A latency-critical, same-host handoff justifies shared memory's coupling cost. A control-plane query that runs once a second does not, and reaching for raw shared memory there trades real engineering risk for a performance gain nobody will ever observe. Every stream-based transport in this table — TCP, a pipe, a UNIX stream socket — has no built-in message boundaries, so a length-prefix convention, a fixed field in front of each message stating exactly how many bytes follow, is close to universal in binary protocols: it needs no escaping, and the reader's job stays mechanical.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Races and deadlocks are scheduling-dependent by nature, which means a broken program can pass every plain run thrown at it. This section is about forcing a failure open on demand, rather than hoping the scheduler reproduces it, and then reading what a race detector actually says once it catches 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trap worth naming directly: treating a clean-looking result as proof of correctness is exactly backwards for a race, because the absence of a symptom is not the absence of the defect. A race that happens to resolve favorably under today's scheduler, kernel, and core count can resolve unfavorably the moment any one of those three things changes, with no code change at all — and an optimizing compiler can make it worse by assuming the program is race-free and hoisting a read out of a loop entirely, so the symptom stops being a wrong number and becomes a thread that never observes another thread's writes at all. The same logic applies to the textbook two-mutex deadlock: both threads have to reach their second lock call while the other already holds its first, a timing window narrow enough that the program can appear to work most of the time. The fix for demonstrating either bug reliably is the same idea: force the dangerous window open deliberately, rather than hoping the scheduler lands on it, which turns an occasional failure into the only kind worth handing to a debugger or a CI gate.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Each section of a race-detector report maps onto a specific fact the instrumentation observed during the one execution it actually ran. The two conflicting-access blocks are the heart of the report — both writes, in the common read-modify-write case, each with the full call stack that reached it. Naming the raced-on location matters more once the report involves a heap allocation rather than an obviously-named global, since the tool can trace that location back to which object's instance was involved. The deeper mechanism is a per-thread vector clock, updated at every synchronization point, tracking precisely which other threads' prior writes a given access is guaranteed to have observed — two accesses to the same location, at least one a write, with no happens-before relationship found between them, is the detector's working definition of a race, checked against the one interleaving the instrumented binary actually hit. That is also the report's sharpest limitation: this is dynamic analysis, so a clean run proves the exercised schedule and inputs hit no race, never that the program contains none.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 thread pool and polling loop so far assumed a program could see the machine it was actually running on. Inside a container that assumption breaks in a specific, mechanical way: a time budget and a fixed core set are configured from the same resource request but enforced by unrelated code paths in the kernel, and a pool sized correctly under one is badly oversized under the other.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Two independent cgroup controls, easy to confuse because they are set from the same flag or the same resource block, but enforced by unrelated code paths. A time budget says nothing about which physical cores the cgroup's threads may use — they remain free to run on any core the scheduler picks, and the quota taxes total CPU-seconds, not core count, so eight threads spread across eight cores exhaust a two-core budget exactly as fast as two threads running flat out on two cores. A fixed core set is the opposite kind of control: a thread spinning continuously on one of its cores just keeps running there, with no time accounting to exhaust at all. Both configurations can describe two cores to a person reading the resource request, and they behave completely differently under load — one throttles in bursts, the other never throttles because there is no time budget to exceed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trap worth building a mental alarm around. hardware_concurrency() answers a specific question — how many cores can a thread here be scheduled onto — and it answers that question correctly even inside a container, because a cpuset restriction does shrink the affinity mask the function reads. A time-based quota does nothing to that mask at all: it does not remove any core from the set a thread may run on, it only limits how much aggregate time the cgroup's threads may consume before being paused. A container given a two-core time budget on an unrestricted sixteen-core host will report sixteen, faithfully, because sixteen cores really are reachable. A program that sizes a thread pool from that number alone spins up far more threads than the time budget can run concurrently, and every one of them now competes for a slice that was never going to stretch that far. The fix is mechanical: read the actual constraint, the smaller of the cpuset-visible count and the quota, and prefer an orchestrator-supplied limit outright when one is present, since the orchestrator already knows the real allocation.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two interactions here are not symmetric, and knowing which one applies changes what pinning actually buys. Under a pure time quota with no core restriction, pinning a thread still works mechanically — it stops migrating — but it does nothing to protect that thread from being throttled, because the quota is accounted across the whole cgroup regardless of which cores its threads happen to be pinned to. A pinned thread spinning under a tight quota burns through the entire budget by itself and gets throttled exactly as it would unpinned; pinning buys cache locality there, not additional time. Under a fixed core set, pinning composes the way intuition expects, because the orchestrator has already removed those cores from the node's shared pool and granted them exclusively — the shape a guaranteed-quality pod with an integer core request produces under a static scheduling policy. The practical rule for a latency-sensitive workload follows directly: request whole cores under a policy that yields exclusive pinning, not a shared time budget, and watch the cgroup's own throttling counter as the clearest available signal when that is not possible.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Everything in this deck has been conceptual on purpose — what concurrency and parallelism mean, what the hardware actually provides, why shared state is hard, how to measure what is true. The two companion decks pick up exactly where this one stops: one builds the concrete C++ toolkit that implements these ideas, and the other tunes that toolkit for low-latency, high-throughput systems where microseconds are the unit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deck deliberately stayed light on code, because the point was the mental model, not the API surface. The 101 deck is where that model gets concrete: every idea introduced here, the four execution models, the futex underneath a mutex, the memory-order spectrum, maps onto a specific standard-library mechanism a C++ engineer reaches for directly. Threads and jthread give structure, coroutines and futures give two different shapes of asynchronous work, lock-free structures put the memory model from this deck to direct use, and the parallel algorithms turn hardware into completed work without hand-written thread management at all. Anyone who leaves this deck with the vocabulary should leave the 101 deck able to reach for the right tool, not just name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201 deck is for the reader building something closer to an exchange matching engine or another low-latency, high-throughput system, where the concepts from this deck stop being background and become the daily unit of reasoning. Mechanical sympathy and NUMA-aware placement extend the machine-underneath material from this deck into an explicit allocation and pinning strategy. The disruptor pattern is the shared-memory, lock-free end of the communication-models spectrum taken as far as it goes on a single host. And the benchmarking discipline from this deck stops being a methodology chapter and becomes the baseline every claim in that deck has to clear, including the coordinated-omission correction, because at microsecond scale a benchmark that lies about its own tail is worse than no benchmark at all. Read the 101 deck first if the toolkit itself still feels unfamiliar — the 201 deck assumes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To close: this deck's entire job was to replace a vague feeling that concurrency is hard with a precise model of why it is hard. Structure and execution are independent axes, the machine underneath a thread has real, measurable costs that a correct program can still pay unnecessarily, shared state needs both atomicity and ordering, and a performance number is only trustworthy once it has survived warmup, coordinated omission, and a percentile report rather than a mean.</a:t>
            </a:r>
          </a:p>
          <a:p>
            <a:r>
              <a:rPr sz="1200"/>
              <a:t>None of this required much C++ code, on purpose. The 101 deck picks up immediately after this one and builds the concrete toolkit, threads, coroutines, futures, lock-free structures, parallel algorithms, and the 201 deck tunes that toolkit for low-latency, high-throughput systems where the concepts in this deck stop being background and become the daily unit of reasoning.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Oval 1"/>
          <p:cNvSpPr/>
          <p:nvPr/>
        </p:nvSpPr>
        <p:spPr>
          <a:xfrm>
            <a:off x="914400" y="1371600"/>
            <a:ext cx="201168" cy="201168"/>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1371600"/>
            <a:ext cx="201168" cy="201168"/>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54480" y="1371600"/>
            <a:ext cx="201168" cy="201168"/>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57200"/>
          </a:xfrm>
          <a:prstGeom prst="rect">
            <a:avLst/>
          </a:prstGeom>
          <a:noFill/>
        </p:spPr>
        <p:txBody>
          <a:bodyPr wrap="square" anchor="t" lIns="45720" rIns="45720">
            <a:spAutoFit/>
          </a:bodyPr>
          <a:lstStyle/>
          <a:p>
            <a:pPr algn="l"/>
            <a:r>
              <a:rPr sz="2000" b="1" i="0">
                <a:solidFill>
                  <a:srgbClr val="EE0000"/>
                </a:solidFill>
                <a:latin typeface="Red Hat Display"/>
              </a:rPr>
              <a:t>DECK 100 — THE MENTAL MODEL</a:t>
            </a:r>
          </a:p>
        </p:txBody>
      </p:sp>
      <p:sp>
        <p:nvSpPr>
          <p:cNvPr id="6" name="TextBox 5"/>
          <p:cNvSpPr txBox="1"/>
          <p:nvPr/>
        </p:nvSpPr>
        <p:spPr>
          <a:xfrm>
            <a:off x="914400" y="2286000"/>
            <a:ext cx="10332720" cy="1371600"/>
          </a:xfrm>
          <a:prstGeom prst="rect">
            <a:avLst/>
          </a:prstGeom>
          <a:noFill/>
        </p:spPr>
        <p:txBody>
          <a:bodyPr wrap="square" anchor="t" lIns="45720" rIns="45720">
            <a:spAutoFit/>
          </a:bodyPr>
          <a:lstStyle/>
          <a:p>
            <a:pPr algn="l"/>
            <a:r>
              <a:rPr sz="4400" b="1" i="0">
                <a:solidFill>
                  <a:srgbClr val="FFFFFF"/>
                </a:solidFill>
                <a:latin typeface="Red Hat Display"/>
              </a:rPr>
              <a:t>Concurrency &amp; Parallelism:
The Mental Model</a:t>
            </a:r>
          </a:p>
        </p:txBody>
      </p:sp>
      <p:sp>
        <p:nvSpPr>
          <p:cNvPr id="7" name="TextBox 6"/>
          <p:cNvSpPr txBox="1"/>
          <p:nvPr/>
        </p:nvSpPr>
        <p:spPr>
          <a:xfrm>
            <a:off x="914400" y="4114800"/>
            <a:ext cx="10332720" cy="457200"/>
          </a:xfrm>
          <a:prstGeom prst="rect">
            <a:avLst/>
          </a:prstGeom>
          <a:noFill/>
        </p:spPr>
        <p:txBody>
          <a:bodyPr wrap="square" anchor="t" lIns="45720" rIns="45720">
            <a:spAutoFit/>
          </a:bodyPr>
          <a:lstStyle/>
          <a:p>
            <a:pPr algn="l"/>
            <a:r>
              <a:rPr sz="1600" b="0" i="0">
                <a:solidFill>
                  <a:srgbClr val="F4F4F4"/>
                </a:solidFill>
                <a:latin typeface="Red Hat Text"/>
              </a:rPr>
              <a:t>Structure vs execution  •  the machine underneath  •  shared state  •  measuring what's true  •  concurrency under an orchestrator</a:t>
            </a:r>
          </a:p>
        </p:txBody>
      </p:sp>
      <p:sp>
        <p:nvSpPr>
          <p:cNvPr id="8" name="TextBox 7"/>
          <p:cNvSpPr txBox="1"/>
          <p:nvPr/>
        </p:nvSpPr>
        <p:spPr>
          <a:xfrm>
            <a:off x="914400" y="4754880"/>
            <a:ext cx="10332720" cy="365760"/>
          </a:xfrm>
          <a:prstGeom prst="rect">
            <a:avLst/>
          </a:prstGeom>
          <a:noFill/>
        </p:spPr>
        <p:txBody>
          <a:bodyPr wrap="square" anchor="t" lIns="45720" rIns="45720">
            <a:spAutoFit/>
          </a:bodyPr>
          <a:lstStyle/>
          <a:p>
            <a:pPr algn="l"/>
            <a:r>
              <a:rPr sz="1400" b="0" i="1">
                <a:solidFill>
                  <a:srgbClr val="8A8A8A"/>
                </a:solidFill>
                <a:latin typeface="Red Hat Text"/>
              </a:rPr>
              <a:t>An introduction for engineers new to concurrency, and for tech leads scoping a system</a:t>
            </a:r>
          </a:p>
        </p:txBody>
      </p:sp>
      <p:sp>
        <p:nvSpPr>
          <p:cNvPr id="9" name="TextBox 8"/>
          <p:cNvSpPr txBox="1"/>
          <p:nvPr/>
        </p:nvSpPr>
        <p:spPr>
          <a:xfrm>
            <a:off x="914400" y="5394960"/>
            <a:ext cx="10332720" cy="365760"/>
          </a:xfrm>
          <a:prstGeom prst="rect">
            <a:avLst/>
          </a:prstGeom>
          <a:noFill/>
        </p:spPr>
        <p:txBody>
          <a:bodyPr wrap="square" anchor="t" lIns="45720" rIns="45720">
            <a:spAutoFit/>
          </a:bodyPr>
          <a:lstStyle/>
          <a:p>
            <a:pPr algn="l"/>
            <a:r>
              <a:rPr sz="1400" b="0" i="0">
                <a:solidFill>
                  <a:srgbClr val="EE0000"/>
                </a:solidFill>
                <a:latin typeface="Red Hat Text"/>
              </a:rPr>
              <a:t>Light on code, heavy on the model — the 101 and 201 decks build and tune the rest</a:t>
            </a:r>
          </a:p>
        </p:txBody>
      </p:sp>
      <p:sp>
        <p:nvSpPr>
          <p:cNvPr id="10" name="TextBox 9"/>
          <p:cNvSpPr txBox="1"/>
          <p:nvPr/>
        </p:nvSpPr>
        <p:spPr>
          <a:xfrm>
            <a:off x="914400" y="5943600"/>
            <a:ext cx="10332720" cy="365760"/>
          </a:xfrm>
          <a:prstGeom prst="rect">
            <a:avLst/>
          </a:prstGeom>
          <a:noFill/>
        </p:spPr>
        <p:txBody>
          <a:bodyPr wrap="square" anchor="t" lIns="45720" rIns="45720">
            <a:spAutoFit/>
          </a:bodyPr>
          <a:lstStyle/>
          <a:p>
            <a:pPr algn="l"/>
            <a:r>
              <a:rPr sz="1100" b="0" i="0">
                <a:solidFill>
                  <a:srgbClr val="8A8A8A"/>
                </a:solidFill>
                <a:latin typeface="Red Hat Mono"/>
              </a:rPr>
              <a:t>github.com/patterncatalyst/cpp-concurrency-and-parallelism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Agenda — ten ideas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Overview</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Agenda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 / 36</a:t>
            </a:r>
          </a:p>
        </p:txBody>
      </p:sp>
      <p:sp>
        <p:nvSpPr>
          <p:cNvPr id="8" name="Oval 7"/>
          <p:cNvSpPr/>
          <p:nvPr/>
        </p:nvSpPr>
        <p:spPr>
          <a:xfrm>
            <a:off x="457200" y="1005840"/>
            <a:ext cx="457200" cy="457200"/>
          </a:xfrm>
          <a:prstGeom prst="ellipse">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0584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a:t>
            </a:r>
          </a:p>
        </p:txBody>
      </p:sp>
      <p:sp>
        <p:nvSpPr>
          <p:cNvPr id="10" name="TextBox 9"/>
          <p:cNvSpPr txBox="1"/>
          <p:nvPr/>
        </p:nvSpPr>
        <p:spPr>
          <a:xfrm>
            <a:off x="1051560" y="100584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Concurrency vs Parallelism</a:t>
            </a:r>
          </a:p>
        </p:txBody>
      </p:sp>
      <p:sp>
        <p:nvSpPr>
          <p:cNvPr id="11" name="TextBox 10"/>
          <p:cNvSpPr txBox="1"/>
          <p:nvPr/>
        </p:nvSpPr>
        <p:spPr>
          <a:xfrm>
            <a:off x="1051560" y="1389888"/>
            <a:ext cx="4754880" cy="457200"/>
          </a:xfrm>
          <a:prstGeom prst="rect">
            <a:avLst/>
          </a:prstGeom>
          <a:noFill/>
        </p:spPr>
        <p:txBody>
          <a:bodyPr wrap="square" anchor="t" lIns="45720" rIns="45720">
            <a:spAutoFit/>
          </a:bodyPr>
          <a:lstStyle/>
          <a:p>
            <a:pPr algn="l"/>
            <a:r>
              <a:rPr sz="1100" b="0" i="1">
                <a:solidFill>
                  <a:srgbClr val="8A8A8A"/>
                </a:solidFill>
                <a:latin typeface="Red Hat Text"/>
              </a:rPr>
              <a:t>Structure and execution are independent axes — and most sizing mistakes come from conflating them.</a:t>
            </a:r>
          </a:p>
        </p:txBody>
      </p:sp>
      <p:sp>
        <p:nvSpPr>
          <p:cNvPr id="12" name="Oval 11"/>
          <p:cNvSpPr/>
          <p:nvPr/>
        </p:nvSpPr>
        <p:spPr>
          <a:xfrm>
            <a:off x="457200" y="1874520"/>
            <a:ext cx="457200" cy="457200"/>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7452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2</a:t>
            </a:r>
          </a:p>
        </p:txBody>
      </p:sp>
      <p:sp>
        <p:nvSpPr>
          <p:cNvPr id="14" name="TextBox 13"/>
          <p:cNvSpPr txBox="1"/>
          <p:nvPr/>
        </p:nvSpPr>
        <p:spPr>
          <a:xfrm>
            <a:off x="1051560" y="187452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The Machine Underneath</a:t>
            </a:r>
          </a:p>
        </p:txBody>
      </p:sp>
      <p:sp>
        <p:nvSpPr>
          <p:cNvPr id="15" name="TextBox 14"/>
          <p:cNvSpPr txBox="1"/>
          <p:nvPr/>
        </p:nvSpPr>
        <p:spPr>
          <a:xfrm>
            <a:off x="1051560" y="2258568"/>
            <a:ext cx="4754880" cy="457200"/>
          </a:xfrm>
          <a:prstGeom prst="rect">
            <a:avLst/>
          </a:prstGeom>
          <a:noFill/>
        </p:spPr>
        <p:txBody>
          <a:bodyPr wrap="square" anchor="t" lIns="45720" rIns="45720">
            <a:spAutoFit/>
          </a:bodyPr>
          <a:lstStyle/>
          <a:p>
            <a:pPr algn="l"/>
            <a:r>
              <a:rPr sz="1100" b="0" i="1">
                <a:solidFill>
                  <a:srgbClr val="8A8A8A"/>
                </a:solidFill>
                <a:latin typeface="Red Hat Text"/>
              </a:rPr>
              <a:t>A core is not an interchangeable unit — it has siblings, a cache hierarchy, and a scheduler that charges for every handoff.</a:t>
            </a:r>
          </a:p>
        </p:txBody>
      </p:sp>
      <p:sp>
        <p:nvSpPr>
          <p:cNvPr id="16" name="Oval 15"/>
          <p:cNvSpPr/>
          <p:nvPr/>
        </p:nvSpPr>
        <p:spPr>
          <a:xfrm>
            <a:off x="457200" y="2743200"/>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74320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3</a:t>
            </a:r>
          </a:p>
        </p:txBody>
      </p:sp>
      <p:sp>
        <p:nvSpPr>
          <p:cNvPr id="18" name="TextBox 17"/>
          <p:cNvSpPr txBox="1"/>
          <p:nvPr/>
        </p:nvSpPr>
        <p:spPr>
          <a:xfrm>
            <a:off x="1051560" y="274320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Time, Timers, and Deadlines</a:t>
            </a:r>
          </a:p>
        </p:txBody>
      </p:sp>
      <p:sp>
        <p:nvSpPr>
          <p:cNvPr id="19" name="TextBox 18"/>
          <p:cNvSpPr txBox="1"/>
          <p:nvPr/>
        </p:nvSpPr>
        <p:spPr>
          <a:xfrm>
            <a:off x="1051560" y="3127248"/>
            <a:ext cx="4754880" cy="457200"/>
          </a:xfrm>
          <a:prstGeom prst="rect">
            <a:avLst/>
          </a:prstGeom>
          <a:noFill/>
        </p:spPr>
        <p:txBody>
          <a:bodyPr wrap="square" anchor="t" lIns="45720" rIns="45720">
            <a:spAutoFit/>
          </a:bodyPr>
          <a:lstStyle/>
          <a:p>
            <a:pPr algn="l"/>
            <a:r>
              <a:rPr sz="1100" b="0" i="1">
                <a:solidFill>
                  <a:srgbClr val="8A8A8A"/>
                </a:solidFill>
                <a:latin typeface="Red Hat Text"/>
              </a:rPr>
              <a:t>Every timeout bug in production traces back to the wrong clock or a budget re-applied at every hop.</a:t>
            </a:r>
          </a:p>
        </p:txBody>
      </p:sp>
      <p:sp>
        <p:nvSpPr>
          <p:cNvPr id="20" name="Oval 19"/>
          <p:cNvSpPr/>
          <p:nvPr/>
        </p:nvSpPr>
        <p:spPr>
          <a:xfrm>
            <a:off x="457200" y="3611880"/>
            <a:ext cx="457200" cy="457200"/>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1188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4</a:t>
            </a:r>
          </a:p>
        </p:txBody>
      </p:sp>
      <p:sp>
        <p:nvSpPr>
          <p:cNvPr id="22" name="TextBox 21"/>
          <p:cNvSpPr txBox="1"/>
          <p:nvPr/>
        </p:nvSpPr>
        <p:spPr>
          <a:xfrm>
            <a:off x="1051560" y="361188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Shared State and Locking</a:t>
            </a:r>
          </a:p>
        </p:txBody>
      </p:sp>
      <p:sp>
        <p:nvSpPr>
          <p:cNvPr id="23" name="TextBox 22"/>
          <p:cNvSpPr txBox="1"/>
          <p:nvPr/>
        </p:nvSpPr>
        <p:spPr>
          <a:xfrm>
            <a:off x="1051560" y="3995928"/>
            <a:ext cx="4754880" cy="457200"/>
          </a:xfrm>
          <a:prstGeom prst="rect">
            <a:avLst/>
          </a:prstGeom>
          <a:noFill/>
        </p:spPr>
        <p:txBody>
          <a:bodyPr wrap="square" anchor="t" lIns="45720" rIns="45720">
            <a:spAutoFit/>
          </a:bodyPr>
          <a:lstStyle/>
          <a:p>
            <a:pPr algn="l"/>
            <a:r>
              <a:rPr sz="1100" b="0" i="1">
                <a:solidFill>
                  <a:srgbClr val="8A8A8A"/>
                </a:solidFill>
                <a:latin typeface="Red Hat Text"/>
              </a:rPr>
              <a:t>A mutex is a futex underneath — and the expensive part was never the lock, it was the wait.</a:t>
            </a:r>
          </a:p>
        </p:txBody>
      </p:sp>
      <p:sp>
        <p:nvSpPr>
          <p:cNvPr id="24" name="Oval 23"/>
          <p:cNvSpPr/>
          <p:nvPr/>
        </p:nvSpPr>
        <p:spPr>
          <a:xfrm>
            <a:off x="457200" y="4480560"/>
            <a:ext cx="457200" cy="457200"/>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48056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5</a:t>
            </a:r>
          </a:p>
        </p:txBody>
      </p:sp>
      <p:sp>
        <p:nvSpPr>
          <p:cNvPr id="26" name="TextBox 25"/>
          <p:cNvSpPr txBox="1"/>
          <p:nvPr/>
        </p:nvSpPr>
        <p:spPr>
          <a:xfrm>
            <a:off x="1051560" y="448056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Atomics and the Memory Model</a:t>
            </a:r>
          </a:p>
        </p:txBody>
      </p:sp>
      <p:sp>
        <p:nvSpPr>
          <p:cNvPr id="27" name="TextBox 26"/>
          <p:cNvSpPr txBox="1"/>
          <p:nvPr/>
        </p:nvSpPr>
        <p:spPr>
          <a:xfrm>
            <a:off x="1051560" y="4864608"/>
            <a:ext cx="4754880" cy="457200"/>
          </a:xfrm>
          <a:prstGeom prst="rect">
            <a:avLst/>
          </a:prstGeom>
          <a:noFill/>
        </p:spPr>
        <p:txBody>
          <a:bodyPr wrap="square" anchor="t" lIns="45720" rIns="45720">
            <a:spAutoFit/>
          </a:bodyPr>
          <a:lstStyle/>
          <a:p>
            <a:pPr algn="l"/>
            <a:r>
              <a:rPr sz="1100" b="0" i="1">
                <a:solidFill>
                  <a:srgbClr val="8A8A8A"/>
                </a:solidFill>
                <a:latin typeface="Red Hat Text"/>
              </a:rPr>
              <a:t>Indivisibility and visibility are two separate guarantees, and only one of them is automatic.</a:t>
            </a:r>
          </a:p>
        </p:txBody>
      </p:sp>
      <p:sp>
        <p:nvSpPr>
          <p:cNvPr id="28" name="Oval 27"/>
          <p:cNvSpPr/>
          <p:nvPr/>
        </p:nvSpPr>
        <p:spPr>
          <a:xfrm>
            <a:off x="6217920" y="1005840"/>
            <a:ext cx="457200" cy="45720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100584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6</a:t>
            </a:r>
          </a:p>
        </p:txBody>
      </p:sp>
      <p:sp>
        <p:nvSpPr>
          <p:cNvPr id="30" name="TextBox 29"/>
          <p:cNvSpPr txBox="1"/>
          <p:nvPr/>
        </p:nvSpPr>
        <p:spPr>
          <a:xfrm>
            <a:off x="6812280" y="100584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Benchmarking Without Deception</a:t>
            </a:r>
          </a:p>
        </p:txBody>
      </p:sp>
      <p:sp>
        <p:nvSpPr>
          <p:cNvPr id="31" name="TextBox 30"/>
          <p:cNvSpPr txBox="1"/>
          <p:nvPr/>
        </p:nvSpPr>
        <p:spPr>
          <a:xfrm>
            <a:off x="6812280" y="1389888"/>
            <a:ext cx="4754880" cy="457200"/>
          </a:xfrm>
          <a:prstGeom prst="rect">
            <a:avLst/>
          </a:prstGeom>
          <a:noFill/>
        </p:spPr>
        <p:txBody>
          <a:bodyPr wrap="square" anchor="t" lIns="45720" rIns="45720">
            <a:spAutoFit/>
          </a:bodyPr>
          <a:lstStyle/>
          <a:p>
            <a:pPr algn="l"/>
            <a:r>
              <a:rPr sz="1100" b="0" i="1">
                <a:solidFill>
                  <a:srgbClr val="8A8A8A"/>
                </a:solidFill>
                <a:latin typeface="Red Hat Text"/>
              </a:rPr>
              <a:t>A fast-looking number can still be a lie — warmup, coordinated omission, and percentiles are how a measurement earns trust.</a:t>
            </a:r>
          </a:p>
        </p:txBody>
      </p:sp>
      <p:sp>
        <p:nvSpPr>
          <p:cNvPr id="32" name="Oval 31"/>
          <p:cNvSpPr/>
          <p:nvPr/>
        </p:nvSpPr>
        <p:spPr>
          <a:xfrm>
            <a:off x="6217920" y="1874520"/>
            <a:ext cx="457200" cy="457200"/>
          </a:xfrm>
          <a:prstGeom prst="ellipse">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187452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7</a:t>
            </a:r>
          </a:p>
        </p:txBody>
      </p:sp>
      <p:sp>
        <p:nvSpPr>
          <p:cNvPr id="34" name="TextBox 33"/>
          <p:cNvSpPr txBox="1"/>
          <p:nvPr/>
        </p:nvSpPr>
        <p:spPr>
          <a:xfrm>
            <a:off x="6812280" y="187452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Communication Models</a:t>
            </a:r>
          </a:p>
        </p:txBody>
      </p:sp>
      <p:sp>
        <p:nvSpPr>
          <p:cNvPr id="35" name="TextBox 34"/>
          <p:cNvSpPr txBox="1"/>
          <p:nvPr/>
        </p:nvSpPr>
        <p:spPr>
          <a:xfrm>
            <a:off x="6812280" y="2258568"/>
            <a:ext cx="4754880" cy="457200"/>
          </a:xfrm>
          <a:prstGeom prst="rect">
            <a:avLst/>
          </a:prstGeom>
          <a:noFill/>
        </p:spPr>
        <p:txBody>
          <a:bodyPr wrap="square" anchor="t" lIns="45720" rIns="45720">
            <a:spAutoFit/>
          </a:bodyPr>
          <a:lstStyle/>
          <a:p>
            <a:pPr algn="l"/>
            <a:r>
              <a:rPr sz="1100" b="0" i="1">
                <a:solidFill>
                  <a:srgbClr val="8A8A8A"/>
                </a:solidFill>
                <a:latin typeface="Red Hat Text"/>
              </a:rPr>
              <a:t>Shared memory and message passing are the two families of inter-process communication, and the choice is about coupling, not just speed.</a:t>
            </a:r>
          </a:p>
        </p:txBody>
      </p:sp>
      <p:sp>
        <p:nvSpPr>
          <p:cNvPr id="36" name="Oval 35"/>
          <p:cNvSpPr/>
          <p:nvPr/>
        </p:nvSpPr>
        <p:spPr>
          <a:xfrm>
            <a:off x="6217920" y="2743200"/>
            <a:ext cx="457200" cy="457200"/>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274320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8</a:t>
            </a:r>
          </a:p>
        </p:txBody>
      </p:sp>
      <p:sp>
        <p:nvSpPr>
          <p:cNvPr id="38" name="TextBox 37"/>
          <p:cNvSpPr txBox="1"/>
          <p:nvPr/>
        </p:nvSpPr>
        <p:spPr>
          <a:xfrm>
            <a:off x="6812280" y="274320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Debugging Races and Deadlocks</a:t>
            </a:r>
          </a:p>
        </p:txBody>
      </p:sp>
      <p:sp>
        <p:nvSpPr>
          <p:cNvPr id="39" name="TextBox 38"/>
          <p:cNvSpPr txBox="1"/>
          <p:nvPr/>
        </p:nvSpPr>
        <p:spPr>
          <a:xfrm>
            <a:off x="6812280" y="3127248"/>
            <a:ext cx="4754880" cy="457200"/>
          </a:xfrm>
          <a:prstGeom prst="rect">
            <a:avLst/>
          </a:prstGeom>
          <a:noFill/>
        </p:spPr>
        <p:txBody>
          <a:bodyPr wrap="square" anchor="t" lIns="45720" rIns="45720">
            <a:spAutoFit/>
          </a:bodyPr>
          <a:lstStyle/>
          <a:p>
            <a:pPr algn="l"/>
            <a:r>
              <a:rPr sz="1100" b="0" i="1">
                <a:solidFill>
                  <a:srgbClr val="8A8A8A"/>
                </a:solidFill>
                <a:latin typeface="Red Hat Text"/>
              </a:rPr>
              <a:t>A race explained in the abstract teaches nothing — a correct-looking run is evidence of nothing either.</a:t>
            </a:r>
          </a:p>
        </p:txBody>
      </p:sp>
      <p:sp>
        <p:nvSpPr>
          <p:cNvPr id="40" name="Oval 39"/>
          <p:cNvSpPr/>
          <p:nvPr/>
        </p:nvSpPr>
        <p:spPr>
          <a:xfrm>
            <a:off x="6217920" y="3611880"/>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0" y="361188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9</a:t>
            </a:r>
          </a:p>
        </p:txBody>
      </p:sp>
      <p:sp>
        <p:nvSpPr>
          <p:cNvPr id="42" name="TextBox 41"/>
          <p:cNvSpPr txBox="1"/>
          <p:nvPr/>
        </p:nvSpPr>
        <p:spPr>
          <a:xfrm>
            <a:off x="6812280" y="361188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Concurrency in Containers</a:t>
            </a:r>
          </a:p>
        </p:txBody>
      </p:sp>
      <p:sp>
        <p:nvSpPr>
          <p:cNvPr id="43" name="TextBox 42"/>
          <p:cNvSpPr txBox="1"/>
          <p:nvPr/>
        </p:nvSpPr>
        <p:spPr>
          <a:xfrm>
            <a:off x="6812280" y="3995928"/>
            <a:ext cx="4754880" cy="457200"/>
          </a:xfrm>
          <a:prstGeom prst="rect">
            <a:avLst/>
          </a:prstGeom>
          <a:noFill/>
        </p:spPr>
        <p:txBody>
          <a:bodyPr wrap="square" anchor="t" lIns="45720" rIns="45720">
            <a:spAutoFit/>
          </a:bodyPr>
          <a:lstStyle/>
          <a:p>
            <a:pPr algn="l"/>
            <a:r>
              <a:rPr sz="1100" b="0" i="1">
                <a:solidFill>
                  <a:srgbClr val="8A8A8A"/>
                </a:solidFill>
                <a:latin typeface="Red Hat Text"/>
              </a:rPr>
              <a:t>The kernel interface a program queries for core count and the control that actually throttles it are two different mechanisms.</a:t>
            </a:r>
          </a:p>
        </p:txBody>
      </p:sp>
      <p:sp>
        <p:nvSpPr>
          <p:cNvPr id="44" name="Oval 43"/>
          <p:cNvSpPr/>
          <p:nvPr/>
        </p:nvSpPr>
        <p:spPr>
          <a:xfrm>
            <a:off x="6217920" y="4480560"/>
            <a:ext cx="457200" cy="457200"/>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0" y="448056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10</a:t>
            </a:r>
          </a:p>
        </p:txBody>
      </p:sp>
      <p:sp>
        <p:nvSpPr>
          <p:cNvPr id="46" name="TextBox 45"/>
          <p:cNvSpPr txBox="1"/>
          <p:nvPr/>
        </p:nvSpPr>
        <p:spPr>
          <a:xfrm>
            <a:off x="6812280" y="4480560"/>
            <a:ext cx="4754880" cy="457200"/>
          </a:xfrm>
          <a:prstGeom prst="rect">
            <a:avLst/>
          </a:prstGeom>
          <a:noFill/>
        </p:spPr>
        <p:txBody>
          <a:bodyPr wrap="square" anchor="ctr" lIns="45720" rIns="45720">
            <a:spAutoFit/>
          </a:bodyPr>
          <a:lstStyle/>
          <a:p>
            <a:pPr algn="l"/>
            <a:r>
              <a:rPr sz="1600" b="1" i="0">
                <a:solidFill>
                  <a:srgbClr val="151515"/>
                </a:solidFill>
                <a:latin typeface="Red Hat Display"/>
              </a:rPr>
              <a:t>Where to Go Next</a:t>
            </a:r>
          </a:p>
        </p:txBody>
      </p:sp>
      <p:sp>
        <p:nvSpPr>
          <p:cNvPr id="47" name="TextBox 46"/>
          <p:cNvSpPr txBox="1"/>
          <p:nvPr/>
        </p:nvSpPr>
        <p:spPr>
          <a:xfrm>
            <a:off x="6812280" y="4864608"/>
            <a:ext cx="4754880" cy="457200"/>
          </a:xfrm>
          <a:prstGeom prst="rect">
            <a:avLst/>
          </a:prstGeom>
          <a:noFill/>
        </p:spPr>
        <p:txBody>
          <a:bodyPr wrap="square" anchor="t" lIns="45720" rIns="45720">
            <a:spAutoFit/>
          </a:bodyPr>
          <a:lstStyle/>
          <a:p>
            <a:pPr algn="l"/>
            <a:r>
              <a:rPr sz="1100" b="0" i="1">
                <a:solidFill>
                  <a:srgbClr val="8A8A8A"/>
                </a:solidFill>
                <a:latin typeface="Red Hat Text"/>
              </a:rPr>
              <a:t>This deck sold the mental model. The next two decks build the toolkit and tune it for the microsecond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Concurrency vs Parallelism</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Structure and execution are independent axes — and most sizing mistakes come from conflating them.</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vs Parallelism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Concurrency vs Parallelism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Four Execution Models</a:t>
            </a:r>
          </a:p>
        </p:txBody>
      </p:sp>
      <p:sp>
        <p:nvSpPr>
          <p:cNvPr id="9" name="Rectangle 8"/>
          <p:cNvSpPr/>
          <p:nvPr/>
        </p:nvSpPr>
        <p:spPr>
          <a:xfrm>
            <a:off x="4572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0066CC"/>
                </a:solidFill>
                <a:latin typeface="Red Hat Display"/>
              </a:rPr>
              <a:t>4</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execution models formed by crossing structure and execution</a:t>
            </a:r>
          </a:p>
        </p:txBody>
      </p:sp>
      <p:sp>
        <p:nvSpPr>
          <p:cNvPr id="12" name="Rectangle 11"/>
          <p:cNvSpPr/>
          <p:nvPr/>
        </p:nvSpPr>
        <p:spPr>
          <a:xfrm>
            <a:off x="33147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006E6E"/>
                </a:solidFill>
                <a:latin typeface="Red Hat Display"/>
              </a:rPr>
              <a:t>0</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cores needed to be fully concurrent on a single CPU</a:t>
            </a:r>
          </a:p>
        </p:txBody>
      </p:sp>
      <p:sp>
        <p:nvSpPr>
          <p:cNvPr id="15" name="Rectangle 14"/>
          <p:cNvSpPr/>
          <p:nvPr/>
        </p:nvSpPr>
        <p:spPr>
          <a:xfrm>
            <a:off x="61722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EE0000"/>
                </a:solidFill>
                <a:latin typeface="Red Hat Display"/>
              </a:rPr>
              <a:t>1</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statement can saturate every core with no visible task structure</a:t>
            </a:r>
          </a:p>
        </p:txBody>
      </p:sp>
      <p:sp>
        <p:nvSpPr>
          <p:cNvPr id="18" name="Rectangle 17"/>
          <p:cNvSpPr/>
          <p:nvPr/>
        </p:nvSpPr>
        <p:spPr>
          <a:xfrm>
            <a:off x="9029700" y="1554480"/>
            <a:ext cx="26746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6A1B9A"/>
                </a:solidFill>
                <a:latin typeface="Red Hat Display"/>
              </a:rPr>
              <a:t>2</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51515"/>
                </a:solidFill>
                <a:latin typeface="Red Hat Text"/>
              </a:rPr>
              <a:t>independent questions behind every sizing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vs Parallelism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Concurrency vs Parallelism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Execution Model Grid</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Structure and hardware, crossed</a:t>
            </a:r>
          </a:p>
          <a:p>
            <a:pPr algn="l">
              <a:lnSpc>
                <a:spcPct val="115000"/>
              </a:lnSpc>
            </a:pPr>
            <a:r>
              <a:rPr sz="1600" b="0" i="0">
                <a:solidFill>
                  <a:srgbClr val="151515"/>
                </a:solidFill>
                <a:latin typeface="Red Hat Text"/>
              </a:rPr>
              <a:t>•  Sequential — one task, one core, neither axis engaged</a:t>
            </a:r>
          </a:p>
          <a:p>
            <a:pPr algn="l">
              <a:lnSpc>
                <a:spcPct val="115000"/>
              </a:lnSpc>
            </a:pPr>
            <a:r>
              <a:rPr sz="1600" b="0" i="0">
                <a:solidFill>
                  <a:srgbClr val="151515"/>
                </a:solidFill>
                <a:latin typeface="Red Hat Text"/>
              </a:rPr>
              <a:t>•  Concurrent, not parallel — many tasks, deliberately pinned to one core</a:t>
            </a:r>
          </a:p>
          <a:p>
            <a:pPr algn="l">
              <a:lnSpc>
                <a:spcPct val="115000"/>
              </a:lnSpc>
            </a:pPr>
            <a:r>
              <a:rPr sz="1600" b="0" i="0">
                <a:solidFill>
                  <a:srgbClr val="151515"/>
                </a:solidFill>
                <a:latin typeface="Red Hat Text"/>
              </a:rPr>
              <a:t>•  Parallel, not concurrent — one logical operation, fanned across cores by the runtime</a:t>
            </a:r>
          </a:p>
          <a:p>
            <a:pPr algn="l">
              <a:lnSpc>
                <a:spcPct val="115000"/>
              </a:lnSpc>
            </a:pPr>
            <a:r>
              <a:rPr sz="1600" b="0" i="0">
                <a:solidFill>
                  <a:srgbClr val="151515"/>
                </a:solidFill>
                <a:latin typeface="Red Hat Text"/>
              </a:rPr>
              <a:t>•  Concurrent and parallel — more tasks than cores, unpinned, the ordinary shape of load</a:t>
            </a:r>
          </a:p>
          <a:p>
            <a:pPr algn="l">
              <a:lnSpc>
                <a:spcPct val="115000"/>
              </a:lnSpc>
            </a:pPr>
            <a:r>
              <a:rPr sz="1400" b="0" i="1">
                <a:solidFill>
                  <a:srgbClr val="8A8A8A"/>
                </a:solidFill>
                <a:latin typeface="Red Hat Text"/>
              </a:rPr>
              <a:t>Lock contention lives on the concurrency axis even when both threads sit on the same core and never run in parallel for an instant.</a:t>
            </a:r>
          </a:p>
        </p:txBody>
      </p:sp>
      <p:pic>
        <p:nvPicPr>
          <p:cNvPr id="10" name="Picture 9" descr="01-execution-models.jpg"/>
          <p:cNvPicPr>
            <a:picLocks noChangeAspect="1"/>
          </p:cNvPicPr>
          <p:nvPr/>
        </p:nvPicPr>
        <p:blipFill>
          <a:blip r:embed="rId2"/>
          <a:stretch>
            <a:fillRect/>
          </a:stretch>
        </p:blipFill>
        <p:spPr>
          <a:xfrm>
            <a:off x="6217920" y="1554480"/>
            <a:ext cx="5486400" cy="3194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vs Parallelism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Concurrency vs Parallelism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6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Permission vs Outcome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6E6E"/>
                </a:solidFill>
                <a:latin typeface="Red Hat Text"/>
              </a:rPr>
              <a:t>What the machine allows is not what it did</a:t>
            </a:r>
          </a:p>
          <a:p>
            <a:pPr algn="l">
              <a:lnSpc>
                <a:spcPct val="115000"/>
              </a:lnSpc>
            </a:pPr>
            <a:r>
              <a:rPr sz="1600" b="0" i="0">
                <a:solidFill>
                  <a:srgbClr val="151515"/>
                </a:solidFill>
                <a:latin typeface="Red Hat Text"/>
              </a:rPr>
              <a:t>•  hardware_concurrency() and sched_getaffinity report a permission</a:t>
            </a:r>
          </a:p>
          <a:p>
            <a:pPr algn="l">
              <a:lnSpc>
                <a:spcPct val="115000"/>
              </a:lnSpc>
            </a:pPr>
            <a:r>
              <a:rPr sz="1600" b="0" i="0">
                <a:solidFill>
                  <a:srgbClr val="151515"/>
                </a:solidFill>
                <a:latin typeface="Red Hat Text"/>
              </a:rPr>
              <a:t>•  Only sampling where threads actually ran reports an outcome</a:t>
            </a:r>
          </a:p>
          <a:p>
            <a:pPr algn="l">
              <a:lnSpc>
                <a:spcPct val="115000"/>
              </a:lnSpc>
            </a:pPr>
            <a:r>
              <a:rPr sz="1600" b="0" i="0">
                <a:solidFill>
                  <a:srgbClr val="151515"/>
                </a:solidFill>
                <a:latin typeface="Red Hat Text"/>
              </a:rPr>
              <a:t>•  A permission is not an outcome, and conflating them hides capacity-planning bugs inside what looks like a concurrency bug</a:t>
            </a:r>
          </a:p>
          <a:p>
            <a:pPr algn="l">
              <a:lnSpc>
                <a:spcPct val="115000"/>
              </a:lnSpc>
            </a:pPr>
            <a:r>
              <a:rPr sz="1600" b="0" i="0">
                <a:solidFill>
                  <a:srgbClr val="151515"/>
                </a:solidFill>
                <a:latin typeface="Red Hat Text"/>
              </a:rPr>
              <a:t>•  Measure execution with counts whose sign is stable across runs — distinct CPUs touched, an in-flight high-water mark — rather than wall-clock duration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The Machine Underneath</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core is not an interchangeable unit — it has siblings, a cache hierarchy, and a scheduler that charges for every handoff.</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7 / 36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Machine Underneath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The Machine Underneath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8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Cache Hierarchy and Coherence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The 64-byte line, not the variable, is the unit</a:t>
            </a:r>
          </a:p>
          <a:p>
            <a:pPr algn="l">
              <a:lnSpc>
                <a:spcPct val="115000"/>
              </a:lnSpc>
            </a:pPr>
            <a:r>
              <a:rPr sz="1600" b="0" i="0">
                <a:solidFill>
                  <a:srgbClr val="151515"/>
                </a:solidFill>
                <a:latin typeface="Red Hat Text"/>
              </a:rPr>
              <a:t>•  L1 near 4 cycles, L2 near 12, shared L3 near 40, DRAM 100–300</a:t>
            </a:r>
          </a:p>
          <a:p>
            <a:pPr algn="l">
              <a:lnSpc>
                <a:spcPct val="115000"/>
              </a:lnSpc>
            </a:pPr>
            <a:r>
              <a:rPr sz="1600" b="0" i="0">
                <a:solidFill>
                  <a:srgbClr val="151515"/>
                </a:solidFill>
                <a:latin typeface="Red Hat Text"/>
              </a:rPr>
              <a:t>•  MESI keeps a cache line's copies consistent across cores — Modified, Exclusive, Shared, Invalid</a:t>
            </a:r>
          </a:p>
          <a:p>
            <a:pPr algn="l">
              <a:lnSpc>
                <a:spcPct val="115000"/>
              </a:lnSpc>
            </a:pPr>
            <a:r>
              <a:rPr sz="1600" b="0" i="0">
                <a:solidFill>
                  <a:srgbClr val="151515"/>
                </a:solidFill>
                <a:latin typeface="Red Hat Text"/>
              </a:rPr>
              <a:t>•  A write to a shared line invalidates every other core's copy of that line</a:t>
            </a:r>
          </a:p>
          <a:p>
            <a:pPr algn="l">
              <a:lnSpc>
                <a:spcPct val="115000"/>
              </a:lnSpc>
            </a:pPr>
            <a:r>
              <a:rPr sz="1600" b="0" i="0">
                <a:solidFill>
                  <a:srgbClr val="151515"/>
                </a:solidFill>
                <a:latin typeface="Red Hat Text"/>
              </a:rPr>
              <a:t>•  False sharing: two unrelated variables on one 64-byte line pay full cross-core traffic with no shared variable and no lock in sight</a:t>
            </a:r>
          </a:p>
        </p:txBody>
      </p:sp>
      <p:pic>
        <p:nvPicPr>
          <p:cNvPr id="10" name="Picture 9" descr="02-cache-hierarchy-mesi.jpg"/>
          <p:cNvPicPr>
            <a:picLocks noChangeAspect="1"/>
          </p:cNvPicPr>
          <p:nvPr/>
        </p:nvPicPr>
        <p:blipFill>
          <a:blip r:embed="rId2"/>
          <a:stretch>
            <a:fillRect/>
          </a:stretch>
        </p:blipFill>
        <p:spPr>
          <a:xfrm>
            <a:off x="6217920" y="1554480"/>
            <a:ext cx="5486400" cy="212509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Machine Underneath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The Machine Underneath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9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Cost of a Switch</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B36B00"/>
                </a:solidFill>
                <a:latin typeface="Red Hat Text"/>
              </a:rPr>
              <a:t>Cheap to switch, expensive to resume</a:t>
            </a:r>
          </a:p>
          <a:p>
            <a:pPr algn="l">
              <a:lnSpc>
                <a:spcPct val="115000"/>
              </a:lnSpc>
            </a:pPr>
            <a:r>
              <a:rPr sz="1600" b="0" i="0">
                <a:solidFill>
                  <a:srgbClr val="151515"/>
                </a:solidFill>
                <a:latin typeface="Red Hat Text"/>
              </a:rPr>
              <a:t>•  Saving registers and the stack pointer costs tens to a few hundred nanoseconds — cheap</a:t>
            </a:r>
          </a:p>
          <a:p>
            <a:pPr algn="l">
              <a:lnSpc>
                <a:spcPct val="115000"/>
              </a:lnSpc>
            </a:pPr>
            <a:r>
              <a:rPr sz="1600" b="0" i="0">
                <a:solidFill>
                  <a:srgbClr val="151515"/>
                </a:solidFill>
                <a:latin typeface="Red Hat Text"/>
              </a:rPr>
              <a:t>•  The real cost is indirect: the outgoing thread's cache working set gets evicted</a:t>
            </a:r>
          </a:p>
          <a:p>
            <a:pPr algn="l">
              <a:lnSpc>
                <a:spcPct val="115000"/>
              </a:lnSpc>
            </a:pPr>
            <a:r>
              <a:rPr sz="1600" b="0" i="0">
                <a:solidFill>
                  <a:srgbClr val="151515"/>
                </a:solidFill>
                <a:latin typeface="Red Hat Text"/>
              </a:rPr>
              <a:t>•  The incoming thread resumes into a cold cache and pays a string of misses it would not have paid otherwise</a:t>
            </a:r>
          </a:p>
          <a:p>
            <a:pPr algn="l">
              <a:lnSpc>
                <a:spcPct val="115000"/>
              </a:lnSpc>
            </a:pPr>
            <a:r>
              <a:rPr sz="1600" b="0" i="0">
                <a:solidFill>
                  <a:srgbClr val="151515"/>
                </a:solidFill>
                <a:latin typeface="Red Hat Text"/>
              </a:rPr>
              <a:t>•  End to end, a switch commonly costs low single-digit microseconds — for a request handled in tens of microseconds, that is most of the latency</a:t>
            </a:r>
          </a:p>
          <a:p>
            <a:pPr algn="l">
              <a:lnSpc>
                <a:spcPct val="115000"/>
              </a:lnSpc>
            </a:pPr>
            <a:r>
              <a:rPr sz="1400" b="0" i="1">
                <a:solidFill>
                  <a:srgbClr val="8A8A8A"/>
                </a:solidFill>
                <a:latin typeface="Red Hat Text"/>
              </a:rPr>
              <a:t>isolcpus and nohz_full remove the scheduler from the decision entirely, trading idle capacity for predictable tail latency.</a:t>
            </a:r>
          </a:p>
        </p:txBody>
      </p:sp>
      <p:pic>
        <p:nvPicPr>
          <p:cNvPr id="10" name="Picture 9" descr="02-context-switch-anatomy.jpg"/>
          <p:cNvPicPr>
            <a:picLocks noChangeAspect="1"/>
          </p:cNvPicPr>
          <p:nvPr/>
        </p:nvPicPr>
        <p:blipFill>
          <a:blip r:embed="rId2"/>
          <a:stretch>
            <a:fillRect/>
          </a:stretch>
        </p:blipFill>
        <p:spPr>
          <a:xfrm>
            <a:off x="6217920" y="1554480"/>
            <a:ext cx="5486400" cy="20440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Time, Timers, and Deadlines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Every timeout bug in production traces back to the wrong clock or a budget re-applied at every hop.</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10 / 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Time, Timers, and Deadlines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Time, Timers, and Deadlines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11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Two Clocks, One Rule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steady_clock never steps; system_clock can</a:t>
            </a:r>
          </a:p>
          <a:p>
            <a:pPr algn="l">
              <a:lnSpc>
                <a:spcPct val="115000"/>
              </a:lnSpc>
            </a:pPr>
            <a:r>
              <a:rPr sz="1600" b="0" i="0">
                <a:solidFill>
                  <a:srgbClr val="151515"/>
                </a:solidFill>
                <a:latin typeface="Red Hat Text"/>
              </a:rPr>
              <a:t>•  system_clock is wall time, disciplined by NTP, and can move backward between two reads</a:t>
            </a:r>
          </a:p>
          <a:p>
            <a:pPr algn="l">
              <a:lnSpc>
                <a:spcPct val="115000"/>
              </a:lnSpc>
            </a:pPr>
            <a:r>
              <a:rPr sz="1600" b="0" i="0">
                <a:solidFill>
                  <a:srgbClr val="151515"/>
                </a:solidFill>
                <a:latin typeface="Red Hat Text"/>
              </a:rPr>
              <a:t>•  steady_clock counts from an unspecified epoch and guarantees t1 &gt;= t0, always</a:t>
            </a:r>
          </a:p>
          <a:p>
            <a:pPr algn="l">
              <a:lnSpc>
                <a:spcPct val="115000"/>
              </a:lnSpc>
            </a:pPr>
            <a:r>
              <a:rPr sz="1600" b="0" i="0">
                <a:solidFill>
                  <a:srgbClr val="151515"/>
                </a:solidFill>
                <a:latin typeface="Red Hat Text"/>
              </a:rPr>
              <a:t>•  Any duration or deadline is measured on steady_clock — never on system_clock</a:t>
            </a:r>
          </a:p>
          <a:p>
            <a:pPr algn="l">
              <a:lnSpc>
                <a:spcPct val="115000"/>
              </a:lnSpc>
            </a:pPr>
            <a:r>
              <a:rPr sz="1600" b="0" i="0">
                <a:solidFill>
                  <a:srgbClr val="151515"/>
                </a:solidFill>
                <a:latin typeface="Red Hat Text"/>
              </a:rPr>
              <a:t>•  high_resolution_clock carries no steadiness guarantee; some standard libraries alias it to system_clock</a:t>
            </a:r>
          </a:p>
        </p:txBody>
      </p:sp>
      <p:pic>
        <p:nvPicPr>
          <p:cNvPr id="10" name="Picture 9" descr="03-clock-taxonomy.jpg"/>
          <p:cNvPicPr>
            <a:picLocks noChangeAspect="1"/>
          </p:cNvPicPr>
          <p:nvPr/>
        </p:nvPicPr>
        <p:blipFill>
          <a:blip r:embed="rId2"/>
          <a:stretch>
            <a:fillRect/>
          </a:stretch>
        </p:blipFill>
        <p:spPr>
          <a:xfrm>
            <a:off x="6217920" y="1554480"/>
            <a:ext cx="5486400" cy="181137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Time, Timers, and Deadlines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Time, Timers, and Deadlines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12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One Deadline, Many Hops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006E6E"/>
                </a:solidFill>
                <a:latin typeface="Red Hat Text"/>
              </a:rPr>
              <a:t>Pass a time_point, not a duration</a:t>
            </a:r>
          </a:p>
          <a:p>
            <a:pPr algn="l">
              <a:lnSpc>
                <a:spcPct val="115000"/>
              </a:lnSpc>
            </a:pPr>
            <a:r>
              <a:rPr sz="1600" b="0" i="0">
                <a:solidFill>
                  <a:srgbClr val="151515"/>
                </a:solidFill>
                <a:latin typeface="Red Hat Text"/>
              </a:rPr>
              <a:t>•  A naive design gives each layer its own fixed timeout, re-applied at every hop</a:t>
            </a:r>
          </a:p>
          <a:p>
            <a:pPr algn="l">
              <a:lnSpc>
                <a:spcPct val="115000"/>
              </a:lnSpc>
            </a:pPr>
            <a:r>
              <a:rPr sz="1600" b="0" i="0">
                <a:solidFill>
                  <a:srgbClr val="151515"/>
                </a:solidFill>
                <a:latin typeface="Red Hat Text"/>
              </a:rPr>
              <a:t>•  Three nested 500 ms timeouts can silently let a request run for 1.5 seconds</a:t>
            </a:r>
          </a:p>
          <a:p>
            <a:pPr algn="l">
              <a:lnSpc>
                <a:spcPct val="115000"/>
              </a:lnSpc>
            </a:pPr>
            <a:r>
              <a:rPr sz="1600" b="0" i="0">
                <a:solidFill>
                  <a:srgbClr val="151515"/>
                </a:solidFill>
                <a:latin typeface="Red Hat Text"/>
              </a:rPr>
              <a:t>•  The fix: compute one deadline at the top of the call chain, pass the same time_point down unchanged</a:t>
            </a:r>
          </a:p>
          <a:p>
            <a:pPr algn="l">
              <a:lnSpc>
                <a:spcPct val="115000"/>
              </a:lnSpc>
            </a:pPr>
            <a:r>
              <a:rPr sz="1600" b="0" i="0">
                <a:solidFill>
                  <a:srgbClr val="151515"/>
                </a:solidFill>
                <a:latin typeface="Red Hat Text"/>
              </a:rPr>
              <a:t>•  Every hop checks the shared deadline before starting work, and fails immediately if it has already passed</a:t>
            </a:r>
          </a:p>
          <a:p>
            <a:pPr algn="l">
              <a:lnSpc>
                <a:spcPct val="115000"/>
              </a:lnSpc>
            </a:pPr>
            <a:r>
              <a:rPr sz="1400" b="0" i="1">
                <a:solidFill>
                  <a:srgbClr val="8A8A8A"/>
                </a:solidFill>
                <a:latin typeface="Red Hat Text"/>
              </a:rPr>
              <a:t>The exact discipline behind HTTP request timeouts and gRPC deadline propagation.</a:t>
            </a:r>
          </a:p>
        </p:txBody>
      </p:sp>
      <p:pic>
        <p:nvPicPr>
          <p:cNvPr id="10" name="Picture 9" descr="03-deadline-propagation.jpg"/>
          <p:cNvPicPr>
            <a:picLocks noChangeAspect="1"/>
          </p:cNvPicPr>
          <p:nvPr/>
        </p:nvPicPr>
        <p:blipFill>
          <a:blip r:embed="rId2"/>
          <a:stretch>
            <a:fillRect/>
          </a:stretch>
        </p:blipFill>
        <p:spPr>
          <a:xfrm>
            <a:off x="6217920" y="1554480"/>
            <a:ext cx="5486400" cy="189576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Shared State and Locking</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mutex is a futex underneath — and the expensive part was never the lock, it was the wait.</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13 / 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Shared State and Locking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Shared State and Locking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14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Futex Underneath</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One word, one syscall, touched only on collision</a:t>
            </a:r>
          </a:p>
          <a:p>
            <a:pPr algn="l">
              <a:lnSpc>
                <a:spcPct val="115000"/>
              </a:lnSpc>
            </a:pPr>
            <a:r>
              <a:rPr sz="1600" b="0" i="0">
                <a:solidFill>
                  <a:srgbClr val="151515"/>
                </a:solidFill>
                <a:latin typeface="Red Hat Text"/>
              </a:rPr>
              <a:t>•  std::mutex is a thin wrapper over a 32-bit word plus the futex syscall</a:t>
            </a:r>
          </a:p>
          <a:p>
            <a:pPr algn="l">
              <a:lnSpc>
                <a:spcPct val="115000"/>
              </a:lnSpc>
            </a:pPr>
            <a:r>
              <a:rPr sz="1600" b="0" i="0">
                <a:solidFill>
                  <a:srgbClr val="151515"/>
                </a:solidFill>
                <a:latin typeface="Red Hat Text"/>
              </a:rPr>
              <a:t>•  Acquiring a free lock is one compare-and-swap, entirely in user space — no syscall, no scheduler involvement</a:t>
            </a:r>
          </a:p>
          <a:p>
            <a:pPr algn="l">
              <a:lnSpc>
                <a:spcPct val="115000"/>
              </a:lnSpc>
            </a:pPr>
            <a:r>
              <a:rPr sz="1600" b="0" i="0">
                <a:solidFill>
                  <a:srgbClr val="151515"/>
                </a:solidFill>
                <a:latin typeface="Red Hat Text"/>
              </a:rPr>
              <a:t>•  Only a lost compare-and-swap falls back to asking the kernel to park the thread</a:t>
            </a:r>
          </a:p>
          <a:p>
            <a:pPr algn="l">
              <a:lnSpc>
                <a:spcPct val="115000"/>
              </a:lnSpc>
            </a:pPr>
            <a:r>
              <a:rPr sz="1600" b="0" i="0">
                <a:solidFill>
                  <a:srgbClr val="151515"/>
                </a:solidFill>
                <a:latin typeface="Red Hat Text"/>
              </a:rPr>
              <a:t>•  Contention is what crosses into the kernel — the presence of a lock costs almost nothing by comparison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Shared State and Locking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Shared State and Locking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15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Mutex Family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6E6E"/>
                </a:solidFill>
                <a:latin typeface="Red Hat Text"/>
              </a:rPr>
              <a:t>One default, three specific trades</a:t>
            </a:r>
          </a:p>
          <a:p>
            <a:pPr algn="l">
              <a:lnSpc>
                <a:spcPct val="115000"/>
              </a:lnSpc>
            </a:pPr>
            <a:r>
              <a:rPr sz="1600" b="0" i="0">
                <a:solidFill>
                  <a:srgbClr val="151515"/>
                </a:solidFill>
                <a:latin typeface="Red Hat Text"/>
              </a:rPr>
              <a:t>•  mutex — exclusive, non-recursive, the default for a reason</a:t>
            </a:r>
          </a:p>
          <a:p>
            <a:pPr algn="l">
              <a:lnSpc>
                <a:spcPct val="115000"/>
              </a:lnSpc>
            </a:pPr>
            <a:r>
              <a:rPr sz="1600" b="0" i="0">
                <a:solidFill>
                  <a:srgbClr val="151515"/>
                </a:solidFill>
                <a:latin typeface="Red Hat Text"/>
              </a:rPr>
              <a:t>•  recursive_mutex — for a call graph that must re-enter the same lock, not a convenience for unclear discipline</a:t>
            </a:r>
          </a:p>
          <a:p>
            <a:pPr algn="l">
              <a:lnSpc>
                <a:spcPct val="115000"/>
              </a:lnSpc>
            </a:pPr>
            <a:r>
              <a:rPr sz="1600" b="0" i="0">
                <a:solidFill>
                  <a:srgbClr val="151515"/>
                </a:solidFill>
                <a:latin typeface="Red Hat Text"/>
              </a:rPr>
              <a:t>•  timed_mutex — bounded-wait acquisition, trading correctness-under-contention for forward progress</a:t>
            </a:r>
          </a:p>
          <a:p>
            <a:pPr algn="l">
              <a:lnSpc>
                <a:spcPct val="115000"/>
              </a:lnSpc>
            </a:pPr>
            <a:r>
              <a:rPr sz="1600" b="0" i="0">
                <a:solidFill>
                  <a:srgbClr val="151515"/>
                </a:solidFill>
                <a:latin typeface="Red Hat Text"/>
              </a:rPr>
              <a:t>•  shared_mutex — readers run concurrently, writers exclusive; a real win only once reader concurrency is real</a:t>
            </a:r>
          </a:p>
          <a:p>
            <a:pPr algn="l">
              <a:lnSpc>
                <a:spcPct val="115000"/>
              </a:lnSpc>
            </a:pPr>
            <a:r>
              <a:rPr sz="1400" b="0" i="1">
                <a:solidFill>
                  <a:srgbClr val="8A8A8A"/>
                </a:solidFill>
                <a:latin typeface="Red Hat Text"/>
              </a:rPr>
              <a:t>RAII wrapper types tie lock lifetime to scope lifetime — the lock is acquired and released by construction and destruction, not by hand.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Shared State and Locking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Shared State and Locking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16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Deadlock and Lock Ordering</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B71C1C"/>
                </a:solidFill>
                <a:latin typeface="Red Hat Text"/>
              </a:rPr>
              <a:t>No error, no exception — the program just stops</a:t>
            </a:r>
          </a:p>
          <a:p>
            <a:pPr algn="l">
              <a:lnSpc>
                <a:spcPct val="115000"/>
              </a:lnSpc>
            </a:pPr>
            <a:r>
              <a:rPr sz="1600" b="0" i="0">
                <a:solidFill>
                  <a:srgbClr val="151515"/>
                </a:solidFill>
                <a:latin typeface="Red Hat Text"/>
              </a:rPr>
              <a:t>•  Thread one locks a then b; thread two locks b then a; each now holds what the other needs</a:t>
            </a:r>
          </a:p>
          <a:p>
            <a:pPr algn="l">
              <a:lnSpc>
                <a:spcPct val="115000"/>
              </a:lnSpc>
            </a:pPr>
            <a:r>
              <a:rPr sz="1600" b="0" i="0">
                <a:solidFill>
                  <a:srgbClr val="151515"/>
                </a:solidFill>
                <a:latin typeface="Red Hat Text"/>
              </a:rPr>
              <a:t>•  A deadlocked program raises nothing — the only evidence is every thread parked, visible from outside the process</a:t>
            </a:r>
          </a:p>
          <a:p>
            <a:pPr algn="l">
              <a:lnSpc>
                <a:spcPct val="115000"/>
              </a:lnSpc>
            </a:pPr>
            <a:r>
              <a:rPr sz="1600" b="0" i="0">
                <a:solidFill>
                  <a:srgbClr val="151515"/>
                </a:solidFill>
                <a:latin typeface="Red Hat Text"/>
              </a:rPr>
              <a:t>•  Fix one: a global lock-ordering convention, prevents the circular wait from forming at all</a:t>
            </a:r>
          </a:p>
          <a:p>
            <a:pPr algn="l">
              <a:lnSpc>
                <a:spcPct val="115000"/>
              </a:lnSpc>
            </a:pPr>
            <a:r>
              <a:rPr sz="1600" b="0" i="0">
                <a:solidFill>
                  <a:srgbClr val="151515"/>
                </a:solidFill>
                <a:latin typeface="Red Hat Text"/>
              </a:rPr>
              <a:t>•  Fix two: scoped_lock's try-all, back-off algorithm — it does not care what order the arguments were written in</a:t>
            </a:r>
          </a:p>
        </p:txBody>
      </p:sp>
      <p:pic>
        <p:nvPicPr>
          <p:cNvPr id="10" name="Picture 9" descr="06-lock-ordering-deadlock.jpg"/>
          <p:cNvPicPr>
            <a:picLocks noChangeAspect="1"/>
          </p:cNvPicPr>
          <p:nvPr/>
        </p:nvPicPr>
        <p:blipFill>
          <a:blip r:embed="rId2"/>
          <a:stretch>
            <a:fillRect/>
          </a:stretch>
        </p:blipFill>
        <p:spPr>
          <a:xfrm>
            <a:off x="6217920" y="1554480"/>
            <a:ext cx="5486400" cy="287310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Atomics and the Memory Model</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Indivisibility and visibility are two separate guarantees, and only one of them is automatic.</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17 / 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Atomics and the Memory Model</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Atomics and the Memory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18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Atomic, Not Ordered</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Indivisible reads do not imply visible writes</a:t>
            </a:r>
          </a:p>
          <a:p>
            <a:pPr algn="l">
              <a:lnSpc>
                <a:spcPct val="115000"/>
              </a:lnSpc>
            </a:pPr>
            <a:r>
              <a:rPr sz="1600" b="0" i="0">
                <a:solidFill>
                  <a:srgbClr val="151515"/>
                </a:solidFill>
                <a:latin typeface="Red Hat Text"/>
              </a:rPr>
              <a:t>•  std::atomic&lt;T&gt; guarantees no thread ever observes a torn, partially written value</a:t>
            </a:r>
          </a:p>
          <a:p>
            <a:pPr algn="l">
              <a:lnSpc>
                <a:spcPct val="115000"/>
              </a:lnSpc>
            </a:pPr>
            <a:r>
              <a:rPr sz="1600" b="0" i="0">
                <a:solidFill>
                  <a:srgbClr val="151515"/>
                </a:solidFill>
                <a:latin typeface="Red Hat Text"/>
              </a:rPr>
              <a:t>•  A producer writes data, then writes a counter signaling it is ready — both atomic, both correct in isolation</a:t>
            </a:r>
          </a:p>
          <a:p>
            <a:pPr algn="l">
              <a:lnSpc>
                <a:spcPct val="115000"/>
              </a:lnSpc>
            </a:pPr>
            <a:r>
              <a:rPr sz="1600" b="0" i="0">
                <a:solidFill>
                  <a:srgbClr val="151515"/>
                </a:solidFill>
                <a:latin typeface="Red Hat Text"/>
              </a:rPr>
              <a:t>•  Nothing in program order alone guarantees the consumer sees the data write before it sees the counter</a:t>
            </a:r>
          </a:p>
          <a:p>
            <a:pPr algn="l">
              <a:lnSpc>
                <a:spcPct val="115000"/>
              </a:lnSpc>
            </a:pPr>
            <a:r>
              <a:rPr sz="1600" b="0" i="0">
                <a:solidFill>
                  <a:srgbClr val="151515"/>
                </a:solidFill>
                <a:latin typeface="Red Hat Text"/>
              </a:rPr>
              <a:t>•  The compiler and the CPU can reorder independent memory operations whenever the reordering is invisible to the thread that performed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Atomics and the Memory Model</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Atomics and the Memory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19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Memory Order Spectrum</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006E6E"/>
                </a:solidFill>
                <a:latin typeface="Red Hat Text"/>
              </a:rPr>
              <a:t>From a global total order down to bare atomicity</a:t>
            </a:r>
          </a:p>
          <a:p>
            <a:pPr algn="l">
              <a:lnSpc>
                <a:spcPct val="115000"/>
              </a:lnSpc>
            </a:pPr>
            <a:r>
              <a:rPr sz="1600" b="0" i="0">
                <a:solidFill>
                  <a:srgbClr val="151515"/>
                </a:solidFill>
                <a:latin typeface="Red Hat Text"/>
              </a:rPr>
              <a:t>•  seq_cst — every operation participates in one global order every thread agrees on; the default</a:t>
            </a:r>
          </a:p>
          <a:p>
            <a:pPr algn="l">
              <a:lnSpc>
                <a:spcPct val="115000"/>
              </a:lnSpc>
            </a:pPr>
            <a:r>
              <a:rPr sz="1600" b="0" i="0">
                <a:solidFill>
                  <a:srgbClr val="151515"/>
                </a:solidFill>
                <a:latin typeface="Red Hat Text"/>
              </a:rPr>
              <a:t>•  acquire/release — one happens-before edge between exactly two threads at one synchronization point</a:t>
            </a:r>
          </a:p>
          <a:p>
            <a:pPr algn="l">
              <a:lnSpc>
                <a:spcPct val="115000"/>
              </a:lnSpc>
            </a:pPr>
            <a:r>
              <a:rPr sz="1600" b="0" i="0">
                <a:solidFill>
                  <a:srgbClr val="151515"/>
                </a:solidFill>
                <a:latin typeface="Red Hat Text"/>
              </a:rPr>
              <a:t>•  relaxed — atomicity only, correct only when some other synchronization already supplies the ordering</a:t>
            </a:r>
          </a:p>
          <a:p>
            <a:pPr algn="l">
              <a:lnSpc>
                <a:spcPct val="115000"/>
              </a:lnSpc>
            </a:pPr>
            <a:r>
              <a:rPr sz="1600" b="0" i="0">
                <a:solidFill>
                  <a:srgbClr val="151515"/>
                </a:solidFill>
                <a:latin typeface="Red Hat Text"/>
              </a:rPr>
              <a:t>•  On x86-64, acquire/release compiles to a plain move — seq_cst's extra guarantee costs a locked instruction on the store side</a:t>
            </a:r>
          </a:p>
        </p:txBody>
      </p:sp>
      <p:pic>
        <p:nvPicPr>
          <p:cNvPr id="10" name="Picture 9" descr="08-memory-ordering.jpg"/>
          <p:cNvPicPr>
            <a:picLocks noChangeAspect="1"/>
          </p:cNvPicPr>
          <p:nvPr/>
        </p:nvPicPr>
        <p:blipFill>
          <a:blip r:embed="rId2"/>
          <a:stretch>
            <a:fillRect/>
          </a:stretch>
        </p:blipFill>
        <p:spPr>
          <a:xfrm>
            <a:off x="6217920" y="1554480"/>
            <a:ext cx="5486400" cy="2745067"/>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§6</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Benchmarking Without Deception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fast-looking number can still be a lie — warmup, coordinated omission, and percentiles are how a measurement earns trust.</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20 / 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Benchmarking Without Deception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Benchmarking Without Deception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21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Warmup and the Mean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B36B00"/>
                </a:solidFill>
                <a:latin typeface="Red Hat Text"/>
              </a:rPr>
              <a:t>The first calls and the average both deceive</a:t>
            </a:r>
          </a:p>
          <a:p>
            <a:pPr algn="l">
              <a:lnSpc>
                <a:spcPct val="115000"/>
              </a:lnSpc>
            </a:pPr>
            <a:r>
              <a:rPr sz="1600" b="0" i="0">
                <a:solidFill>
                  <a:srgbClr val="151515"/>
                </a:solidFill>
                <a:latin typeface="Red Hat Text"/>
              </a:rPr>
              <a:t>•  A cold first call pays allocator, branch-predictor, and cache costs a steady-state caller never pays</a:t>
            </a:r>
          </a:p>
          <a:p>
            <a:pPr algn="l">
              <a:lnSpc>
                <a:spcPct val="115000"/>
              </a:lnSpc>
            </a:pPr>
            <a:r>
              <a:rPr sz="1600" b="0" i="0">
                <a:solidFill>
                  <a:srgbClr val="151515"/>
                </a:solidFill>
                <a:latin typeface="Red Hat Text"/>
              </a:rPr>
              <a:t>•  A repeatable harness discards a fixed number of warmup iterations before the clock starts</a:t>
            </a:r>
          </a:p>
          <a:p>
            <a:pPr algn="l">
              <a:lnSpc>
                <a:spcPct val="115000"/>
              </a:lnSpc>
            </a:pPr>
            <a:r>
              <a:rPr sz="1600" b="0" i="0">
                <a:solidFill>
                  <a:srgbClr val="151515"/>
                </a:solidFill>
                <a:latin typeface="Red Hat Text"/>
              </a:rPr>
              <a:t>•  Latency distributions are heavy-tailed — the mean gets dragged toward outliers while hiding how bad the tail gets</a:t>
            </a:r>
          </a:p>
          <a:p>
            <a:pPr algn="l">
              <a:lnSpc>
                <a:spcPct val="115000"/>
              </a:lnSpc>
            </a:pPr>
            <a:r>
              <a:rPr sz="1600" b="0" i="0">
                <a:solidFill>
                  <a:srgbClr val="151515"/>
                </a:solidFill>
                <a:latin typeface="Red Hat Text"/>
              </a:rPr>
              <a:t>•  A mean of 200 ns is consistent with every call taking 200 ns, or with one call taking 160,000 ns — report a percentile instead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Benchmarking Without Deception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Benchmarking Without Deception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22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Coordinated Omission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B71C1C"/>
                </a:solidFill>
                <a:latin typeface="Red Hat Text"/>
              </a:rPr>
              <a:t>The benchmark that forgets to measure its own stall</a:t>
            </a:r>
          </a:p>
          <a:p>
            <a:pPr algn="l">
              <a:lnSpc>
                <a:spcPct val="115000"/>
              </a:lnSpc>
            </a:pPr>
            <a:r>
              <a:rPr sz="1600" b="0" i="0">
                <a:solidFill>
                  <a:srgbClr val="151515"/>
                </a:solidFill>
                <a:latin typeface="Red Hat Text"/>
              </a:rPr>
              <a:t>•  A closed-loop timer does not start iteration N+1's clock until iteration N returns</a:t>
            </a:r>
          </a:p>
          <a:p>
            <a:pPr algn="l">
              <a:lnSpc>
                <a:spcPct val="115000"/>
              </a:lnSpc>
            </a:pPr>
            <a:r>
              <a:rPr sz="1600" b="0" i="0">
                <a:solidFill>
                  <a:srgbClr val="151515"/>
                </a:solidFill>
                <a:latin typeface="Red Hat Text"/>
              </a:rPr>
              <a:t>•  A single long stall — a page fault, a migration, a scheduler hiccup — produces exactly one recorded sample</a:t>
            </a:r>
          </a:p>
          <a:p>
            <a:pPr algn="l">
              <a:lnSpc>
                <a:spcPct val="115000"/>
              </a:lnSpc>
            </a:pPr>
            <a:r>
              <a:rPr sz="1600" b="0" i="0">
                <a:solidFill>
                  <a:srgbClr val="151515"/>
                </a:solidFill>
                <a:latin typeface="Red Hat Text"/>
              </a:rPr>
              <a:t>•  A real caller sending requests at a fixed rate experiences every request queued behind that stall</a:t>
            </a:r>
          </a:p>
          <a:p>
            <a:pPr algn="l">
              <a:lnSpc>
                <a:spcPct val="115000"/>
              </a:lnSpc>
            </a:pPr>
            <a:r>
              <a:rPr sz="1600" b="0" i="0">
                <a:solidFill>
                  <a:srgbClr val="151515"/>
                </a:solidFill>
                <a:latin typeface="Red Hat Text"/>
              </a:rPr>
              <a:t>•  The correction backfills synthetic samples for the requests the closed loop silently erased from the tail</a:t>
            </a:r>
          </a:p>
        </p:txBody>
      </p:sp>
      <p:pic>
        <p:nvPicPr>
          <p:cNvPr id="10" name="Picture 9" descr="18-coordinated-omission.jpg"/>
          <p:cNvPicPr>
            <a:picLocks noChangeAspect="1"/>
          </p:cNvPicPr>
          <p:nvPr/>
        </p:nvPicPr>
        <p:blipFill>
          <a:blip r:embed="rId2"/>
          <a:stretch>
            <a:fillRect/>
          </a:stretch>
        </p:blipFill>
        <p:spPr>
          <a:xfrm>
            <a:off x="6217920" y="1554480"/>
            <a:ext cx="5486400" cy="2386519"/>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§7</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Communication Models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Shared memory and message passing are the two families of inter-process communication, and the choice is about coupling, not just speed.</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23 / 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Communication Models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Communication Models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24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Two IPC Families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Zero-copy and tight, or mediated and loose</a:t>
            </a:r>
          </a:p>
          <a:p>
            <a:pPr algn="l">
              <a:lnSpc>
                <a:spcPct val="115000"/>
              </a:lnSpc>
            </a:pPr>
            <a:r>
              <a:rPr sz="1600" b="0" i="0">
                <a:solidFill>
                  <a:srgbClr val="151515"/>
                </a:solidFill>
                <a:latin typeface="Red Hat Text"/>
              </a:rPr>
              <a:t>•  Shared memory maps the same pages into two address spaces — no copy, but no delivery guarantee at all</a:t>
            </a:r>
          </a:p>
          <a:p>
            <a:pPr algn="l">
              <a:lnSpc>
                <a:spcPct val="115000"/>
              </a:lnSpc>
            </a:pPr>
            <a:r>
              <a:rPr sz="1600" b="0" i="0">
                <a:solidFill>
                  <a:srgbClr val="151515"/>
                </a:solidFill>
                <a:latin typeface="Red Hat Text"/>
              </a:rPr>
              <a:t>•  Notification has to be built separately, typically a futex word plus a seqlock for torn-read detection</a:t>
            </a:r>
          </a:p>
          <a:p>
            <a:pPr algn="l">
              <a:lnSpc>
                <a:spcPct val="115000"/>
              </a:lnSpc>
            </a:pPr>
            <a:r>
              <a:rPr sz="1600" b="0" i="0">
                <a:solidFill>
                  <a:srgbClr val="151515"/>
                </a:solidFill>
                <a:latin typeface="Red Hat Text"/>
              </a:rPr>
              <a:t>•  Message passing moves discrete messages through a kernel-mediated channel — at least one copy, but ordering, delivery, and back-pressure come included</a:t>
            </a:r>
          </a:p>
          <a:p>
            <a:pPr algn="l">
              <a:lnSpc>
                <a:spcPct val="115000"/>
              </a:lnSpc>
            </a:pPr>
            <a:r>
              <a:rPr sz="1600" b="0" i="0">
                <a:solidFill>
                  <a:srgbClr val="151515"/>
                </a:solidFill>
                <a:latin typeface="Red Hat Text"/>
              </a:rPr>
              <a:t>•  Most real systems use both, at different layers, for different latency budgets</a:t>
            </a:r>
          </a:p>
        </p:txBody>
      </p:sp>
      <p:pic>
        <p:nvPicPr>
          <p:cNvPr id="10" name="Picture 9" descr="22-communication-families.jpg"/>
          <p:cNvPicPr>
            <a:picLocks noChangeAspect="1"/>
          </p:cNvPicPr>
          <p:nvPr/>
        </p:nvPicPr>
        <p:blipFill>
          <a:blip r:embed="rId2"/>
          <a:stretch>
            <a:fillRect/>
          </a:stretch>
        </p:blipFill>
        <p:spPr>
          <a:xfrm>
            <a:off x="6217920" y="1554480"/>
            <a:ext cx="5486400" cy="256421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Communication Models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Communication Models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25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Choosing a Model</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6E6E"/>
                </a:solidFill>
                <a:latin typeface="Red Hat Text"/>
              </a:rPr>
              <a:t>The question behind every row is coupling</a:t>
            </a:r>
          </a:p>
          <a:p>
            <a:pPr algn="l">
              <a:lnSpc>
                <a:spcPct val="115000"/>
              </a:lnSpc>
            </a:pPr>
            <a:r>
              <a:rPr sz="1600" b="0" i="0">
                <a:solidFill>
                  <a:srgbClr val="151515"/>
                </a:solidFill>
                <a:latin typeface="Red Hat Text"/>
              </a:rPr>
              <a:t>•  Same host, lowest latency, coupling acceptable — shared memory, or a ring-buffer pattern</a:t>
            </a:r>
          </a:p>
          <a:p>
            <a:pPr algn="l">
              <a:lnSpc>
                <a:spcPct val="115000"/>
              </a:lnSpc>
            </a:pPr>
            <a:r>
              <a:rPr sz="1600" b="0" i="0">
                <a:solidFill>
                  <a:srgbClr val="151515"/>
                </a:solidFill>
                <a:latin typeface="Red Hat Text"/>
              </a:rPr>
              <a:t>•  Same host, decoupled processes, need file-descriptor or credential transfer — a UNIX domain socket</a:t>
            </a:r>
          </a:p>
          <a:p>
            <a:pPr algn="l">
              <a:lnSpc>
                <a:spcPct val="115000"/>
              </a:lnSpc>
            </a:pPr>
            <a:r>
              <a:rPr sz="1600" b="0" i="0">
                <a:solidFill>
                  <a:srgbClr val="151515"/>
                </a:solidFill>
                <a:latin typeface="Red Hat Text"/>
              </a:rPr>
              <a:t>•  Cross host, reliable byte stream — TCP with explicit length-prefix framing</a:t>
            </a:r>
          </a:p>
          <a:p>
            <a:pPr algn="l">
              <a:lnSpc>
                <a:spcPct val="115000"/>
              </a:lnSpc>
            </a:pPr>
            <a:r>
              <a:rPr sz="1600" b="0" i="0">
                <a:solidFill>
                  <a:srgbClr val="151515"/>
                </a:solidFill>
                <a:latin typeface="Red Hat Text"/>
              </a:rPr>
              <a:t>•  Local-segment discovery, loss-tolerant, one-to-many — UDP, multicast if the group is unknown in advance</a:t>
            </a:r>
          </a:p>
          <a:p>
            <a:pPr algn="l">
              <a:lnSpc>
                <a:spcPct val="115000"/>
              </a:lnSpc>
            </a:pPr>
            <a:r>
              <a:rPr sz="1600" b="0" i="0">
                <a:solidFill>
                  <a:srgbClr val="151515"/>
                </a:solidFill>
                <a:latin typeface="Red Hat Text"/>
              </a:rPr>
              <a:t>•  A control plane — configuration, status, service queries — a message bus, not a hand-rolled socket protocol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§8</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Debugging Races and Deadlocks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race explained in the abstract teaches nothing — a correct-looking run is evidence of nothing either.</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26 /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Debugging Races and Deadlocks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Debugging Races and Deadlocks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27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Forcing the Bug Open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B71C1C"/>
                </a:solidFill>
                <a:latin typeface="Red Hat Text"/>
              </a:rPr>
              <a:t>Sometimes-broken is still broken</a:t>
            </a:r>
          </a:p>
          <a:p>
            <a:pPr algn="l">
              <a:lnSpc>
                <a:spcPct val="115000"/>
              </a:lnSpc>
            </a:pPr>
            <a:r>
              <a:rPr sz="1600" b="0" i="0">
                <a:solidFill>
                  <a:srgbClr val="151515"/>
                </a:solidFill>
                <a:latin typeface="Red Hat Text"/>
              </a:rPr>
              <a:t>•  Two unsynchronized accesses to the same object, at least one a write, is undefined behavior — independent of what any one run prints</a:t>
            </a:r>
          </a:p>
          <a:p>
            <a:pPr algn="l">
              <a:lnSpc>
                <a:spcPct val="115000"/>
              </a:lnSpc>
            </a:pPr>
            <a:r>
              <a:rPr sz="1600" b="0" i="0">
                <a:solidFill>
                  <a:srgbClr val="151515"/>
                </a:solidFill>
                <a:latin typeface="Red Hat Text"/>
              </a:rPr>
              <a:t>•  A plain run of a racy program can print the correct answer on one invocation and a corrupted one on the next</a:t>
            </a:r>
          </a:p>
          <a:p>
            <a:pPr algn="l">
              <a:lnSpc>
                <a:spcPct val="115000"/>
              </a:lnSpc>
            </a:pPr>
            <a:r>
              <a:rPr sz="1600" b="0" i="0">
                <a:solidFill>
                  <a:srgbClr val="151515"/>
                </a:solidFill>
                <a:latin typeface="Red Hat Text"/>
              </a:rPr>
              <a:t>•  The AB/BA deadlock can resolve favorably nine times out of ten on an idle, fast machine</a:t>
            </a:r>
          </a:p>
          <a:p>
            <a:pPr algn="l">
              <a:lnSpc>
                <a:spcPct val="115000"/>
              </a:lnSpc>
            </a:pPr>
            <a:r>
              <a:rPr sz="1600" b="0" i="0">
                <a:solidFill>
                  <a:srgbClr val="151515"/>
                </a:solidFill>
                <a:latin typeface="Red Hat Text"/>
              </a:rPr>
              <a:t>•  Forcing the acquisition window open deliberately — for example with a barrier both threads must cross before their second lock — turns sometimes into every run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Debugging Races and Deadlocks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Debugging Races and Deadlocks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28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Reading a Race Report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6A1B9A"/>
                </a:solidFill>
                <a:latin typeface="Red Hat Text"/>
              </a:rPr>
              <a:t>What a race detector actually observed</a:t>
            </a:r>
          </a:p>
          <a:p>
            <a:pPr algn="l">
              <a:lnSpc>
                <a:spcPct val="115000"/>
              </a:lnSpc>
            </a:pPr>
            <a:r>
              <a:rPr sz="1600" b="0" i="0">
                <a:solidFill>
                  <a:srgbClr val="151515"/>
                </a:solidFill>
                <a:latin typeface="Red Hat Text"/>
              </a:rPr>
              <a:t>•  The two conflicting accesses, with full call stacks to the exact source lines</a:t>
            </a:r>
          </a:p>
          <a:p>
            <a:pPr algn="l">
              <a:lnSpc>
                <a:spcPct val="115000"/>
              </a:lnSpc>
            </a:pPr>
            <a:r>
              <a:rPr sz="1600" b="0" i="0">
                <a:solidFill>
                  <a:srgbClr val="151515"/>
                </a:solidFill>
                <a:latin typeface="Red Hat Text"/>
              </a:rPr>
              <a:t>•  The raced-on location — a global, a heap allocation, or a class member, traced back to its allocation site</a:t>
            </a:r>
          </a:p>
          <a:p>
            <a:pPr algn="l">
              <a:lnSpc>
                <a:spcPct val="115000"/>
              </a:lnSpc>
            </a:pPr>
            <a:r>
              <a:rPr sz="1600" b="0" i="0">
                <a:solidFill>
                  <a:srgbClr val="151515"/>
                </a:solidFill>
                <a:latin typeface="Red Hat Text"/>
              </a:rPr>
              <a:t>•  Each thread's own creation site, so a worker from a pool still names a meaningful origin</a:t>
            </a:r>
          </a:p>
          <a:p>
            <a:pPr algn="l">
              <a:lnSpc>
                <a:spcPct val="115000"/>
              </a:lnSpc>
            </a:pPr>
            <a:r>
              <a:rPr sz="1600" b="0" i="0">
                <a:solidFill>
                  <a:srgbClr val="151515"/>
                </a:solidFill>
                <a:latin typeface="Red Hat Text"/>
              </a:rPr>
              <a:t>•  Derived from a per-thread vector clock, updated at every mutex unlock, atomic release, and join</a:t>
            </a:r>
          </a:p>
          <a:p>
            <a:pPr algn="l">
              <a:lnSpc>
                <a:spcPct val="115000"/>
              </a:lnSpc>
            </a:pPr>
            <a:r>
              <a:rPr sz="1400" b="0" i="1">
                <a:solidFill>
                  <a:srgbClr val="8A8A8A"/>
                </a:solidFill>
                <a:latin typeface="Red Hat Text"/>
              </a:rPr>
              <a:t>Dynamic analysis: a clean run proves only that this interleaving was race-free, never that the program contains no race.</a:t>
            </a:r>
          </a:p>
        </p:txBody>
      </p:sp>
      <p:pic>
        <p:nvPicPr>
          <p:cNvPr id="10" name="Picture 9" descr="27-tsan-report-anatomy.jpg"/>
          <p:cNvPicPr>
            <a:picLocks noChangeAspect="1"/>
          </p:cNvPicPr>
          <p:nvPr/>
        </p:nvPicPr>
        <p:blipFill>
          <a:blip r:embed="rId2"/>
          <a:stretch>
            <a:fillRect/>
          </a:stretch>
        </p:blipFill>
        <p:spPr>
          <a:xfrm>
            <a:off x="6217920" y="1554480"/>
            <a:ext cx="5486400" cy="354170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§9</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Concurrency in Containers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The kernel interface a program queries for core count and the control that actually throttles it are two different mechanisms.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29 / 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in Containers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Concurrency in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30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Quota vs Cpuset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A time budget and a fixed core set are not the same limit</a:t>
            </a:r>
          </a:p>
          <a:p>
            <a:pPr algn="l">
              <a:lnSpc>
                <a:spcPct val="115000"/>
              </a:lnSpc>
            </a:pPr>
            <a:r>
              <a:rPr sz="1600" b="0" i="0">
                <a:solidFill>
                  <a:srgbClr val="151515"/>
                </a:solidFill>
                <a:latin typeface="Red Hat Text"/>
              </a:rPr>
              <a:t>•  cpu.max is a time budget — two numbers, microseconds of CPU time allowed per period, across every visible core</a:t>
            </a:r>
          </a:p>
          <a:p>
            <a:pPr algn="l">
              <a:lnSpc>
                <a:spcPct val="115000"/>
              </a:lnSpc>
            </a:pPr>
            <a:r>
              <a:rPr sz="1600" b="0" i="0">
                <a:solidFill>
                  <a:srgbClr val="151515"/>
                </a:solidFill>
                <a:latin typeface="Red Hat Text"/>
              </a:rPr>
              <a:t>•  cpuset.cpus is a fixed set of core IDs — no period, no throttling, just cores that are off-limits entirely</a:t>
            </a:r>
          </a:p>
          <a:p>
            <a:pPr algn="l">
              <a:lnSpc>
                <a:spcPct val="115000"/>
              </a:lnSpc>
            </a:pPr>
            <a:r>
              <a:rPr sz="1600" b="0" i="0">
                <a:solidFill>
                  <a:srgbClr val="151515"/>
                </a:solidFill>
                <a:latin typeface="Red Hat Text"/>
              </a:rPr>
              <a:t>•  The same --cpus=2 request can map to either control, or both at once, depending on what sits underneath</a:t>
            </a:r>
          </a:p>
          <a:p>
            <a:pPr algn="l">
              <a:lnSpc>
                <a:spcPct val="115000"/>
              </a:lnSpc>
            </a:pPr>
            <a:r>
              <a:rPr sz="1600" b="0" i="0">
                <a:solidFill>
                  <a:srgbClr val="151515"/>
                </a:solidFill>
                <a:latin typeface="Red Hat Text"/>
              </a:rPr>
              <a:t>•  A quota-only container can land on any of eight cores while burning only two cores' worth of time per period — throttled hard and often</a:t>
            </a:r>
          </a:p>
        </p:txBody>
      </p:sp>
      <p:pic>
        <p:nvPicPr>
          <p:cNvPr id="10" name="Picture 9" descr="32-quota-vs-cpuset.jpg"/>
          <p:cNvPicPr>
            <a:picLocks noChangeAspect="1"/>
          </p:cNvPicPr>
          <p:nvPr/>
        </p:nvPicPr>
        <p:blipFill>
          <a:blip r:embed="rId2"/>
          <a:stretch>
            <a:fillRect/>
          </a:stretch>
        </p:blipFill>
        <p:spPr>
          <a:xfrm>
            <a:off x="6217920" y="1554480"/>
            <a:ext cx="5486400" cy="195421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in Containers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Concurrency in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31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Core Count That Lies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B36B00"/>
                </a:solidFill>
                <a:latin typeface="Red Hat Text"/>
              </a:rPr>
              <a:t>hardware_concurrency() reflects the affinity mask, not the quota</a:t>
            </a:r>
          </a:p>
          <a:p>
            <a:pPr algn="l">
              <a:lnSpc>
                <a:spcPct val="115000"/>
              </a:lnSpc>
            </a:pPr>
            <a:r>
              <a:rPr sz="1600" b="0" i="0">
                <a:solidFill>
                  <a:srgbClr val="151515"/>
                </a:solidFill>
                <a:latin typeface="Red Hat Text"/>
              </a:rPr>
              <a:t>•  A cpuset restriction is reflected correctly — a container pinned to two cores reports two</a:t>
            </a:r>
          </a:p>
          <a:p>
            <a:pPr algn="l">
              <a:lnSpc>
                <a:spcPct val="115000"/>
              </a:lnSpc>
            </a:pPr>
            <a:r>
              <a:rPr sz="1600" b="0" i="0">
                <a:solidFill>
                  <a:srgbClr val="151515"/>
                </a:solidFill>
                <a:latin typeface="Red Hat Text"/>
              </a:rPr>
              <a:t>•  A quota has no effect on the affinity mask at all — the cores remain reachable, only the time is limited</a:t>
            </a:r>
          </a:p>
          <a:p>
            <a:pPr algn="l">
              <a:lnSpc>
                <a:spcPct val="115000"/>
              </a:lnSpc>
            </a:pPr>
            <a:r>
              <a:rPr sz="1600" b="0" i="0">
                <a:solidFill>
                  <a:srgbClr val="151515"/>
                </a:solidFill>
                <a:latin typeface="Red Hat Text"/>
              </a:rPr>
              <a:t>•  A container capped to two cores' worth of time on a sixteen-core host still reports sixteen</a:t>
            </a:r>
          </a:p>
          <a:p>
            <a:pPr algn="l">
              <a:lnSpc>
                <a:spcPct val="115000"/>
              </a:lnSpc>
            </a:pPr>
            <a:r>
              <a:rPr sz="1600" b="0" i="0">
                <a:solidFill>
                  <a:srgbClr val="151515"/>
                </a:solidFill>
                <a:latin typeface="Red Hat Text"/>
              </a:rPr>
              <a:t>•  Size every pool from the tighter of the cpuset count and the quota, or an orchestrator-supplied limit — never from hardware_concurrency() alone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Concurrency in Containers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Concurrency in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32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Pinning Under Orchestration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6E6E"/>
                </a:solidFill>
                <a:latin typeface="Red Hat Text"/>
              </a:rPr>
              <a:t>Pinning stops migration — it does not grant time</a:t>
            </a:r>
          </a:p>
          <a:p>
            <a:pPr algn="l">
              <a:lnSpc>
                <a:spcPct val="115000"/>
              </a:lnSpc>
            </a:pPr>
            <a:r>
              <a:rPr sz="1600" b="0" i="0">
                <a:solidFill>
                  <a:srgbClr val="151515"/>
                </a:solidFill>
                <a:latin typeface="Red Hat Text"/>
              </a:rPr>
              <a:t>•  Under a pure time quota, pinning eliminates migration jitter but does nothing to protect against throttling</a:t>
            </a:r>
          </a:p>
          <a:p>
            <a:pPr algn="l">
              <a:lnSpc>
                <a:spcPct val="115000"/>
              </a:lnSpc>
            </a:pPr>
            <a:r>
              <a:rPr sz="1600" b="0" i="0">
                <a:solidFill>
                  <a:srgbClr val="151515"/>
                </a:solidFill>
                <a:latin typeface="Red Hat Text"/>
              </a:rPr>
              <a:t>•  A pinned, busy thread under a tight quota still burns the whole cgroup's time budget and still gets throttled</a:t>
            </a:r>
          </a:p>
          <a:p>
            <a:pPr algn="l">
              <a:lnSpc>
                <a:spcPct val="115000"/>
              </a:lnSpc>
            </a:pPr>
            <a:r>
              <a:rPr sz="1600" b="0" i="0">
                <a:solidFill>
                  <a:srgbClr val="151515"/>
                </a:solidFill>
                <a:latin typeface="Red Hat Text"/>
              </a:rPr>
              <a:t>•  Under a fixed core set, pinning composes cleanly — the kernel grants exclusive, unthrottled cores</a:t>
            </a:r>
          </a:p>
          <a:p>
            <a:pPr algn="l">
              <a:lnSpc>
                <a:spcPct val="115000"/>
              </a:lnSpc>
            </a:pPr>
            <a:r>
              <a:rPr sz="1600" b="0" i="0">
                <a:solidFill>
                  <a:srgbClr val="151515"/>
                </a:solidFill>
                <a:latin typeface="Red Hat Text"/>
              </a:rPr>
              <a:t>•  This is the shape a static CPU-manager policy produces for a guaranteed-quality pod with an integer core request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§10</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Where to Go Next</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This deck sold the mental model. The next two decks build the toolkit and tune it for the microsecond scale.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33 / 36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Where to Go Next</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Where to Go Next</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34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Next: the C++ Toolkit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66CC"/>
                </a:solidFill>
                <a:latin typeface="Red Hat Text"/>
              </a:rPr>
              <a:t>The 101 deck — concrete mechanisms</a:t>
            </a:r>
          </a:p>
          <a:p>
            <a:pPr algn="l">
              <a:lnSpc>
                <a:spcPct val="115000"/>
              </a:lnSpc>
            </a:pPr>
            <a:r>
              <a:rPr sz="1600" b="0" i="0">
                <a:solidFill>
                  <a:srgbClr val="151515"/>
                </a:solidFill>
                <a:latin typeface="Red Hat Text"/>
              </a:rPr>
              <a:t>•  Threads, jthread, and cooperative cancellation with stop_token</a:t>
            </a:r>
          </a:p>
          <a:p>
            <a:pPr algn="l">
              <a:lnSpc>
                <a:spcPct val="115000"/>
              </a:lnSpc>
            </a:pPr>
            <a:r>
              <a:rPr sz="1600" b="0" i="0">
                <a:solidFill>
                  <a:srgbClr val="151515"/>
                </a:solidFill>
                <a:latin typeface="Red Hat Text"/>
              </a:rPr>
              <a:t>•  Coroutines, futures, and promises — the language's two answers to asynchronous work</a:t>
            </a:r>
          </a:p>
          <a:p>
            <a:pPr algn="l">
              <a:lnSpc>
                <a:spcPct val="115000"/>
              </a:lnSpc>
            </a:pPr>
            <a:r>
              <a:rPr sz="1600" b="0" i="0">
                <a:solidFill>
                  <a:srgbClr val="151515"/>
                </a:solidFill>
                <a:latin typeface="Red Hat Text"/>
              </a:rPr>
              <a:t>•  Lock-free data structures and the reclamation schemes that make them safe</a:t>
            </a:r>
          </a:p>
          <a:p>
            <a:pPr algn="l">
              <a:lnSpc>
                <a:spcPct val="115000"/>
              </a:lnSpc>
            </a:pPr>
            <a:r>
              <a:rPr sz="1600" b="0" i="0">
                <a:solidFill>
                  <a:srgbClr val="151515"/>
                </a:solidFill>
                <a:latin typeface="Red Hat Text"/>
              </a:rPr>
              <a:t>•  Parallel algorithms and execution policies — hardware without hand-written thread code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Where to Go Next</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100   |   Where to Go Next</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35 / 36</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Next: Low Latency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6A1B9A"/>
                </a:solidFill>
                <a:latin typeface="Red Hat Text"/>
              </a:rPr>
              <a:t>The 201 deck — tuning for microseconds</a:t>
            </a:r>
          </a:p>
          <a:p>
            <a:pPr algn="l">
              <a:lnSpc>
                <a:spcPct val="115000"/>
              </a:lnSpc>
            </a:pPr>
            <a:r>
              <a:rPr sz="1600" b="0" i="0">
                <a:solidFill>
                  <a:srgbClr val="151515"/>
                </a:solidFill>
                <a:latin typeface="Red Hat Text"/>
              </a:rPr>
              <a:t>•  Mechanical sympathy, NUMA-aware placement, and SIMD data parallelism</a:t>
            </a:r>
          </a:p>
          <a:p>
            <a:pPr algn="l">
              <a:lnSpc>
                <a:spcPct val="115000"/>
              </a:lnSpc>
            </a:pPr>
            <a:r>
              <a:rPr sz="1600" b="0" i="0">
                <a:solidFill>
                  <a:srgbClr val="151515"/>
                </a:solidFill>
                <a:latin typeface="Red Hat Text"/>
              </a:rPr>
              <a:t>•  Lock-free messaging and the disruptor pattern for the tightest same-host handoffs</a:t>
            </a:r>
          </a:p>
          <a:p>
            <a:pPr algn="l">
              <a:lnSpc>
                <a:spcPct val="115000"/>
              </a:lnSpc>
            </a:pPr>
            <a:r>
              <a:rPr sz="1600" b="0" i="0">
                <a:solidFill>
                  <a:srgbClr val="151515"/>
                </a:solidFill>
                <a:latin typeface="Red Hat Text"/>
              </a:rPr>
              <a:t>•  Benchmarking discipline pushed to the microsecond scale, with the coordinated-omission correction as a hard requirement, not an option</a:t>
            </a:r>
          </a:p>
          <a:p>
            <a:pPr algn="l">
              <a:lnSpc>
                <a:spcPct val="115000"/>
              </a:lnSpc>
            </a:pPr>
            <a:r>
              <a:rPr sz="1600" b="0" i="0">
                <a:solidFill>
                  <a:srgbClr val="151515"/>
                </a:solidFill>
                <a:latin typeface="Red Hat Text"/>
              </a:rPr>
              <a:t>•  The fast path: core pinning, zero-allocation hot loops, and the busy-poll-versus-block trade-off</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nchor="t" lIns="45720" rIns="45720">
            <a:spAutoFit/>
          </a:bodyPr>
          <a:lstStyle/>
          <a:p>
            <a:pPr algn="l"/>
            <a:r>
              <a:rPr sz="3600" b="1" i="0">
                <a:solidFill>
                  <a:srgbClr val="FFFFFF"/>
                </a:solidFill>
                <a:latin typeface="Red Hat Display"/>
              </a:rPr>
              <a:t>The model, not the API.</a:t>
            </a:r>
          </a:p>
        </p:txBody>
      </p:sp>
      <p:sp>
        <p:nvSpPr>
          <p:cNvPr id="3" name="TextBox 2"/>
          <p:cNvSpPr txBox="1"/>
          <p:nvPr/>
        </p:nvSpPr>
        <p:spPr>
          <a:xfrm>
            <a:off x="914400" y="2560320"/>
            <a:ext cx="10332720" cy="2560320"/>
          </a:xfrm>
          <a:prstGeom prst="rect">
            <a:avLst/>
          </a:prstGeom>
          <a:noFill/>
        </p:spPr>
        <p:txBody>
          <a:bodyPr wrap="square" anchor="t" lIns="45720" rIns="45720">
            <a:spAutoFit/>
          </a:bodyPr>
          <a:lstStyle/>
          <a:p>
            <a:pPr algn="l">
              <a:lnSpc>
                <a:spcPct val="115000"/>
              </a:lnSpc>
            </a:pPr>
            <a:r>
              <a:rPr sz="1800" b="0" i="0">
                <a:solidFill>
                  <a:srgbClr val="F4F4F4"/>
                </a:solidFill>
                <a:latin typeface="Red Hat Text"/>
              </a:rPr>
              <a:t>Concurrency is structure; parallelism is execution. Keep the two axes apart and most sizing mistakes stop happening.</a:t>
            </a:r>
          </a:p>
          <a:p>
            <a:pPr algn="l">
              <a:lnSpc>
                <a:spcPct val="115000"/>
              </a:lnSpc>
              <a:spcBef>
                <a:spcPts val="1000"/>
              </a:spcBef>
            </a:pPr>
            <a:r>
              <a:rPr sz="1800" b="0" i="0">
                <a:solidFill>
                  <a:srgbClr val="F4F4F4"/>
                </a:solidFill>
                <a:latin typeface="Red Hat Text"/>
              </a:rPr>
              <a:t>Shared state is hard because the hardware and the compiler are both allowed to reorder what you did not explicitly order.</a:t>
            </a:r>
          </a:p>
          <a:p>
            <a:pPr algn="l">
              <a:lnSpc>
                <a:spcPct val="115000"/>
              </a:lnSpc>
              <a:spcBef>
                <a:spcPts val="1000"/>
              </a:spcBef>
            </a:pPr>
            <a:r>
              <a:rPr sz="1800" b="0" i="0">
                <a:solidFill>
                  <a:srgbClr val="F4F4F4"/>
                </a:solidFill>
                <a:latin typeface="Red Hat Text"/>
              </a:rPr>
              <a:t>Trust a number only after it survives warmup, coordinated omission, and a percentile instead of a mean — and remember the container is watching too.</a:t>
            </a:r>
          </a:p>
          <a:p>
            <a:pPr algn="l">
              <a:lnSpc>
                <a:spcPct val="115000"/>
              </a:lnSpc>
              <a:spcBef>
                <a:spcPts val="1000"/>
              </a:spcBef>
            </a:pPr>
            <a:r>
              <a:rPr sz="1800" b="0" i="0">
                <a:solidFill>
                  <a:srgbClr val="EE0000"/>
                </a:solidFill>
                <a:latin typeface="Red Hat Text"/>
              </a:rPr>
              <a:t>Next: the 101 deck builds the C++ toolkit; the 201 deck tunes it for microseconds.</a:t>
            </a:r>
          </a:p>
        </p:txBody>
      </p:sp>
      <p:sp>
        <p:nvSpPr>
          <p:cNvPr id="4" name="TextBox 3"/>
          <p:cNvSpPr txBox="1"/>
          <p:nvPr/>
        </p:nvSpPr>
        <p:spPr>
          <a:xfrm>
            <a:off x="914400" y="5486400"/>
            <a:ext cx="10332720" cy="457200"/>
          </a:xfrm>
          <a:prstGeom prst="rect">
            <a:avLst/>
          </a:prstGeom>
          <a:noFill/>
        </p:spPr>
        <p:txBody>
          <a:bodyPr wrap="square" anchor="t" lIns="45720" rIns="45720">
            <a:spAutoFit/>
          </a:bodyPr>
          <a:lstStyle/>
          <a:p>
            <a:pPr algn="l"/>
            <a:r>
              <a:rPr sz="1600" b="0" i="0">
                <a:solidFill>
                  <a:srgbClr val="8A8A8A"/>
                </a:solidFill>
                <a:latin typeface="Red Hat Text"/>
              </a:rPr>
              <a:t>Read the book  •  run the examples  •  the source is on the repo</a:t>
            </a:r>
          </a:p>
        </p:txBody>
      </p:sp>
      <p:sp>
        <p:nvSpPr>
          <p:cNvPr id="5" name="TextBox 4"/>
          <p:cNvSpPr txBox="1"/>
          <p:nvPr/>
        </p:nvSpPr>
        <p:spPr>
          <a:xfrm>
            <a:off x="914400" y="6035040"/>
            <a:ext cx="10332720" cy="365760"/>
          </a:xfrm>
          <a:prstGeom prst="rect">
            <a:avLst/>
          </a:prstGeom>
          <a:noFill/>
        </p:spPr>
        <p:txBody>
          <a:bodyPr wrap="square" anchor="t" lIns="45720" rIns="45720">
            <a:spAutoFit/>
          </a:bodyPr>
          <a:lstStyle/>
          <a:p>
            <a:pPr algn="l"/>
            <a:r>
              <a:rPr sz="1100" b="0" i="0">
                <a:solidFill>
                  <a:srgbClr val="8A8A8A"/>
                </a:solidFill>
                <a:latin typeface="Red Hat Mono"/>
              </a:rPr>
              <a:t>github.com/patterncatalyst/cpp-concurrency-and-parallelism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