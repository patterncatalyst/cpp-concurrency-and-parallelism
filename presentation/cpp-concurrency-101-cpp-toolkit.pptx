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Welcome to the modern C++ concurrency toolkit. This deck is code-heavy and deliberately broad: twelve chapters' worth of the standard library's concurrency surface, from std::jthread through thread pools, with real, compiling C++ on every slide.</a:t>
            </a:r>
          </a:p>
          <a:p>
            <a:r>
              <a:rPr sz="1200"/>
              <a:t>The organizing idea is the same one the book uses: show what the standard actually guarantees, show the gotcha that trips people up in practice, and name the standards delta precisely -- what's C++20, what C++23 only refines, and what C++26 proposes but no compiler ships yet. Treat every 'proposed' and 'experimental' label in this deck as accurate, not decoration.</a:t>
            </a:r>
          </a:p>
          <a:p>
            <a:r>
              <a:rPr sz="1200"/>
              <a:t>This is the toolkit tour, not the low-latency playbook. The 201 deck takes this same vocabulary and applies it under a real latency budget -- mechanical sympathy, lock-free messaging, the disruptor pattern. That's next; today is what the pieces are and how they actually behave.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Twelve sections, one per source chapter, in the book's own order. The first six build the shared-state foundation: threads and cooperative cancellation, the futex underneath the mutex, the mutex family and lock ordering, coordination primitives, atomics and the memory model, and lock-free structures with the ABA problem.</a:t>
            </a:r>
          </a:p>
          <a:p>
            <a:r>
              <a:rPr sz="1200"/>
              <a:t>The next three move to composition: futures and promises, coroutines in depth, and async runtimes built on epoll and Boost.Asio. Fibers close out the suspension story as the stackful alternative to a stackless coroutine.</a:t>
            </a:r>
          </a:p>
          <a:p>
            <a:r>
              <a:rPr sz="1200"/>
              <a:t>The last two turn from suspension to raw throughput: parallel algorithms and execution policies, then thread pools and work scheduling as the longer-lived structure that holds everything else. Every section ends with a standards-delta note -- what's C++20, what C++23 changed, and what C++26 only proposes.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section opens the toolkit tour with the thread type most code should reach for by default: std::jthread. The spine of the section is one contrast -- a std::thread destroyed while still joinable calls std::terminate(), while a jthread's destructor requests a stop and joins, unconditionally, with no way to opt out short of detaching first.</a:t>
            </a:r>
          </a:p>
          <a:p>
            <a:r>
              <a:rPr sz="1200"/>
              <a:t>The gotcha to land before the code: stop_token is cooperative. A thread parked in a blocking syscall or an untimed condition-variable wait never notices request_stop(). The standards delta is C++20 for the whole mechanism; C++23 only widens what a jthread can own via move_only_function.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worker polls a stop_token instead of a hand-rolled atomic&lt;bool&gt; flag. The jthread owns a stop_source internally and threads a stop_token into the callable's first parameter automatically -- nothing in run_cooperative() calls request_stop() or join() by hand, and the destructor does both when the scope ends.</a:t>
            </a:r>
          </a:p>
          <a:p>
            <a:r>
              <a:rPr sz="1200"/>
              <a:t>The gotcha: cancellation here is cooperative. The worker only stops because it polls stop_requested() in its own loop. A thread blocked in read(2), or waiting on a condition variable with no timeout, never notices a request_stop() call no matter how many times it's made -- stop_token does not interrupt a blocking syscall, and does not claim to.</a:t>
            </a:r>
          </a:p>
          <a:p>
            <a:r>
              <a:rPr sz="1200"/>
              <a:t>Standards delta: std::jthread, stop_token, stop_source, and stop_callback all arrive together in C++20. Nothing in C++23 or the C++26 draft changes this contract.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the callable captures a unique_ptr by move, something std::function's copy-constructibility requirement would have forced into a shared_ptr workaround. move_only_function has no such requirement, so the closure stores directly.</a:t>
            </a:r>
          </a:p>
          <a:p>
            <a:r>
              <a:rPr sz="1200"/>
              <a:t>The gotcha: this is an ergonomics change, not a new cancellation primitive. The stop_token contract -- poll it, it never interrupts a blocking call -- is identical to the previous slide.</a:t>
            </a:r>
          </a:p>
          <a:p>
            <a:r>
              <a:rPr sz="1200"/>
              <a:t>Standards delta, stated precisely: C++26's proposed std::execution introduces inplace_stop_source and inplace_stop_token as a lower-level sibling -- the state lives wherever its owner places it instead of behind an atomically refcounted heap allocation, at the cost of a stricter lifetime contract (the source must outlive every token derived from it). As of this writing no mainline compiler ships a complete std::execution implementation; the ordinary stop_token path remains the one to use.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diagram shows: a jthread owns a stop_source internally and hands a stop_token to the worker via get_token(). The destructor fires two ordered steps -- request_stop() on the source, then join() waiting on the worker -- and both happen whether or not the caller ever calls either by hand.</a:t>
            </a:r>
          </a:p>
          <a:p>
            <a:r>
              <a:rPr sz="1200"/>
              <a:t>The gotcha: compare the dashed box on the side. A plain std::thread that is still joinable when its destructor runs goes straight to std::terminate(), with no unwind. jthread is not a performance optimization over thread; it is a correctness fix for exactly this failure mode.</a:t>
            </a:r>
          </a:p>
          <a:p>
            <a:r>
              <a:rPr sz="1200"/>
              <a:t>Standards delta: this entire diagram is C++20 vocabulary. Nothing in C++23 or C++26 changes the shape of it; C++26's inplace_stop_source (previous slide) is a different type with the same request_stop()/stop_requested() contract, not a replacement for what's drawn here.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identical capture-by-reference in both functions. The only difference is detach() versus jthread's implicit join on scope exit, and that difference is the entire gap between a dangling reference and a correct program.</a:t>
            </a:r>
          </a:p>
          <a:p>
            <a:r>
              <a:rPr sz="1200"/>
              <a:t>The gotcha: detach() severs the connection outright -- the object becomes non-joinable immediately, and nothing in the program retains a way to wait for the thread, cancel it, or learn when it exits. In service code, where a shutdown path is supposed to be clean, detach() is close to never the right call.</a:t>
            </a:r>
          </a:p>
          <a:p>
            <a:r>
              <a:rPr sz="1200"/>
              <a:t>Standards delta: none specific to detach()/join() across C++20/23/26. The practical fix this chapter recommends -- prefer jthread so the join happens whether or not the author remembered to ask for it -- is a C++20-and-later habit, not a new language feature on its own.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section explains what std::mutex actually is on Linux: a 32-bit word plus one syscall, futex(2), that the kernel touches only when two threads collide over it. Every lock reduces to a single compare-and-swap; only a lost compare-and-swap falls back to asking the kernel to park the thread.</a:t>
            </a:r>
          </a:p>
          <a:p>
            <a:r>
              <a:rPr sz="1200"/>
              <a:t>The gotcha to land: glibc's default std::mutex does not spin in userspace before calling into the kernel -- that's PTHREAD_MUTEX_ADAPTIVE_NP, not the default. Most contended acquisitions still avoid the syscall because critical sections are short enough that the lock is usually free again by the time a second thread's CAS runs. The standards delta is C++20's atomic&lt;T&gt;::wait/notify, which gives the futex a portable name.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wait(0) reads as 'sleep while the value is still 0' -- the FUTEX_WAIT contract with the syscall plumbing removed. The expected value travels with the wait request specifically so the kernel can re-check it atomically against the act of sleeping, which is what closes the lost-wakeup race.</a:t>
            </a:r>
          </a:p>
          <a:p>
            <a:r>
              <a:rPr sz="1200"/>
              <a:t>The gotcha: condition_variable, std::latch, std::barrier, std::counting_semaphore, and atomic::wait/notify all reduce to this same pair of calls on Linux. They look like five facilities; underneath, a thread that must sleep until another thread acts has exactly one way to be descheduled, and that way is always a syscall.</a:t>
            </a:r>
          </a:p>
          <a:p>
            <a:r>
              <a:rPr sz="1200"/>
              <a:t>Standards delta: C++20 gives this mechanism a portable name directly -- atomic&lt;T&gt;::wait/notify_one/notify_all. C++23 adds no new blocking primitive; the synchronization toolkit was essentially complete after C++20.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diagram shows: the upper band is entirely user space -- a single cmpxchg instruction acquiring a free lock. The lower band is the kernel, entered only after a lost compare-exchange, via FUTEX_WAIT and, on unlock, FUTEX_WAKE.</a:t>
            </a:r>
          </a:p>
          <a:p>
            <a:r>
              <a:rPr sz="1200"/>
              <a:t>The gotcha: the footer note matters more than it looks -- 'uncontended: compare-exchange succeeds, nothing below this line runs.' The instinct that 'locks are expensive, minimize them' measures the wrong variable. Adding a mutex to data touched by more than one thread, if contention is rare, costs one atomic instruction and one cache line, not a syscall.</a:t>
            </a:r>
          </a:p>
          <a:p>
            <a:r>
              <a:rPr sz="1200"/>
              <a:t>Standards delta: this fast/slow split is the Linux futex implementation underneath std::mutex since C++11; nothing in C++20/23/26 changes the mechanism. C++26's proposed hazard pointers and RCU (next section) are the first standard mechanism that lets a reader skip this path entirely for read-mostly structures.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numbers show: an uncontended run's futex call count matches a program with no mutex at all -- both show exactly one futex call, and it belongs to the dynamic loader's process startup, not to any lock operation. Splitting the same work across eight threads sharing one mutex pushes the count into the low thousands.</a:t>
            </a:r>
          </a:p>
          <a:p>
            <a:r>
              <a:rPr sz="1200"/>
              <a:t>The gotcha: measure the shape of the comparison, not a single run's exact count. Contended futex counts are scheduling-dependent and will differ run to run on identical hardware -- 'more than two orders of magnitude between uncontended and contended' holds up every time; the precise figure from one run does not belong in a test assertion or a mental model.</a:t>
            </a:r>
          </a:p>
          <a:p>
            <a:r>
              <a:rPr sz="1200"/>
              <a:t>Standards delta: none here -- this is a measurement of glibc's pthread_mutex implementation on Linux, unchanged by any C++ standard. What C++20 adds is the portable name (atomic::wait/notify) for the same underlying syscalls.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section covers the mutex family (mutex, recursive_mutex, timed_mutex, shared_mutex), the RAII wrapper types built on top of them, and the two independent fixes for the textbook two-mutex deadlock: a global lock-ordering convention, and std::scoped_lock's try-all-and-back-off algorithm.</a:t>
            </a:r>
          </a:p>
          <a:p>
            <a:r>
              <a:rPr sz="1200"/>
              <a:t>The gotcha to land: scoped_lock's deadlock-avoidance guarantee covers the mutexes named in one construction. It says nothing about a thread that holds a lock from one scoped_lock and then acquires a second one, separately, inside that scope. The standards delta here is mostly about what sits alongside locking -- jthread for clean shutdown, move_only_function for a smaller critical section.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two accounts locked together through one scoped_lock construction. Given two or more mutexes, scoped_lock locks the first, attempts the rest, and if any attempt fails, releases everything acquired so far and retries -- the same algorithm std::lock() exposes directly.</a:t>
            </a:r>
          </a:p>
          <a:p>
            <a:r>
              <a:rPr sz="1200"/>
              <a:t>The gotcha: this guarantee's scope is narrow. It covers the mutexes named in one scoped_lock call. A thread that holds a lock from one scoped_lock and then, inside that scope, acquires a second mutex outside of a single call naming both, has reopened the exact ordering problem scoped_lock was solving for its own argument list.</a:t>
            </a:r>
          </a:p>
          <a:p>
            <a:r>
              <a:rPr sz="1200"/>
              <a:t>Standards delta: scoped_lock is C++17, not new to this book's C++20-and-later window. What C++20 adds alongside it is jthread and stop_token, which make a background updater holding a shared_mutex briefly in exclusive mode straightforward to shut down cleanly.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the only difference between the two functions is an RAII wrapper. withdraw_unsafe() locks forever, silently, the moment a bounds check throws between lock() and unlock() -- a mistake invisible at the call site that introduced it.</a:t>
            </a:r>
          </a:p>
          <a:p>
            <a:r>
              <a:rPr sz="1200"/>
              <a:t>The gotcha: this works today and is one refactor away from not working. The function that called this safely for two years breaks the moment someone adds a throwing check inside the critical section. A bare lock()/unlock() pair, outside the narrow cases unique_lock's adopt_lock needs, is a legitimate code-review finding, not a style preference.</a:t>
            </a:r>
          </a:p>
          <a:p>
            <a:r>
              <a:rPr sz="1200"/>
              <a:t>Standards delta: C++23's move_only_function lets a writer build a completion closure owning non-copyable state while holding the lock, store it, release the lock, and invoke the closure afterward -- shrinking the critical section to exactly the work that needs the lock.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diagram shows: the upper band is the textbook deadlock -- thread one locks a then b, thread two locks b then a, each ends up holding what the other needs. Nothing raises an exception or sets errno; the threads stop producing observable behavior, forever.</a:t>
            </a:r>
          </a:p>
          <a:p>
            <a:r>
              <a:rPr sz="1200"/>
              <a:t>The gotcha: a deadlocked program is not a failing program in any sense a monitoring system typically catches. The only external evidence is every involved thread's /proc/&lt;pid&gt;/task/*/wchan reading the kernel's futex-parked function, from chapter 5's mechanism applied to a stuck wait exactly as it applies to any other one.</a:t>
            </a:r>
          </a:p>
          <a:p>
            <a:r>
              <a:rPr sz="1200"/>
              <a:t>Standards delta: the lower band's fix, scoped_lock, is C++17. The other fix -- a documented, total lock order -- is organizational, not a language feature, and has to survive code review as new call sites appear across every standard version.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section covers condition_variable's predicate idiom, C++20's latch (single-use countdown) and barrier (reusable phased rendezvous with a completion function), and counting_semaphore for bounding concurrency without a mutex's ownership discipline.</a:t>
            </a:r>
          </a:p>
          <a:p>
            <a:r>
              <a:rPr sz="1200"/>
              <a:t>The gotcha to land up front: a bare cv.wait(lk) with no predicate compiles, runs, and fails intermittently in production, because spurious wakeups are part of the specified contract, not an edge case to defend against. All four primitives in this section are C++20 arrivals with no C++17 fallback worth reimplementing.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wait's predicate overload reacquires the lock before testing the predicate, loops back to sleep if it's still false, and returns holding the lock once it's true. It also absorbs a second hazard beyond spurious wakeup -- a notification that arrives before the waiter has even started waiting is not lost, because the predicate check at the top of the loop catches the already-true state on first entry.</a:t>
            </a:r>
          </a:p>
          <a:p>
            <a:r>
              <a:rPr sz="1200"/>
              <a:t>The gotcha: the predicate must read state protected by the same mutex the lock holds. A condition variable is purely a wakeup channel layered over state tracked separately -- it remembers nothing on its own.</a:t>
            </a:r>
          </a:p>
          <a:p>
            <a:r>
              <a:rPr sz="1200"/>
              <a:t>Standards delta: C++20 adds condition_variable_any's stop_token-aware overload, wait(lock, stop_token, predicate), which returns early on a cooperative stop request without hand-rolling a cancellation flag alongside the data predicate.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latch for a one-time rendezvous -- 'wait for N subsystems to finish initializing' -- and barrier for a loop where the same group of threads rendezvous once per phase, repeatedly. The completion function is barrier's distinguishing feature: it's the natural place to merge per-thread partial results or swap double-buffered state.</a:t>
            </a:r>
          </a:p>
          <a:p>
            <a:r>
              <a:rPr sz="1200"/>
              <a:t>The gotcha: reinventing either from a raw condition_variable and a hand-counted integer gets right the first time and wrong the second time a phase count changes. arrive_and_drop() lets a thread leave a barrier's group permanently without blocking the rest on a count it can no longer satisfy.</a:t>
            </a:r>
          </a:p>
          <a:p>
            <a:r>
              <a:rPr sz="1200"/>
              <a:t>Standards delta: both are C++20, with no C++17 equivalent. C++23 changed nothing in their public interface; several implementations tightened the underlying futex-wait paths, which needs no source change to benefit from.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eight threads can be inside do_work_with_bounded_concurrency() at once; the ninth blocks in acquire() until one of the eight releases. A mutex can only express up to 1 -- this expresses up to 8, with no owning-thread discipline to get in the way of a producer releasing permits a different consumer acquired.</a:t>
            </a:r>
          </a:p>
          <a:p>
            <a:r>
              <a:rPr sz="1200"/>
              <a:t>The gotcha: on Linux, the fast path is a lock-free atomic decrement; only the blocking path touches the futex, the same two-tier design as std::mutex. The LeastMaxValue template parameter is a hint for a cheaper internal representation, not a runtime ceiling -- release() calls past it are still well-defined within the type's range.</a:t>
            </a:r>
          </a:p>
          <a:p>
            <a:r>
              <a:rPr sz="1200"/>
              <a:t>Standards delta: counting_semaphore and binary_semaphore (an alias for counting_semaphore&lt;1&gt;) are both C++20. The rule of thumb for the whole section: 'may I touch this data' means mutex; 'has this happened yet' means one of these three.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table shows: every primitive from this section mapped to the pattern it exists for. The dividing line that resolves most ambiguity is the question each one answers -- 'may I touch this data' versus 'has this happened yet, or have enough of us arrived.'</a:t>
            </a:r>
          </a:p>
          <a:p>
            <a:r>
              <a:rPr sz="1200"/>
              <a:t>The gotcha: two anti-patterns recur. Reinventing latch or barrier from a raw condition_variable and a counter, and using a condition_variable's bare wait() because 'this path only ever has one notifier' -- a claim usually true until a refactor adds a second one. Neither fails review by inspection; both pass until the exact interleaving that exposes them shows up on a production host months later.</a:t>
            </a:r>
          </a:p>
          <a:p>
            <a:r>
              <a:rPr sz="1200"/>
              <a:t>Standards delta: all four primitives in this table that aren't the mutex family are C++20, introduced together as one standardization wave alongside jthread. C++26 extends coordination in a different direction entirely -- lock-free reclamation (next section) -- not new rendezvous types.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section separates two guarantees that std::atomic bundles together: indivisibility (no thread observes a torn read or write) and ordering (what a memory_order argument buys relative to other memory operations). The running example is the single-producer/single-consumer ring buffer's release/acquire hand-off.</a:t>
            </a:r>
          </a:p>
          <a:p>
            <a:r>
              <a:rPr sz="1200"/>
              <a:t>The gotcha to land: on x86-64 TSO, acquire/release and relaxed both compile to a plain mov. seq_cst's extra guarantee -- one global total order every thread agrees on -- costs a locked instruction on the store side. That's a real, measurable cost under contention, not a reason to default away from seq_cst without profiling first.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tail.store(..., release) publishes buf[t % cap] = value, which precedes it in program order. tail.load(..., acquire), once it observes the new value, is guaranteed to also observe that slot write. The two threads share no lock -- exactly one happens-before edge, created once per hand-off.</a:t>
            </a:r>
          </a:p>
          <a:p>
            <a:r>
              <a:rPr sz="1200"/>
              <a:t>The gotcha: relaxed on the slot values themselves would also be correct here, but only because the release/acquire pair on tail already supplies the ordering those values need. relaxed is a scalpel for a happens-before edge proved present by other means, never a default reached for because reasoning about ordering is inconvenient.</a:t>
            </a:r>
          </a:p>
          <a:p>
            <a:r>
              <a:rPr sz="1200"/>
              <a:t>Standards delta: relaxed, acquire, release, acq_rel, and seq_cst are all C++11. What's new in this book's window is C++20's atomic_ref and atomic&lt;T&gt;::wait/notify, covered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diagram shows: the same two-thread hand-off drawn three ways. seq_cst gives every thread one agreed-on global order. acquire/release gives exactly one pairwise edge, crossing only at the store/load pair that needs it. relaxed gives atomicity with no ordering promise of its own -- correct in this diagram only because the edge above it already covers the visibility the ring buffer needs.</a:t>
            </a:r>
          </a:p>
          <a:p>
            <a:r>
              <a:rPr sz="1200"/>
              <a:t>The gotcha: seq_cst's global-order guarantee is strictly more than a two-thread hand-off needs. It subsumes acquire/release (a seq_cst store is also a release, a seq_cst load is also an acquire) plus a cross-thread agreement guarantee the ring buffer never uses.</a:t>
            </a:r>
          </a:p>
          <a:p>
            <a:r>
              <a:rPr sz="1200"/>
              <a:t>Standards delta: memory_order_consume, formally part of the standard since C++11, has been treated as a synonym for acquire by every major implementation for years and should be treated as deprecated in practice -- acquire is the weaker-than-seq_cst load ordering to reach for.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no lock prefix and no mfence anywhere in the disassembled producer. The release store and acquire load are both plain movs on this architecture -- the entire cost difference for seq_cst shows up as one additional locked instruction, typically xchg or an explicit mfence, on the publishing store.</a:t>
            </a:r>
          </a:p>
          <a:p>
            <a:r>
              <a:rPr sz="1200"/>
              <a:t>The gotcha: this is not an argument for defaulting to relaxed. Default to seq_cst (the type's own default) until profiling shows atomic-operation overhead on a specific hot path, then weaken it there with a comment stating which other synchronization supplies the edge the weaker ordering assumes.</a:t>
            </a:r>
          </a:p>
          <a:p>
            <a:r>
              <a:rPr sz="1200"/>
              <a:t>Standards delta: C++20 adds atomic_ref&lt;T&gt; (atomic access to existing, non-atomic storage you don't own the type of) and atomic&lt;T&gt;::wait/notify, which avoids spurious wakeups the way condition_variable does not. C++23 adds no new ordering primitive; C++26's lock-free story moves to reclamation instead, covered next.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section builds a single-producer/single-consumer ring buffer safe without a lock because each counter has exactly one writer, then shows exactly what breaks moving toward multi-producer/multi-consumer: a second writer per counter reopens compare-and-swap, and CAS reopens the ABA problem.</a:t>
            </a:r>
          </a:p>
          <a:p>
            <a:r>
              <a:rPr sz="1200"/>
              <a:t>The gotcha to land: SPSC never faces ABA structurally, not by careful coding -- its counters are monotonic for the life of the run and there is no CAS anywhere in it. The moment a second writer touches a shared location, the reclamation problem (hazard pointers or RCU) becomes necessary, and C++26 proposes to standardize both, though no compiler ships either yet.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the same release/acquire hand-off from the atomics section, turned into a persistent, reusable structure. The release store on tail publishes the slot write that precedes it, exactly as before -- this is that single hand-off, repeated.</a:t>
            </a:r>
          </a:p>
          <a:p>
            <a:r>
              <a:rPr sz="1200"/>
              <a:t>The gotcha: moving toward multi-producer/multi-consumer breaks the one-writer-per-counter property at its root. A single tail.store() no longer suffices because two producers racing to increment tail could both read the same old value and compute the same slot -- the fix is a compare-exchange_weak retry loop, which reintroduces exactly the hazard SPSC avoided by construction.</a:t>
            </a:r>
          </a:p>
          <a:p>
            <a:r>
              <a:rPr sz="1200"/>
              <a:t>Standards delta: nothing here is new to C++20/23/26 -- this is C++11 atomics applied. What's new in this chapter's window is the standardized reclamation vocabulary, covered next, for the CAS-based structures MPMC requires.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diagram shows: thread T1 reads head=A and computes new_head=A-&gt;next, then is preempted before its CAS runs. While suspended, T2 pops A, pops the node after it, frees A, and pushes a freshly allocated node that lands at the same address -- common allocator behavior. T1 resumes and its CAS succeeds, because head is numerically A again.</a:t>
            </a:r>
          </a:p>
          <a:p>
            <a:r>
              <a:rPr sz="1200"/>
              <a:t>The gotcha: the CAS did exactly what it was asked. It compared head against old_head and found them equal. The equality was real; the state it certified was not. new_head now points into memory T2 already popped, possibly freed -- corruption with a passing compare.</a:t>
            </a:r>
          </a:p>
          <a:p>
            <a:r>
              <a:rPr sz="1200"/>
              <a:t>Standards delta: two mitigations are standard today -- a tagged pointer pairing the pointer with a generation count, or a hazard-pointer/RCU scheme that prevents reuse rather than detecting it. C++26 proposes std::hazard_pointer and std::rcu to standardize the second family directly, labeled experimental -- no shipping compiler implements either as of this writing.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the canonical ABA-prone pop above the line, and the proposed C++26 hazard-pointer protection below it. protect() publishes the pointer into a well-known slot other threads inspect before reclaiming anything, so a thread that wants to free a node first scans every reader's slot.</a:t>
            </a:r>
          </a:p>
          <a:p>
            <a:r>
              <a:rPr sz="1200"/>
              <a:t>The gotcha: hazard pointers and RCU solve safe reclamation -- never freeing a node a reader might still dereference -- but on opposite sides of the cost ledger. A read-mostly structure (a routing table, a config snapshot) favors RCU; a structure updated and read at comparable rates, or with latency-sensitive deletes, favors hazard pointers' more predictable per-operation cost.</a:t>
            </a:r>
          </a:p>
          <a:p>
            <a:r>
              <a:rPr sz="1200"/>
              <a:t>Standards delta: both hazard_pointer and rcu are proposed for C++26 (P2530, P2545) and labeled experimental -- the interface shown reflects the proposal shape and may still change. Hand-rolled versions remain the only production option until a compiler ships either.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section covers std::async's launch policies and the default policy's surprise (the implementation may pick deferred, running on no new thread at all, until get() or wait() forces it), the promise/future pair std::async is built on, packaged_task as the usual unit of work for a hand-rolled pool, and how exceptions cross the async boundary.</a:t>
            </a:r>
          </a:p>
          <a:p>
            <a:r>
              <a:rPr sz="1200"/>
              <a:t>The gotcha to land: a future from std::async with the async policy blocks in its destructor if the task hasn't finished -- an unnamed temporary turns what reads like fire-and-forget into a blocking call with the work's name chosen to look otherwise. Nothing in this family's public interface changes across C++20/23/26; coroutines, next, exist to fix what it lacks.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two traps in one slide. The first is the default launch policy silently degrading three meant-to-overlap calls to fully sequential execution on a conforming implementation, with no diagnostic. The second is the temporary future's destructor -- special to std::async with the async policy -- blocking until the task completes.</a:t>
            </a:r>
          </a:p>
          <a:p>
            <a:r>
              <a:rPr sz="1200"/>
              <a:t>The gotcha: binding the result to a named variable doesn't change the second trap; the block still happens, at the variable's own destruction instead. A related trap: wait_for/wait_until on a deferred-policy future reports std::future_status::deferred forever -- polling code that treats it like timeout and retries spins indefinitely.</a:t>
            </a:r>
          </a:p>
          <a:p>
            <a:r>
              <a:rPr sz="1200"/>
              <a:t>Standards delta: none -- std::async, future, promise, packaged_task, and shared_future are all pre-C++20 and unchanged through the C++26 draft. What changes is the vocabulary around them, starting with coroutines next.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promise/future split std::async's two halves -- describing the work and running it -- apart, which is what lets the producing side be a thread pool, a hardware callback, or any execution context std::async's interface doesn't reach. packaged_task then wraps a callable so it's both invocable and carries its own future, which is why it's the building block for hand-rolled pools rather than std::async.</a:t>
            </a:r>
          </a:p>
          <a:p>
            <a:r>
              <a:rPr sz="1200"/>
              <a:t>The gotcha: each std::launch::async call is free to spawn a new OS thread, and a tight loop issuing thousands of them can exhaust the process thread limit, surfacing as std::system_error from std::async itself. A fixed-size pool consuming packaged_tasks caps OS threads at the pool's size regardless of task volume.</a:t>
            </a:r>
          </a:p>
          <a:p>
            <a:r>
              <a:rPr sz="1200"/>
              <a:t>Standards delta: none in this family's interface across C++20/23/26 -- same shape since C++11.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the same exception object, not a serialized description of it, crosses the thread boundary and surfaces exactly once, at the first get(). shared_future rethrows a copy of the stored exception at each caller's own get(), so every waiter observes the same failure.</a:t>
            </a:r>
          </a:p>
          <a:p>
            <a:r>
              <a:rPr sz="1200"/>
              <a:t>The gotcha: if no one ever calls get(), the exception is never observed at all -- there is no equivalent of an uncaught-exception-on-a-detached-thread crash for a future nobody collected. This model is sufficient for one async operation with one eventual result, and strained by almost anything more structured than that.</a:t>
            </a:r>
          </a:p>
          <a:p>
            <a:r>
              <a:rPr sz="1200"/>
              <a:t>Standards delta: this one-hop exception model is unchanged across C++20/23/26. C++20's coroutines (next section) keep the same exception-propagation guarantee while removing the blocking get() -- co_await is a non-blocking continuation over the identical contract.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section walks the compiler-generated coroutine machinery: the frame, promise_type, and the await_ready/await_suspend/await_resume triad; symmetric transfer, which keeps a long chain of resumptions from growing the stack; HALO, the heap-allocation elision the standard permits but never guarantees; C++23's std::generator; and the lifetime trap around references held past a suspension point.</a:t>
            </a:r>
          </a:p>
          <a:p>
            <a:r>
              <a:rPr sz="1200"/>
              <a:t>The gotcha to land hardest: a coroutine is the one place a function body can outlive the call that started it, which makes a reference parameter unsafe in a way it never is in an ordinary function. The standards delta is C++20 for the whole machinery, C++23 for std::generator, and C++26's proposed senders/receivers as the eventual composition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the nested promise_type the compiler looks up via std::coroutine_traits on the coroutine's return type. The storage holding locals, the current suspension point, and bookkeeping is the coroutine frame -- almost always heap-allocated, and never a type you write or take sizeof of directly.</a:t>
            </a:r>
          </a:p>
          <a:p>
            <a:r>
              <a:rPr sz="1200"/>
              <a:t>The gotcha: unhandled_exception() runs from inside a catch block the compiler generates around the whole body, if the coroutine throws and never catches internally. Getting this wrong (calling std::terminate() here, as shown, versus storing the exception for later rethrow) is a design decision this type has to make explicitly.</a:t>
            </a:r>
          </a:p>
          <a:p>
            <a:r>
              <a:rPr sz="1200"/>
              <a:t>Standards delta: co_await, co_yield, co_return, promise_type, and coroutine_handle all ship in C++20 with no standard-library coroutine type at all -- a Task like this must be hand-written, which every coroutine tutorial does before it hands you a coroutine body.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ReadAwaitable hands the reactor a handle and returns, blocking no one, while the reactor calls .resume() on it later. The second function shows symmetric transfer -- returning a coroutine_handle from await_suspend instead of calling .resume() directly, which the compiler performs as a jump rather than a nested call.</a:t>
            </a:r>
          </a:p>
          <a:p>
            <a:r>
              <a:rPr sz="1200"/>
              <a:t>The gotcha: a naive 'resume the awaiter directly' implementation grows the call stack by one frame per link in a chain of coroutines awaiting each other -- exactly the shape a coroutine pipeline produces, and it overflows despite every function having long since 'returned' in the coroutine sense.</a:t>
            </a:r>
          </a:p>
          <a:p>
            <a:r>
              <a:rPr sz="1200"/>
              <a:t>Standards delta: both the awaitable protocol and symmetric transfer are C++20 language features, unchanged through C++23 and the C++26 draft -- std::noop_coroutine() is the handle to use when there's nothing left to resume.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diagram shows: the standard's wording in [dcl.fct.def.coroutine] is 'may,' not 'shall' -- a license granted to the optimizer when it can prove a frame's lifetime is bounded by the call, exercised at the optimizer's discretion. The lower band shows two compilers disagreeing on the easiest possible elision case, at the same source and the same optimization level.</a:t>
            </a:r>
          </a:p>
          <a:p>
            <a:r>
              <a:rPr sz="1200"/>
              <a:t>The gotcha: 'the optimizer will remove it' is a claim about a toolchain, not the language. It compiles cleanly, passes every test, and is wrong only in its performance model. The only way to know what a given toolchain does is to measure it -- overload operator new inside promise_type and count calls.</a:t>
            </a:r>
          </a:p>
          <a:p>
            <a:r>
              <a:rPr sz="1200"/>
              <a:t>Standards delta: HALO's wording is unchanged from C++20 through the current C++26 working draft. Frame size is a function of what's live across a suspension point, not a flat overhead, which is a separate fact from whether the allocation happens at all.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an infinite Fibonacci generator consumed through ten values and then destroyed mid-co_yield -- well-defined, not a leak. The second function shows the lifetime trap: a plain function's reference parameter is safe because the function runs to completion before the caller can destroy its locals; a coroutine is the one place that invariant breaks.</a:t>
            </a:r>
          </a:p>
          <a:p>
            <a:r>
              <a:rPr sz="1200"/>
              <a:t>The gotcha: nothing about co_await warns you when the caller's local goes out of scope before the coroutine resumes and reads it. The rule that generalizes: anything needed after the first suspension point must be owned by the frame (by value, or a moved local), not borrowed from a caller the coroutine has no visibility into.</a:t>
            </a:r>
          </a:p>
          <a:p>
            <a:r>
              <a:rPr sz="1200"/>
              <a:t>Standards delta: std::generator&lt;T&gt; is C++23, standardizing the most common hand-rolled coroutine type from C++20 code. C++26's proposed std::execution senders and receivers answer composition -- chaining, combining, cancelling -- layered on top of this unchanged machinery, not replacing 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section puts the previous section's ReadAwaitable on a real epoll reactor, then covers Boost.Asio's io_context (whose run() returns immediately on no outstanding work, not on 'done'), the work guard that keeps it alive, and the strand as an executor that serializes handlers without a lock.</a:t>
            </a:r>
          </a:p>
          <a:p>
            <a:r>
              <a:rPr sz="1200"/>
              <a:t>The gotcha to land: a handler is not thread-safe merely because Asio handed it to you. The same handler body is race-free under one io_context shape and a live data race under another, and the only thing that changed is how many threads called run(). C++26's proposed scheduler/sender vocabulary generalizes what's already here rather than replacing it.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the previous section's ReadAwaitable::await_suspend meets the kernel here. waiters_[fd] is the map from a watched descriptor back to the exact coroutine frame parked on it; the run loop's single epoll_wait call blocks one thread until at least one watched descriptor is ready, then resumes exactly those coroutines.</a:t>
            </a:r>
          </a:p>
          <a:p>
            <a:r>
              <a:rPr sz="1200"/>
              <a:t>The gotcha: await_resume() stays void here -- nothing about resumption tells the coroutine anything happened; the actual bytes come from calling recv again once resumed, which is why the retry loop lives in the coroutine body, not the awaitable.</a:t>
            </a:r>
          </a:p>
          <a:p>
            <a:r>
              <a:rPr sz="1200"/>
              <a:t>Standards delta: epoll and EPOLLONESHOT are Linux kernel features, not C++ standard ones -- nothing here changes across C++20/23/26. What C++20 contributes is the coroutine machinery this reactor is wired into, from the previous section.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a work guard taken before anything is posted, so a lull with zero connections in flight -- zero outstanding work, by the io_context's own accounting -- doesn't make run() walk off the end of the thread that's supposed to keep serving.</a:t>
            </a:r>
          </a:p>
          <a:p>
            <a:r>
              <a:rPr sz="1200"/>
              <a:t>The gotcha: a hand-rolled reactor's lifetime is the while loop you wrote; an io_context's lifetime is a refcount on pending operations, and that refcount can legitimately hit zero before the async work you meant to start has even been posted. A server accepting connections for its whole lifetime typically holds a guard for exactly that long.</a:t>
            </a:r>
          </a:p>
          <a:p>
            <a:r>
              <a:rPr sz="1200"/>
              <a:t>Standards delta: Boost.Asio's own API tracked this without waiting for the standard -- co_spawn/awaitable/use_awaitable already express C++20's coroutine column in shipping code years ahead of any standard networking facility reaching the same point.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a strand wraps another executor with one guarantee -- handlers posted through it serialize regardless of how many threads service the underlying io_context. A contended std::mutex falls back to futex(FUTEX_WAIT) and parks a thread that someone has to wake; a strand never puts a thread to sleep at all -- a handler that can't run right now is queued, and the thread that would have run it goes back to pick up other work.</a:t>
            </a:r>
          </a:p>
          <a:p>
            <a:r>
              <a:rPr sz="1200"/>
              <a:t>The gotcha: a strand's guarantee is narrower than it sounds -- it says nothing about a thread touching the same data outside a handler, and nothing about handlers posted through a different strand. It's a serialization domain for one piece of shared state, not a blanket lock over the whole program.</a:t>
            </a:r>
          </a:p>
          <a:p>
            <a:r>
              <a:rPr sz="1200"/>
              <a:t>Standards delta: strand and io_context are Asio library concepts, not standard C++. C++26's proposed std::execution generalizes the executor/strand vocabulary into schedulers and senders -- additive, not a replacement, and not yet implemented by any shipping compiler.</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section contrasts stackful fibers (boost::fiber, each with a real stack and cooperative user-space scheduling) against the previous sections' stackless coroutines, whose state lives in a compiler-sized heap frame. The motivating problem is function coloring: a suspending function infects every caller above it, and a fiber sidesteps that by never asking the compiler for anything.</a:t>
            </a:r>
          </a:p>
          <a:p>
            <a:r>
              <a:rPr sz="1200"/>
              <a:t>The gotcha to land: a fiber buys the ability to suspend from inside foreign, non-rewritable blocking code -- at a real, measured memory cost between a thread's stack and a coroutine's frame. No C++ standard through the C++26 draft provides a stackful-coroutine type.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neither leaf() nor middle() is a coroutine in any sense the compiler recognizes -- neither contains co_await. yield() works anyway, because it asks boost::context to save the current stack pointer and registers and switch to a different stack, a mechanism with no idea what function it was standing in.</a:t>
            </a:r>
          </a:p>
          <a:p>
            <a:r>
              <a:rPr sz="1200"/>
              <a:t>The gotcha: this is the entire difference from a stackless coroutine -- it can suspend only where the compiler built a state machine to suspend from; a fiber can suspend anywhere a function call is legal, because suspension never touched the compiler at all.</a:t>
            </a:r>
          </a:p>
          <a:p>
            <a:r>
              <a:rPr sz="1200"/>
              <a:t>Standards delta: Boost.Fiber is not, and as of the C++26 working draft is not becoming, part of the C++ standard. There is no std::fiber in C++20, C++23, or the C++26 draft -- the cross-standard difference is how awkward the workaround for not having one is to write.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diagram shows: three orders of magnitude apart at each step -- a thread stack of several MiB, a fiber stack around a hundred-odd KiB, a coroutine frame from tens of bytes up to whatever it carries live across a suspension. Many fibers fit in one thread's stack; many coroutine frames fit in one fiber's stack.</a:t>
            </a:r>
          </a:p>
          <a:p>
            <a:r>
              <a:rPr sz="1200"/>
              <a:t>The gotcha: that ordering is directionally solid, not a constant to memorize -- the same caution HALO raised. A fiber earns its stack specifically where the call chain between the suspension point and the fiber's entry is deep, or where part of it is foreign code with no natural co_await points -- a vendor library, a recursive parser, a blocking C API.</a:t>
            </a:r>
          </a:p>
          <a:p>
            <a:r>
              <a:rPr sz="1200"/>
              <a:t>Standards delta: none of these three facilities changed shape across C++20/23/26 -- the ordering in this figure describes current mainstream toolchains, worth checking on your own rather than trusting as a fixed number.</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a stack allocator with a guard page, and the one-line scheduler switch from round_robin to shared_work. A fiber that stays inside its allotted bytes never touches the guard; one that recurses past the end walks straight into the PROT_NONE mapping and faults immediately, SIGSEGV at the exact overrun, rather than corrupting whatever page sits next.</a:t>
            </a:r>
          </a:p>
          <a:p>
            <a:r>
              <a:rPr sz="1200"/>
              <a:t>The gotcha: the guard buys determinism about when an overflow is caught, not protection against every way a stack can be mis-sized -- a single frame larger than one page can step clean over it. And migrating under shared_work means a thread_local read before yielding and after resuming can silently read two different threads' copies.</a:t>
            </a:r>
          </a:p>
          <a:p>
            <a:r>
              <a:rPr sz="1200"/>
              <a:t>Standards delta: none -- Boost.Fiber's scheduler API is library-level, with no standard equivalent through C++26. fiber_specific_ptr is Boost's answer for state that must travel with the fiber rather than the thread.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section covers the three C++17 execution policies -- seq, par, and par_unseq -- the guarantees each relaxes and what each forbids inside its callable, the parallel STL algorithms built on them, and a cost model for when converting a loop to one actually pays off.</a:t>
            </a:r>
          </a:p>
          <a:p>
            <a:r>
              <a:rPr sz="1200"/>
              <a:t>The gotcha to land: par_unseq's 'may interleave within one thread' permission makes locking or allocating inside its callable not merely slow but potentially self-deadlocking -- two iterations that need to rendezvous may be the same hardware thread, and one of them never gets a turn. seq/par/par_unseq are C++17, refined rather than introduced across C++20/23/26.</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the par example is unremarkable -- an atomic accumulator, safe to call from multiple threads concurrently. The par_unseq example is the trap: a vector unit executing several logical iterations as one SIMD operation cannot context-switch between them the way the OS scheduler switches threads, so a lock acquired by one 'iteration' may never be released by whichever other iteration is sharing its hardware thread.</a:t>
            </a:r>
          </a:p>
          <a:p>
            <a:r>
              <a:rPr sz="1200"/>
              <a:t>The gotcha: the standard's own phrasing forbids 'vectorization-unsafe' operations under par_unseq -- acquiring a lock, allocating through a non-lock-free allocator, or anything else that could legally block.</a:t>
            </a:r>
          </a:p>
          <a:p>
            <a:r>
              <a:rPr sz="1200"/>
              <a:t>Standards delta: seq, par, and par_unseq are C++17, not new to this book's C++20 window -- attributing them correctly matters for the rest of this section.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transform_reduce composing map-then-fold in one pass, specifically so an implementation isn't forced to materialize the intermediate transformed range first -- the same fusion motivation range adaptors bring to sequential code.</a:t>
            </a:r>
          </a:p>
          <a:p>
            <a:r>
              <a:rPr sz="1200"/>
              <a:t>The gotcha: a parallel reduction needs the freedom to combine partial sums from different threads in whatever order they finish, so the standard requires the combining operation to be associative and commutative. Ordinary integer addition qualifies; floating-point addition does not strictly qualify, because reordering changes accumulated rounding error -- worth knowing before a test expects bit-for-bit agreement against an accumulate baseline.</a:t>
            </a:r>
          </a:p>
          <a:p>
            <a:r>
              <a:rPr sz="1200"/>
              <a:t>Standards delta: reduce, transform_reduce, and the scan algorithms are C++17. C++20's only addition to the policy set is a fourth value, unseq -- vectorization permitted, cross-thread parallelism not.</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unseq, C++20's one addition to the policy set, for a loop safe to auto-vectorize but whose callable is unsafe to run concurrently across threads for some unrelated reason.</a:t>
            </a:r>
          </a:p>
          <a:p>
            <a:r>
              <a:rPr sz="1200"/>
              <a:t>The gotcha: a standard library that accepts std::execution::par without a conforming parallel backend linked in (libstdc++'s is layered on a separate library) is permitted to execute the algorithm as if seq had been requested -- compiles, runs, produces a correct but non-parallel result with no diagnostic that anything was skipped.</a:t>
            </a:r>
          </a:p>
          <a:p>
            <a:r>
              <a:rPr sz="1200"/>
              <a:t>Standards delta: C++23 changes nothing about any of the four policies. C++26's proposed std::execution bulk/scheduler model is a strictly richer vocabulary layered alongside the existing policies, not a fifth policy value -- experimental, with no shipping compiler support.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closing section establishes a sizing rule for a thread pool from the workload rather than a guess (cores for CPU-bound work, a wait-to-compute ratio for I/O-bound work), compares a single shared queue against work-stealing deques, and makes the pool size cgroup-aware so it reflects the container's quota rather than the host's core count.</a:t>
            </a:r>
          </a:p>
          <a:p>
            <a:r>
              <a:rPr sz="1200"/>
              <a:t>The gotcha to land: a single shared queue's lock becomes the pool's throughput ceiling at scale, because every worker and producer funnels through it regardless of idle capacity elsewhere. This closes the toolkit tour before the 201 deck turns to applying all of it under a latency budget.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the two sizing formulas from the chapter, and the cgroup v2 read that should gate hardware_concurrency() rather than replace it -- a quota of 'max' means no limit, in which case the pool should fall back to hardware_concurrency(), not treat an absent quota as zero.</a:t>
            </a:r>
          </a:p>
          <a:p>
            <a:r>
              <a:rPr sz="1200"/>
              <a:t>The gotcha: a pool sized off hardware_concurrency() on a sixty-four-core host, running inside a container capped at two cores, builds sixty-four threads' worth of pool for two cores' worth of hardware -- more time-slicing, not more throughput. Mixed workloads are usually better split into two pools sized by their own rules than compromised into one size for both.</a:t>
            </a:r>
          </a:p>
          <a:p>
            <a:r>
              <a:rPr sz="1200"/>
              <a:t>Standards delta: C++20's jthread and stop_token give a pool a cleaner worker and shutdown path -- a worker loop can thread a stop_token through its wait predicate so a shutdown wakes a thread blocked waiting for the next task.</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diagram shows: each worker treats its own deque as a LIFO stack, popping the most recently pushed (and most cache-hot) task from the bottom. An idle worker steals from the opposite end, the top, taking the oldest task in a busy neighbor's queue instead.</a:t>
            </a:r>
          </a:p>
          <a:p>
            <a:r>
              <a:rPr sz="1200"/>
              <a:t>The gotcha: stealing from the far end is the design's central trick -- a thief and the owner only contend when the deque holds exactly one item, since every other access touches opposite ends. A single shared queue, by contrast, becomes a serialization point every worker and producer funnels through, capping throughput below hardware capacity at a number set by lock overhead.</a:t>
            </a:r>
          </a:p>
          <a:p>
            <a:r>
              <a:rPr sz="1200"/>
              <a:t>Standards delta: work-stealing deques (the Chase-Lev algorithm most implementations trace to) are a library and runtime pattern, not a C++ standard type. C++26's proposed std::execution exposes a thread_pool-style scheduler as the first standard vocabulary for this area.</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What the code shows: a complete, minimal pool using only this section's own tools -- jthread for workers, a stop_token threaded through the wait predicate so a shutdown request wakes a thread that's blocked waiting for the next task rather than leaving it to notice only after another task arrives.</a:t>
            </a:r>
          </a:p>
          <a:p>
            <a:r>
              <a:rPr sz="1200"/>
              <a:t>The gotcha: before C++20, this same pool needed an explicit atomic shutdown flag every worker's loop checked, plus careful ordering between setting that flag and calling join() on each std::thread by hand -- all of that collapses into the implicit jthread destructor here.</a:t>
            </a:r>
          </a:p>
          <a:p>
            <a:r>
              <a:rPr sz="1200"/>
              <a:t>Standards delta: C++23's move_only_function (not shown) would replace this queue's std::function element type, since std::function's copy-constructibility requirement forces a task capturing a unique_ptr into an unnecessary shared_ptr wrapper nothing in the pool ever needed. C++26's proposed senders/receivers standardize scheduling itself; no mainstream standard library ships a complete implementation as of this writing.</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That's the toolkit: twelve chapters of standard-library concurrency, with the standards delta named precisely at every stop so nothing proposed gets mistaken for something shipping.</a:t>
            </a:r>
          </a:p>
          <a:p>
            <a:r>
              <a:rPr sz="1200"/>
              <a:t>The throughline worth keeping: correctness and performance are separate questions here. A jthread joins correctly, a release/acquire pair hands off correctly, a work-stealing pool balances load correctly -- none of that says anything yet about whether the result meets a microsecond budget.</a:t>
            </a:r>
          </a:p>
          <a:p>
            <a:r>
              <a:rPr sz="1200"/>
              <a:t>The 201 deck is where this toolkit meets that budget: mechanical sympathy, the low-latency fast path, lock-free messaging, and the disruptor pattern, built on exactly the primitives covered today. Thanks for sitting through the tour.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1515"/>
        </a:solidFill>
        <a:effectLst/>
      </p:bgPr>
    </p:bg>
    <p:spTree>
      <p:nvGrpSpPr>
        <p:cNvPr id="1" name=""/>
        <p:cNvGrpSpPr/>
        <p:nvPr/>
      </p:nvGrpSpPr>
      <p:grpSpPr/>
      <p:sp>
        <p:nvSpPr>
          <p:cNvPr id="2" name="Oval 1"/>
          <p:cNvSpPr/>
          <p:nvPr/>
        </p:nvSpPr>
        <p:spPr>
          <a:xfrm>
            <a:off x="914400" y="1371600"/>
            <a:ext cx="201168" cy="201168"/>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1371600"/>
            <a:ext cx="201168" cy="201168"/>
          </a:xfrm>
          <a:prstGeom prst="ellipse">
            <a:avLst/>
          </a:prstGeom>
          <a:solidFill>
            <a:srgbClr val="00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554480" y="1371600"/>
            <a:ext cx="201168" cy="201168"/>
          </a:xfrm>
          <a:prstGeom prst="ellipse">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10332720" cy="457200"/>
          </a:xfrm>
          <a:prstGeom prst="rect">
            <a:avLst/>
          </a:prstGeom>
          <a:noFill/>
        </p:spPr>
        <p:txBody>
          <a:bodyPr wrap="square" anchor="t" lIns="45720" rIns="45720">
            <a:spAutoFit/>
          </a:bodyPr>
          <a:lstStyle/>
          <a:p>
            <a:pPr algn="l"/>
            <a:r>
              <a:rPr sz="2000" b="1" i="0">
                <a:solidFill>
                  <a:srgbClr val="0066CC"/>
                </a:solidFill>
                <a:latin typeface="Red Hat Display"/>
              </a:rPr>
              <a:t>C++ CONCURRENCY 101</a:t>
            </a:r>
          </a:p>
        </p:txBody>
      </p:sp>
      <p:sp>
        <p:nvSpPr>
          <p:cNvPr id="6" name="TextBox 5"/>
          <p:cNvSpPr txBox="1"/>
          <p:nvPr/>
        </p:nvSpPr>
        <p:spPr>
          <a:xfrm>
            <a:off x="914400" y="2286000"/>
            <a:ext cx="10332720" cy="1371600"/>
          </a:xfrm>
          <a:prstGeom prst="rect">
            <a:avLst/>
          </a:prstGeom>
          <a:noFill/>
        </p:spPr>
        <p:txBody>
          <a:bodyPr wrap="square" anchor="t" lIns="45720" rIns="45720">
            <a:spAutoFit/>
          </a:bodyPr>
          <a:lstStyle/>
          <a:p>
            <a:pPr algn="l"/>
            <a:r>
              <a:rPr sz="4400" b="1" i="0">
                <a:solidFill>
                  <a:srgbClr val="FFFFFF"/>
                </a:solidFill>
                <a:latin typeface="Red Hat Display"/>
              </a:rPr>
              <a:t>The Modern C++ Concurrency Toolkit</a:t>
            </a:r>
          </a:p>
        </p:txBody>
      </p:sp>
      <p:sp>
        <p:nvSpPr>
          <p:cNvPr id="7" name="TextBox 6"/>
          <p:cNvSpPr txBox="1"/>
          <p:nvPr/>
        </p:nvSpPr>
        <p:spPr>
          <a:xfrm>
            <a:off x="914400" y="4114800"/>
            <a:ext cx="10332720" cy="457200"/>
          </a:xfrm>
          <a:prstGeom prst="rect">
            <a:avLst/>
          </a:prstGeom>
          <a:noFill/>
        </p:spPr>
        <p:txBody>
          <a:bodyPr wrap="square" anchor="t" lIns="45720" rIns="45720">
            <a:spAutoFit/>
          </a:bodyPr>
          <a:lstStyle/>
          <a:p>
            <a:pPr algn="l"/>
            <a:r>
              <a:rPr sz="1600" b="0" i="0">
                <a:solidFill>
                  <a:srgbClr val="F4F4F4"/>
                </a:solidFill>
                <a:latin typeface="Red Hat Text"/>
              </a:rPr>
              <a:t>jthread + stop_token  •  mutexes, locks, lock ordering  •  atomics &amp; the memory model  •  lock-free structures</a:t>
            </a:r>
          </a:p>
        </p:txBody>
      </p:sp>
      <p:sp>
        <p:nvSpPr>
          <p:cNvPr id="8" name="TextBox 7"/>
          <p:cNvSpPr txBox="1"/>
          <p:nvPr/>
        </p:nvSpPr>
        <p:spPr>
          <a:xfrm>
            <a:off x="914400" y="4572000"/>
            <a:ext cx="10332720" cy="457200"/>
          </a:xfrm>
          <a:prstGeom prst="rect">
            <a:avLst/>
          </a:prstGeom>
          <a:noFill/>
        </p:spPr>
        <p:txBody>
          <a:bodyPr wrap="square" anchor="t" lIns="45720" rIns="45720">
            <a:spAutoFit/>
          </a:bodyPr>
          <a:lstStyle/>
          <a:p>
            <a:pPr algn="l"/>
            <a:r>
              <a:rPr sz="1600" b="0" i="0">
                <a:solidFill>
                  <a:srgbClr val="F4F4F4"/>
                </a:solidFill>
                <a:latin typeface="Red Hat Text"/>
              </a:rPr>
              <a:t>futures &amp; coroutines  •  async runtimes  •  fibers  •  parallel algorithms  •  thread pools</a:t>
            </a:r>
          </a:p>
        </p:txBody>
      </p:sp>
      <p:sp>
        <p:nvSpPr>
          <p:cNvPr id="9" name="TextBox 8"/>
          <p:cNvSpPr txBox="1"/>
          <p:nvPr/>
        </p:nvSpPr>
        <p:spPr>
          <a:xfrm>
            <a:off x="914400" y="5212080"/>
            <a:ext cx="10332720" cy="365760"/>
          </a:xfrm>
          <a:prstGeom prst="rect">
            <a:avLst/>
          </a:prstGeom>
          <a:noFill/>
        </p:spPr>
        <p:txBody>
          <a:bodyPr wrap="square" anchor="t" lIns="45720" rIns="45720">
            <a:spAutoFit/>
          </a:bodyPr>
          <a:lstStyle/>
          <a:p>
            <a:pPr algn="l"/>
            <a:r>
              <a:rPr sz="1400" b="0" i="1">
                <a:solidFill>
                  <a:srgbClr val="8A8A8A"/>
                </a:solidFill>
                <a:latin typeface="Red Hat Text"/>
              </a:rPr>
              <a:t>Twelve chapters of real, compiling C++20/23/26 — what ships today and what's still experimental</a:t>
            </a:r>
          </a:p>
        </p:txBody>
      </p:sp>
      <p:sp>
        <p:nvSpPr>
          <p:cNvPr id="10" name="TextBox 9"/>
          <p:cNvSpPr txBox="1"/>
          <p:nvPr/>
        </p:nvSpPr>
        <p:spPr>
          <a:xfrm>
            <a:off x="914400" y="5943600"/>
            <a:ext cx="10332720" cy="365760"/>
          </a:xfrm>
          <a:prstGeom prst="rect">
            <a:avLst/>
          </a:prstGeom>
          <a:noFill/>
        </p:spPr>
        <p:txBody>
          <a:bodyPr wrap="square" anchor="t" lIns="45720" rIns="45720">
            <a:spAutoFit/>
          </a:bodyPr>
          <a:lstStyle/>
          <a:p>
            <a:pPr algn="l"/>
            <a:r>
              <a:rPr sz="1100" b="0" i="0">
                <a:solidFill>
                  <a:srgbClr val="8A8A8A"/>
                </a:solidFill>
                <a:latin typeface="Red Hat Mono"/>
              </a:rPr>
              <a:t>github.com/patterncatalyst/cpp-concurrency-and-parallelism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Agenda — the twelve chapters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Overview</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Agenda</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2 / 54</a:t>
            </a:r>
          </a:p>
        </p:txBody>
      </p:sp>
      <p:sp>
        <p:nvSpPr>
          <p:cNvPr id="8" name="Oval 7"/>
          <p:cNvSpPr/>
          <p:nvPr/>
        </p:nvSpPr>
        <p:spPr>
          <a:xfrm>
            <a:off x="457200" y="1005840"/>
            <a:ext cx="457200" cy="457200"/>
          </a:xfrm>
          <a:prstGeom prst="ellipse">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05840"/>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1</a:t>
            </a:r>
          </a:p>
        </p:txBody>
      </p:sp>
      <p:sp>
        <p:nvSpPr>
          <p:cNvPr id="10" name="TextBox 9"/>
          <p:cNvSpPr txBox="1"/>
          <p:nvPr/>
        </p:nvSpPr>
        <p:spPr>
          <a:xfrm>
            <a:off x="1051560" y="1005840"/>
            <a:ext cx="4754880" cy="457200"/>
          </a:xfrm>
          <a:prstGeom prst="rect">
            <a:avLst/>
          </a:prstGeom>
          <a:noFill/>
        </p:spPr>
        <p:txBody>
          <a:bodyPr wrap="square" anchor="ctr" lIns="45720" rIns="45720">
            <a:spAutoFit/>
          </a:bodyPr>
          <a:lstStyle/>
          <a:p>
            <a:pPr algn="l"/>
            <a:r>
              <a:rPr sz="1500" b="0" i="0">
                <a:solidFill>
                  <a:srgbClr val="151515"/>
                </a:solidFill>
                <a:latin typeface="Red Hat Text"/>
              </a:rPr>
              <a:t>Threads and Cooperative Cancellation</a:t>
            </a:r>
          </a:p>
        </p:txBody>
      </p:sp>
      <p:sp>
        <p:nvSpPr>
          <p:cNvPr id="11" name="Oval 10"/>
          <p:cNvSpPr/>
          <p:nvPr/>
        </p:nvSpPr>
        <p:spPr>
          <a:xfrm>
            <a:off x="457200" y="1572768"/>
            <a:ext cx="457200" cy="457200"/>
          </a:xfrm>
          <a:prstGeom prst="ellipse">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572768"/>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2</a:t>
            </a:r>
          </a:p>
        </p:txBody>
      </p:sp>
      <p:sp>
        <p:nvSpPr>
          <p:cNvPr id="13" name="TextBox 12"/>
          <p:cNvSpPr txBox="1"/>
          <p:nvPr/>
        </p:nvSpPr>
        <p:spPr>
          <a:xfrm>
            <a:off x="1051560" y="1572768"/>
            <a:ext cx="4754880" cy="457200"/>
          </a:xfrm>
          <a:prstGeom prst="rect">
            <a:avLst/>
          </a:prstGeom>
          <a:noFill/>
        </p:spPr>
        <p:txBody>
          <a:bodyPr wrap="square" anchor="ctr" lIns="45720" rIns="45720">
            <a:spAutoFit/>
          </a:bodyPr>
          <a:lstStyle/>
          <a:p>
            <a:pPr algn="l"/>
            <a:r>
              <a:rPr sz="1500" b="0" i="0">
                <a:solidFill>
                  <a:srgbClr val="151515"/>
                </a:solidFill>
                <a:latin typeface="Red Hat Text"/>
              </a:rPr>
              <a:t>The Futex Underneath the Mutex</a:t>
            </a:r>
          </a:p>
        </p:txBody>
      </p:sp>
      <p:sp>
        <p:nvSpPr>
          <p:cNvPr id="14" name="Oval 13"/>
          <p:cNvSpPr/>
          <p:nvPr/>
        </p:nvSpPr>
        <p:spPr>
          <a:xfrm>
            <a:off x="457200" y="2139696"/>
            <a:ext cx="457200" cy="457200"/>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139696"/>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3</a:t>
            </a:r>
          </a:p>
        </p:txBody>
      </p:sp>
      <p:sp>
        <p:nvSpPr>
          <p:cNvPr id="16" name="TextBox 15"/>
          <p:cNvSpPr txBox="1"/>
          <p:nvPr/>
        </p:nvSpPr>
        <p:spPr>
          <a:xfrm>
            <a:off x="1051560" y="2139696"/>
            <a:ext cx="4754880" cy="457200"/>
          </a:xfrm>
          <a:prstGeom prst="rect">
            <a:avLst/>
          </a:prstGeom>
          <a:noFill/>
        </p:spPr>
        <p:txBody>
          <a:bodyPr wrap="square" anchor="ctr" lIns="45720" rIns="45720">
            <a:spAutoFit/>
          </a:bodyPr>
          <a:lstStyle/>
          <a:p>
            <a:pPr algn="l"/>
            <a:r>
              <a:rPr sz="1500" b="0" i="0">
                <a:solidFill>
                  <a:srgbClr val="151515"/>
                </a:solidFill>
                <a:latin typeface="Red Hat Text"/>
              </a:rPr>
              <a:t>Mutexes, RAII Locks, and Lock Ordering</a:t>
            </a:r>
          </a:p>
        </p:txBody>
      </p:sp>
      <p:sp>
        <p:nvSpPr>
          <p:cNvPr id="17" name="Oval 16"/>
          <p:cNvSpPr/>
          <p:nvPr/>
        </p:nvSpPr>
        <p:spPr>
          <a:xfrm>
            <a:off x="457200" y="2706624"/>
            <a:ext cx="457200" cy="457200"/>
          </a:xfrm>
          <a:prstGeom prst="ellipse">
            <a:avLst/>
          </a:prstGeom>
          <a:solidFill>
            <a:srgbClr val="00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2706624"/>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4</a:t>
            </a:r>
          </a:p>
        </p:txBody>
      </p:sp>
      <p:sp>
        <p:nvSpPr>
          <p:cNvPr id="19" name="TextBox 18"/>
          <p:cNvSpPr txBox="1"/>
          <p:nvPr/>
        </p:nvSpPr>
        <p:spPr>
          <a:xfrm>
            <a:off x="1051560" y="2706624"/>
            <a:ext cx="4754880" cy="457200"/>
          </a:xfrm>
          <a:prstGeom prst="rect">
            <a:avLst/>
          </a:prstGeom>
          <a:noFill/>
        </p:spPr>
        <p:txBody>
          <a:bodyPr wrap="square" anchor="ctr" lIns="45720" rIns="45720">
            <a:spAutoFit/>
          </a:bodyPr>
          <a:lstStyle/>
          <a:p>
            <a:pPr algn="l"/>
            <a:r>
              <a:rPr sz="1500" b="0" i="0">
                <a:solidFill>
                  <a:srgbClr val="151515"/>
                </a:solidFill>
                <a:latin typeface="Red Hat Text"/>
              </a:rPr>
              <a:t>Coordination Primitives</a:t>
            </a:r>
          </a:p>
        </p:txBody>
      </p:sp>
      <p:sp>
        <p:nvSpPr>
          <p:cNvPr id="20" name="Oval 19"/>
          <p:cNvSpPr/>
          <p:nvPr/>
        </p:nvSpPr>
        <p:spPr>
          <a:xfrm>
            <a:off x="457200" y="3273552"/>
            <a:ext cx="457200" cy="457200"/>
          </a:xfrm>
          <a:prstGeom prst="ellipse">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273552"/>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5</a:t>
            </a:r>
          </a:p>
        </p:txBody>
      </p:sp>
      <p:sp>
        <p:nvSpPr>
          <p:cNvPr id="22" name="TextBox 21"/>
          <p:cNvSpPr txBox="1"/>
          <p:nvPr/>
        </p:nvSpPr>
        <p:spPr>
          <a:xfrm>
            <a:off x="1051560" y="3273552"/>
            <a:ext cx="4754880" cy="457200"/>
          </a:xfrm>
          <a:prstGeom prst="rect">
            <a:avLst/>
          </a:prstGeom>
          <a:noFill/>
        </p:spPr>
        <p:txBody>
          <a:bodyPr wrap="square" anchor="ctr" lIns="45720" rIns="45720">
            <a:spAutoFit/>
          </a:bodyPr>
          <a:lstStyle/>
          <a:p>
            <a:pPr algn="l"/>
            <a:r>
              <a:rPr sz="1500" b="0" i="0">
                <a:solidFill>
                  <a:srgbClr val="151515"/>
                </a:solidFill>
                <a:latin typeface="Red Hat Text"/>
              </a:rPr>
              <a:t>Atomics and the Memory Model</a:t>
            </a:r>
          </a:p>
        </p:txBody>
      </p:sp>
      <p:sp>
        <p:nvSpPr>
          <p:cNvPr id="23" name="Oval 22"/>
          <p:cNvSpPr/>
          <p:nvPr/>
        </p:nvSpPr>
        <p:spPr>
          <a:xfrm>
            <a:off x="457200" y="3840480"/>
            <a:ext cx="457200" cy="457200"/>
          </a:xfrm>
          <a:prstGeom prst="ellipse">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3840480"/>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6</a:t>
            </a:r>
          </a:p>
        </p:txBody>
      </p:sp>
      <p:sp>
        <p:nvSpPr>
          <p:cNvPr id="25" name="TextBox 24"/>
          <p:cNvSpPr txBox="1"/>
          <p:nvPr/>
        </p:nvSpPr>
        <p:spPr>
          <a:xfrm>
            <a:off x="1051560" y="3840480"/>
            <a:ext cx="4754880" cy="457200"/>
          </a:xfrm>
          <a:prstGeom prst="rect">
            <a:avLst/>
          </a:prstGeom>
          <a:noFill/>
        </p:spPr>
        <p:txBody>
          <a:bodyPr wrap="square" anchor="ctr" lIns="45720" rIns="45720">
            <a:spAutoFit/>
          </a:bodyPr>
          <a:lstStyle/>
          <a:p>
            <a:pPr algn="l"/>
            <a:r>
              <a:rPr sz="1500" b="0" i="0">
                <a:solidFill>
                  <a:srgbClr val="151515"/>
                </a:solidFill>
                <a:latin typeface="Red Hat Text"/>
              </a:rPr>
              <a:t>Lock-Free Structures and the ABA Problem</a:t>
            </a:r>
          </a:p>
        </p:txBody>
      </p:sp>
      <p:sp>
        <p:nvSpPr>
          <p:cNvPr id="26" name="Oval 25"/>
          <p:cNvSpPr/>
          <p:nvPr/>
        </p:nvSpPr>
        <p:spPr>
          <a:xfrm>
            <a:off x="6217920" y="1005840"/>
            <a:ext cx="457200" cy="457200"/>
          </a:xfrm>
          <a:prstGeom prst="ellipse">
            <a:avLst/>
          </a:prstGeom>
          <a:solidFill>
            <a:srgbClr val="B7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0" y="1005840"/>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7</a:t>
            </a:r>
          </a:p>
        </p:txBody>
      </p:sp>
      <p:sp>
        <p:nvSpPr>
          <p:cNvPr id="28" name="TextBox 27"/>
          <p:cNvSpPr txBox="1"/>
          <p:nvPr/>
        </p:nvSpPr>
        <p:spPr>
          <a:xfrm>
            <a:off x="6812280" y="1005840"/>
            <a:ext cx="4754880" cy="457200"/>
          </a:xfrm>
          <a:prstGeom prst="rect">
            <a:avLst/>
          </a:prstGeom>
          <a:noFill/>
        </p:spPr>
        <p:txBody>
          <a:bodyPr wrap="square" anchor="ctr" lIns="45720" rIns="45720">
            <a:spAutoFit/>
          </a:bodyPr>
          <a:lstStyle/>
          <a:p>
            <a:pPr algn="l"/>
            <a:r>
              <a:rPr sz="1500" b="0" i="0">
                <a:solidFill>
                  <a:srgbClr val="151515"/>
                </a:solidFill>
                <a:latin typeface="Red Hat Text"/>
              </a:rPr>
              <a:t>Futures, Promises, and Packaged Tasks</a:t>
            </a:r>
          </a:p>
        </p:txBody>
      </p:sp>
      <p:sp>
        <p:nvSpPr>
          <p:cNvPr id="29" name="Oval 28"/>
          <p:cNvSpPr/>
          <p:nvPr/>
        </p:nvSpPr>
        <p:spPr>
          <a:xfrm>
            <a:off x="6217920" y="1572768"/>
            <a:ext cx="457200" cy="457200"/>
          </a:xfrm>
          <a:prstGeom prst="ellipse">
            <a:avLst/>
          </a:prstGeom>
          <a:solidFill>
            <a:srgbClr val="B3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1572768"/>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8</a:t>
            </a:r>
          </a:p>
        </p:txBody>
      </p:sp>
      <p:sp>
        <p:nvSpPr>
          <p:cNvPr id="31" name="TextBox 30"/>
          <p:cNvSpPr txBox="1"/>
          <p:nvPr/>
        </p:nvSpPr>
        <p:spPr>
          <a:xfrm>
            <a:off x="6812280" y="1572768"/>
            <a:ext cx="4754880" cy="457200"/>
          </a:xfrm>
          <a:prstGeom prst="rect">
            <a:avLst/>
          </a:prstGeom>
          <a:noFill/>
        </p:spPr>
        <p:txBody>
          <a:bodyPr wrap="square" anchor="ctr" lIns="45720" rIns="45720">
            <a:spAutoFit/>
          </a:bodyPr>
          <a:lstStyle/>
          <a:p>
            <a:pPr algn="l"/>
            <a:r>
              <a:rPr sz="1500" b="0" i="0">
                <a:solidFill>
                  <a:srgbClr val="151515"/>
                </a:solidFill>
                <a:latin typeface="Red Hat Text"/>
              </a:rPr>
              <a:t>Coroutines in Depth</a:t>
            </a:r>
          </a:p>
        </p:txBody>
      </p:sp>
      <p:sp>
        <p:nvSpPr>
          <p:cNvPr id="32" name="Oval 31"/>
          <p:cNvSpPr/>
          <p:nvPr/>
        </p:nvSpPr>
        <p:spPr>
          <a:xfrm>
            <a:off x="6217920" y="2139696"/>
            <a:ext cx="457200" cy="457200"/>
          </a:xfrm>
          <a:prstGeom prst="ellipse">
            <a:avLst/>
          </a:prstGeom>
          <a:solidFill>
            <a:srgbClr val="0066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0" y="2139696"/>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9</a:t>
            </a:r>
          </a:p>
        </p:txBody>
      </p:sp>
      <p:sp>
        <p:nvSpPr>
          <p:cNvPr id="34" name="TextBox 33"/>
          <p:cNvSpPr txBox="1"/>
          <p:nvPr/>
        </p:nvSpPr>
        <p:spPr>
          <a:xfrm>
            <a:off x="6812280" y="2139696"/>
            <a:ext cx="4754880" cy="457200"/>
          </a:xfrm>
          <a:prstGeom prst="rect">
            <a:avLst/>
          </a:prstGeom>
          <a:noFill/>
        </p:spPr>
        <p:txBody>
          <a:bodyPr wrap="square" anchor="ctr" lIns="45720" rIns="45720">
            <a:spAutoFit/>
          </a:bodyPr>
          <a:lstStyle/>
          <a:p>
            <a:pPr algn="l"/>
            <a:r>
              <a:rPr sz="1500" b="0" i="0">
                <a:solidFill>
                  <a:srgbClr val="151515"/>
                </a:solidFill>
                <a:latin typeface="Red Hat Text"/>
              </a:rPr>
              <a:t>Async Runtimes and Event Loops</a:t>
            </a:r>
          </a:p>
        </p:txBody>
      </p:sp>
      <p:sp>
        <p:nvSpPr>
          <p:cNvPr id="35" name="Oval 34"/>
          <p:cNvSpPr/>
          <p:nvPr/>
        </p:nvSpPr>
        <p:spPr>
          <a:xfrm>
            <a:off x="6217920" y="2706624"/>
            <a:ext cx="457200" cy="457200"/>
          </a:xfrm>
          <a:prstGeom prst="ellipse">
            <a:avLst/>
          </a:prstGeom>
          <a:solidFill>
            <a:srgbClr val="006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0" y="2706624"/>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10</a:t>
            </a:r>
          </a:p>
        </p:txBody>
      </p:sp>
      <p:sp>
        <p:nvSpPr>
          <p:cNvPr id="37" name="TextBox 36"/>
          <p:cNvSpPr txBox="1"/>
          <p:nvPr/>
        </p:nvSpPr>
        <p:spPr>
          <a:xfrm>
            <a:off x="6812280" y="2706624"/>
            <a:ext cx="4754880" cy="457200"/>
          </a:xfrm>
          <a:prstGeom prst="rect">
            <a:avLst/>
          </a:prstGeom>
          <a:noFill/>
        </p:spPr>
        <p:txBody>
          <a:bodyPr wrap="square" anchor="ctr" lIns="45720" rIns="45720">
            <a:spAutoFit/>
          </a:bodyPr>
          <a:lstStyle/>
          <a:p>
            <a:pPr algn="l"/>
            <a:r>
              <a:rPr sz="1500" b="0" i="0">
                <a:solidFill>
                  <a:srgbClr val="151515"/>
                </a:solidFill>
                <a:latin typeface="Red Hat Text"/>
              </a:rPr>
              <a:t>Fibers and Stackful Coroutines</a:t>
            </a:r>
          </a:p>
        </p:txBody>
      </p:sp>
      <p:sp>
        <p:nvSpPr>
          <p:cNvPr id="38" name="Oval 37"/>
          <p:cNvSpPr/>
          <p:nvPr/>
        </p:nvSpPr>
        <p:spPr>
          <a:xfrm>
            <a:off x="6217920" y="3273552"/>
            <a:ext cx="457200" cy="457200"/>
          </a:xfrm>
          <a:prstGeom prst="ellipse">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7920" y="3273552"/>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11</a:t>
            </a:r>
          </a:p>
        </p:txBody>
      </p:sp>
      <p:sp>
        <p:nvSpPr>
          <p:cNvPr id="40" name="TextBox 39"/>
          <p:cNvSpPr txBox="1"/>
          <p:nvPr/>
        </p:nvSpPr>
        <p:spPr>
          <a:xfrm>
            <a:off x="6812280" y="3273552"/>
            <a:ext cx="4754880" cy="457200"/>
          </a:xfrm>
          <a:prstGeom prst="rect">
            <a:avLst/>
          </a:prstGeom>
          <a:noFill/>
        </p:spPr>
        <p:txBody>
          <a:bodyPr wrap="square" anchor="ctr" lIns="45720" rIns="45720">
            <a:spAutoFit/>
          </a:bodyPr>
          <a:lstStyle/>
          <a:p>
            <a:pPr algn="l"/>
            <a:r>
              <a:rPr sz="1500" b="0" i="0">
                <a:solidFill>
                  <a:srgbClr val="151515"/>
                </a:solidFill>
                <a:latin typeface="Red Hat Text"/>
              </a:rPr>
              <a:t>Parallel Algorithms and Execution Policies</a:t>
            </a:r>
          </a:p>
        </p:txBody>
      </p:sp>
      <p:sp>
        <p:nvSpPr>
          <p:cNvPr id="41" name="Oval 40"/>
          <p:cNvSpPr/>
          <p:nvPr/>
        </p:nvSpPr>
        <p:spPr>
          <a:xfrm>
            <a:off x="6217920" y="3840480"/>
            <a:ext cx="457200" cy="457200"/>
          </a:xfrm>
          <a:prstGeom prst="ellipse">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0" y="3840480"/>
            <a:ext cx="457200" cy="457200"/>
          </a:xfrm>
          <a:prstGeom prst="rect">
            <a:avLst/>
          </a:prstGeom>
          <a:noFill/>
        </p:spPr>
        <p:txBody>
          <a:bodyPr wrap="square" anchor="ctr" lIns="45720" rIns="45720">
            <a:spAutoFit/>
          </a:bodyPr>
          <a:lstStyle/>
          <a:p>
            <a:pPr algn="ctr"/>
            <a:r>
              <a:rPr sz="1600" b="1" i="0">
                <a:solidFill>
                  <a:srgbClr val="FFFFFF"/>
                </a:solidFill>
                <a:latin typeface="Red Hat Display"/>
              </a:rPr>
              <a:t>12</a:t>
            </a:r>
          </a:p>
        </p:txBody>
      </p:sp>
      <p:sp>
        <p:nvSpPr>
          <p:cNvPr id="43" name="TextBox 42"/>
          <p:cNvSpPr txBox="1"/>
          <p:nvPr/>
        </p:nvSpPr>
        <p:spPr>
          <a:xfrm>
            <a:off x="6812280" y="3840480"/>
            <a:ext cx="4754880" cy="457200"/>
          </a:xfrm>
          <a:prstGeom prst="rect">
            <a:avLst/>
          </a:prstGeom>
          <a:noFill/>
        </p:spPr>
        <p:txBody>
          <a:bodyPr wrap="square" anchor="ctr" lIns="45720" rIns="45720">
            <a:spAutoFit/>
          </a:bodyPr>
          <a:lstStyle/>
          <a:p>
            <a:pPr algn="l"/>
            <a:r>
              <a:rPr sz="1500" b="0" i="0">
                <a:solidFill>
                  <a:srgbClr val="151515"/>
                </a:solidFill>
                <a:latin typeface="Red Hat Text"/>
              </a:rPr>
              <a:t>Thread Pools and Work Scheduling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§1</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Threads and Cooperative Cancellation</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std::jthread closes the one gap in std::thread that actually caused outages: the forgotten join.</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3 / 54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Threads and Cooperative Cancellation</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Threads and Cooperative Cancellation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4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jthread: the destructor does the join</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B71C1C"/>
                </a:solidFill>
                <a:latin typeface="Red Hat Text"/>
              </a:rPr>
              <a:t>The problem jthread closes</a:t>
            </a:r>
          </a:p>
          <a:p>
            <a:pPr algn="l">
              <a:lnSpc>
                <a:spcPct val="115000"/>
              </a:lnSpc>
            </a:pPr>
            <a:r>
              <a:rPr sz="1400" b="0" i="0">
                <a:solidFill>
                  <a:srgbClr val="151515"/>
                </a:solidFill>
                <a:latin typeface="Red Hat Text"/>
              </a:rPr>
              <a:t>•  std::thread, destroyed while still joinable, calls std::terminate() -- no unwind, nothing</a:t>
            </a:r>
          </a:p>
          <a:p>
            <a:pPr algn="l">
              <a:lnSpc>
                <a:spcPct val="115000"/>
              </a:lnSpc>
            </a:pPr>
            <a:r>
              <a:rPr sz="1400" b="0" i="0">
                <a:solidFill>
                  <a:srgbClr val="151515"/>
                </a:solidFill>
                <a:latin typeface="Red Hat Text"/>
              </a:rPr>
              <a:t>•  Every early return and every exception is a live grenade if the matching join() is missed</a:t>
            </a:r>
          </a:p>
          <a:p>
            <a:pPr algn="l">
              <a:lnSpc>
                <a:spcPct val="115000"/>
              </a:lnSpc>
            </a:pPr>
            <a:r>
              <a:rPr sz="1400" b="0" i="0">
                <a:solidFill>
                  <a:srgbClr val="151515"/>
                </a:solidFill>
                <a:latin typeface="Red Hat Text"/>
              </a:rPr>
              <a:t>•  jthread's destructor requests a stop, then joins -- unconditionally, on every exit path</a:t>
            </a:r>
          </a:p>
          <a:p>
            <a:pPr algn="l">
              <a:lnSpc>
                <a:spcPct val="115000"/>
              </a:lnSpc>
              <a:spcBef>
                <a:spcPts val="1400"/>
              </a:spcBef>
            </a:pPr>
            <a:r>
              <a:rPr sz="1400" b="0" i="1">
                <a:solidFill>
                  <a:srgbClr val="8A8A8A"/>
                </a:solidFill>
                <a:latin typeface="Red Hat Text"/>
              </a:rPr>
              <a:t>A function with five return paths needs five matching joins with std::thread. It needs none with jthread.</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#include &lt;thread&gt;</a:t>
            </a:r>
          </a:p>
          <a:p>
            <a:r>
              <a:rPr sz="1100">
                <a:solidFill>
                  <a:srgbClr val="F4F4F4"/>
                </a:solidFill>
                <a:latin typeface="Red Hat Mono"/>
              </a:rPr>
              <a:t>#include &lt;stop_token&gt;</a:t>
            </a:r>
          </a:p>
          <a:p>
            <a:r>
              <a:rPr sz="1100">
                <a:solidFill>
                  <a:srgbClr val="F4F4F4"/>
                </a:solidFill>
                <a:latin typeface="Red Hat Mono"/>
              </a:rPr>
              <a:t>#include &lt;chrono&gt;</a:t>
            </a:r>
          </a:p>
          <a:p>
            <a:r>
              <a:rPr sz="1100">
                <a:solidFill>
                  <a:srgbClr val="F4F4F4"/>
                </a:solidFill>
                <a:latin typeface="Red Hat Mono"/>
              </a:rPr>
              <a:t>#include &lt;atomic&gt;</a:t>
            </a:r>
          </a:p>
          <a:p>
            <a:r>
              <a:rPr sz="1100">
                <a:solidFill>
                  <a:srgbClr val="F4F4F4"/>
                </a:solidFill>
                <a:latin typeface="Red Hat Mono"/>
              </a:rPr>
              <a:t> </a:t>
            </a:r>
          </a:p>
          <a:p>
            <a:r>
              <a:rPr sz="1100">
                <a:solidFill>
                  <a:srgbClr val="F4F4F4"/>
                </a:solidFill>
                <a:latin typeface="Red Hat Mono"/>
              </a:rPr>
              <a:t>void worker(std::stop_token tok,</a:t>
            </a:r>
          </a:p>
          <a:p>
            <a:r>
              <a:rPr sz="1100">
                <a:solidFill>
                  <a:srgbClr val="F4F4F4"/>
                </a:solidFill>
                <a:latin typeface="Red Hat Mono"/>
              </a:rPr>
              <a:t>            std::atomic&lt;long&gt;&amp; loops) {</a:t>
            </a:r>
          </a:p>
          <a:p>
            <a:r>
              <a:rPr sz="1100">
                <a:solidFill>
                  <a:srgbClr val="F4F4F4"/>
                </a:solidFill>
                <a:latin typeface="Red Hat Mono"/>
              </a:rPr>
              <a:t>    while (!tok.stop_requested()) {</a:t>
            </a:r>
          </a:p>
          <a:p>
            <a:r>
              <a:rPr sz="1100">
                <a:solidFill>
                  <a:srgbClr val="F4F4F4"/>
                </a:solidFill>
                <a:latin typeface="Red Hat Mono"/>
              </a:rPr>
              <a:t>        loops.fetch_add(1, std::memory_order_relaxed);</a:t>
            </a:r>
          </a:p>
          <a:p>
            <a:r>
              <a:rPr sz="1100">
                <a:solidFill>
                  <a:srgbClr val="F4F4F4"/>
                </a:solidFill>
                <a:latin typeface="Red Hat Mono"/>
              </a:rPr>
              <a:t>        std::this_thread::sleep_for(std::chrono::milliseconds(5));</a:t>
            </a:r>
          </a:p>
          <a:p>
            <a:r>
              <a:rPr sz="1100">
                <a:solidFill>
                  <a:srgbClr val="F4F4F4"/>
                </a:solidFill>
                <a:latin typeface="Red Hat Mono"/>
              </a:rPr>
              <a:t>    }</a:t>
            </a:r>
          </a:p>
          <a:p>
            <a:r>
              <a:rPr sz="1100">
                <a:solidFill>
                  <a:srgbClr val="F4F4F4"/>
                </a:solidFill>
                <a:latin typeface="Red Hat Mono"/>
              </a:rPr>
              <a:t>}</a:t>
            </a:r>
          </a:p>
          <a:p>
            <a:r>
              <a:rPr sz="1100">
                <a:solidFill>
                  <a:srgbClr val="F4F4F4"/>
                </a:solidFill>
                <a:latin typeface="Red Hat Mono"/>
              </a:rPr>
              <a:t> </a:t>
            </a:r>
          </a:p>
          <a:p>
            <a:r>
              <a:rPr sz="1100">
                <a:solidFill>
                  <a:srgbClr val="F4F4F4"/>
                </a:solidFill>
                <a:latin typeface="Red Hat Mono"/>
              </a:rPr>
              <a:t>void run_cooperative() {</a:t>
            </a:r>
          </a:p>
          <a:p>
            <a:r>
              <a:rPr sz="1100">
                <a:solidFill>
                  <a:srgbClr val="F4F4F4"/>
                </a:solidFill>
                <a:latin typeface="Red Hat Mono"/>
              </a:rPr>
              <a:t>    std::atomic&lt;long&gt; loops{0};</a:t>
            </a:r>
          </a:p>
          <a:p>
            <a:r>
              <a:rPr sz="1100">
                <a:solidFill>
                  <a:srgbClr val="F4F4F4"/>
                </a:solidFill>
                <a:latin typeface="Red Hat Mono"/>
              </a:rPr>
              <a:t>    std::jthread t(worker, std::ref(loops));</a:t>
            </a:r>
          </a:p>
          <a:p>
            <a:r>
              <a:rPr sz="1100">
                <a:solidFill>
                  <a:srgbClr val="F4F4F4"/>
                </a:solidFill>
                <a:latin typeface="Red Hat Mono"/>
              </a:rPr>
              <a:t>    std::this_thread::sleep_for(std::chrono::milliseconds(200));</a:t>
            </a:r>
          </a:p>
          <a:p>
            <a:r>
              <a:rPr sz="1100">
                <a:solidFill>
                  <a:srgbClr val="F4F4F4"/>
                </a:solidFill>
                <a:latin typeface="Red Hat Mono"/>
              </a:rPr>
              <a:t>}</a:t>
            </a:r>
          </a:p>
          <a:p>
            <a:r>
              <a:rPr sz="1100">
                <a:solidFill>
                  <a:srgbClr val="F4F4F4"/>
                </a:solidFill>
                <a:latin typeface="Red Hat Mono"/>
              </a:rPr>
              <a:t>// ~jthread(): request_stop() then join() -- every path is safe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Threads and Cooperative Cancellation</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Threads and Cooperative Cancellation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5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Cancellation that owns non-copyable state</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6A1B9A"/>
                </a:solidFill>
                <a:latin typeface="Red Hat Text"/>
              </a:rPr>
              <a:t>What changes by standard</a:t>
            </a:r>
          </a:p>
          <a:p>
            <a:pPr algn="l">
              <a:lnSpc>
                <a:spcPct val="115000"/>
              </a:lnSpc>
            </a:pPr>
            <a:r>
              <a:rPr sz="1400" b="0" i="0">
                <a:solidFill>
                  <a:srgbClr val="151515"/>
                </a:solidFill>
                <a:latin typeface="Red Hat Text"/>
              </a:rPr>
              <a:t>•  C++20: the whole mechanism above -- jthread, stop_token, stop_source, stop_callback</a:t>
            </a:r>
          </a:p>
          <a:p>
            <a:pPr algn="l">
              <a:lnSpc>
                <a:spcPct val="115000"/>
              </a:lnSpc>
            </a:pPr>
            <a:r>
              <a:rPr sz="1400" b="0" i="0">
                <a:solidFill>
                  <a:srgbClr val="151515"/>
                </a:solidFill>
                <a:latin typeface="Red Hat Text"/>
              </a:rPr>
              <a:t>•  C++23: no new cancellation API -- move_only_function widens what a jthread's callable can own</a:t>
            </a:r>
          </a:p>
          <a:p>
            <a:pPr algn="l">
              <a:lnSpc>
                <a:spcPct val="115000"/>
              </a:lnSpc>
            </a:pPr>
            <a:r>
              <a:rPr sz="1400" b="0" i="0">
                <a:solidFill>
                  <a:srgbClr val="151515"/>
                </a:solidFill>
                <a:latin typeface="Red Hat Text"/>
              </a:rPr>
              <a:t>•  C++26 (proposed, P2300): inplace_stop_source trades jthread's heap-allocated state for stack-resident state in a sender pipeline</a:t>
            </a:r>
          </a:p>
          <a:p>
            <a:pPr algn="l">
              <a:lnSpc>
                <a:spcPct val="115000"/>
              </a:lnSpc>
              <a:spcBef>
                <a:spcPts val="1400"/>
              </a:spcBef>
            </a:pPr>
            <a:r>
              <a:rPr sz="1400" b="0" i="1">
                <a:solidFill>
                  <a:srgbClr val="8A8A8A"/>
                </a:solidFill>
                <a:latin typeface="Red Hat Text"/>
              </a:rPr>
              <a:t>A std::function could not hold a closure that owns a unique_ptr without smuggling it through a shared_ptr first. move_only_function drops that requirement.</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000">
                <a:solidFill>
                  <a:srgbClr val="F4F4F4"/>
                </a:solidFill>
                <a:latin typeface="Red Hat Mono"/>
              </a:rPr>
              <a:t>// C++23: move_only_function widens what a jthread can run</a:t>
            </a:r>
          </a:p>
          <a:p>
            <a:r>
              <a:rPr sz="1000">
                <a:solidFill>
                  <a:srgbClr val="F4F4F4"/>
                </a:solidFill>
                <a:latin typeface="Red Hat Mono"/>
              </a:rPr>
              <a:t>void run_with_owned_state(std::unique_ptr&lt;int&gt; state) {</a:t>
            </a:r>
          </a:p>
          <a:p>
            <a:r>
              <a:rPr sz="1000">
                <a:solidFill>
                  <a:srgbClr val="F4F4F4"/>
                </a:solidFill>
                <a:latin typeface="Red Hat Mono"/>
              </a:rPr>
              <a:t>    std::move_only_function&lt;void(std::stop_token)&gt; task =</a:t>
            </a:r>
          </a:p>
          <a:p>
            <a:r>
              <a:rPr sz="1000">
                <a:solidFill>
                  <a:srgbClr val="F4F4F4"/>
                </a:solidFill>
                <a:latin typeface="Red Hat Mono"/>
              </a:rPr>
              <a:t>        [state = std::move(state)](std::stop_token tok) {</a:t>
            </a:r>
          </a:p>
          <a:p>
            <a:r>
              <a:rPr sz="1000">
                <a:solidFill>
                  <a:srgbClr val="F4F4F4"/>
                </a:solidFill>
                <a:latin typeface="Red Hat Mono"/>
              </a:rPr>
              <a:t>            while (!tok.stop_requested()) {</a:t>
            </a:r>
          </a:p>
          <a:p>
            <a:r>
              <a:rPr sz="1000">
                <a:solidFill>
                  <a:srgbClr val="F4F4F4"/>
                </a:solidFill>
                <a:latin typeface="Red Hat Mono"/>
              </a:rPr>
              <a:t>                *state += 1;</a:t>
            </a:r>
          </a:p>
          <a:p>
            <a:r>
              <a:rPr sz="1000">
                <a:solidFill>
                  <a:srgbClr val="F4F4F4"/>
                </a:solidFill>
                <a:latin typeface="Red Hat Mono"/>
              </a:rPr>
              <a:t>            }</a:t>
            </a:r>
          </a:p>
          <a:p>
            <a:r>
              <a:rPr sz="1000">
                <a:solidFill>
                  <a:srgbClr val="F4F4F4"/>
                </a:solidFill>
                <a:latin typeface="Red Hat Mono"/>
              </a:rPr>
              <a:t>        };</a:t>
            </a:r>
          </a:p>
          <a:p>
            <a:r>
              <a:rPr sz="1000">
                <a:solidFill>
                  <a:srgbClr val="F4F4F4"/>
                </a:solidFill>
                <a:latin typeface="Red Hat Mono"/>
              </a:rPr>
              <a:t>    std::jthread t(std::move(task));   // std::function can't hold this</a:t>
            </a:r>
          </a:p>
          <a:p>
            <a:r>
              <a:rPr sz="1000">
                <a:solidFill>
                  <a:srgbClr val="F4F4F4"/>
                </a:solidFill>
                <a:latin typeface="Red Hat Mono"/>
              </a:rPr>
              <a:t>}   // same destructor contract as before: request_stop() then join()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Threads and Cooperative Cancellation</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Threads and Cooperative Cancellation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6 / 54</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51515"/>
                </a:solidFill>
                <a:latin typeface="Red Hat Display"/>
              </a:rPr>
              <a:t>jthread's owned stop_source</a:t>
            </a:r>
          </a:p>
        </p:txBody>
      </p:sp>
      <p:pic>
        <p:nvPicPr>
          <p:cNvPr id="9" name="Picture 8" descr="04-jthread-stop-token.jpg"/>
          <p:cNvPicPr>
            <a:picLocks noChangeAspect="1"/>
          </p:cNvPicPr>
          <p:nvPr/>
        </p:nvPicPr>
        <p:blipFill>
          <a:blip r:embed="rId2"/>
          <a:stretch>
            <a:fillRect/>
          </a:stretch>
        </p:blipFill>
        <p:spPr>
          <a:xfrm>
            <a:off x="1808325" y="1463040"/>
            <a:ext cx="8544870" cy="4572000"/>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8A8A8A"/>
                </a:solidFill>
                <a:latin typeface="Red Hat Text"/>
              </a:rPr>
              <a:t>Figure 4.1 -- jthread's owned stop_source, the stop_token handed to the worker, and the destructor's automatic request_stop-then-join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Threads and Cooperative Cancellation</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Threads and Cooperative Cancellation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7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detach() gives up the join</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0066CC"/>
                </a:solidFill>
                <a:latin typeface="Red Hat Text"/>
              </a:rPr>
              <a:t>Ownership follows the join discipline</a:t>
            </a:r>
          </a:p>
          <a:p>
            <a:pPr algn="l">
              <a:lnSpc>
                <a:spcPct val="115000"/>
              </a:lnSpc>
            </a:pPr>
            <a:r>
              <a:rPr sz="1400" b="0" i="0">
                <a:solidFill>
                  <a:srgbClr val="151515"/>
                </a:solidFill>
                <a:latin typeface="Red Hat Text"/>
              </a:rPr>
              <a:t>•  A detached thread's captured references dangle the moment the spawning frame returns</a:t>
            </a:r>
          </a:p>
          <a:p>
            <a:pPr algn="l">
              <a:lnSpc>
                <a:spcPct val="115000"/>
              </a:lnSpc>
            </a:pPr>
            <a:r>
              <a:rPr sz="1400" b="0" i="0">
                <a:solidFill>
                  <a:srgbClr val="151515"/>
                </a:solidFill>
                <a:latin typeface="Red Hat Text"/>
              </a:rPr>
              <a:t>•  No destructor is left anywhere to catch the mistake -- it crashes somewhere unrelated, later</a:t>
            </a:r>
          </a:p>
          <a:p>
            <a:pPr algn="l">
              <a:lnSpc>
                <a:spcPct val="115000"/>
              </a:lnSpc>
            </a:pPr>
            <a:r>
              <a:rPr sz="1400" b="0" i="0">
                <a:solidFill>
                  <a:srgbClr val="151515"/>
                </a:solidFill>
                <a:latin typeface="Red Hat Text"/>
              </a:rPr>
              <a:t>•  jthread's blocking destructor makes the frame's lifetime visibly bound the thread's lifetime</a:t>
            </a:r>
          </a:p>
          <a:p>
            <a:pPr algn="l">
              <a:lnSpc>
                <a:spcPct val="115000"/>
              </a:lnSpc>
              <a:spcBef>
                <a:spcPts val="1400"/>
              </a:spcBef>
            </a:pPr>
            <a:r>
              <a:rPr sz="1400" b="0" i="1">
                <a:solidFill>
                  <a:srgbClr val="8A8A8A"/>
                </a:solidFill>
                <a:latin typeface="Red Hat Text"/>
              </a:rPr>
              <a:t>Reviewing a thread's captures and reviewing its join discipline are the same review.</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 detach(): nothing is left to wait for the thread</a:t>
            </a:r>
          </a:p>
          <a:p>
            <a:r>
              <a:rPr sz="1100">
                <a:solidFill>
                  <a:srgbClr val="F4F4F4"/>
                </a:solidFill>
                <a:latin typeface="Red Hat Mono"/>
              </a:rPr>
              <a:t>void start_worker_unsafe() {</a:t>
            </a:r>
          </a:p>
          <a:p>
            <a:r>
              <a:rPr sz="1100">
                <a:solidFill>
                  <a:srgbClr val="F4F4F4"/>
                </a:solidFill>
                <a:latin typeface="Red Hat Mono"/>
              </a:rPr>
              <a:t>    int local = 42;</a:t>
            </a:r>
          </a:p>
          <a:p>
            <a:r>
              <a:rPr sz="1100">
                <a:solidFill>
                  <a:srgbClr val="F4F4F4"/>
                </a:solidFill>
                <a:latin typeface="Red Hat Mono"/>
              </a:rPr>
              <a:t>    std::thread t([&amp;local] { use(local); });</a:t>
            </a:r>
          </a:p>
          <a:p>
            <a:r>
              <a:rPr sz="1100">
                <a:solidFill>
                  <a:srgbClr val="F4F4F4"/>
                </a:solidFill>
                <a:latin typeface="Red Hat Mono"/>
              </a:rPr>
              <a:t>    t.detach();</a:t>
            </a:r>
          </a:p>
          <a:p>
            <a:r>
              <a:rPr sz="1100">
                <a:solidFill>
                  <a:srgbClr val="F4F4F4"/>
                </a:solidFill>
                <a:latin typeface="Red Hat Mono"/>
              </a:rPr>
              <a:t>}   // local destroyed here -- t may already be reading freed memory</a:t>
            </a:r>
          </a:p>
          <a:p>
            <a:r>
              <a:rPr sz="1100">
                <a:solidFill>
                  <a:srgbClr val="F4F4F4"/>
                </a:solidFill>
                <a:latin typeface="Red Hat Mono"/>
              </a:rPr>
              <a:t> </a:t>
            </a:r>
          </a:p>
          <a:p>
            <a:r>
              <a:rPr sz="1100">
                <a:solidFill>
                  <a:srgbClr val="F4F4F4"/>
                </a:solidFill>
                <a:latin typeface="Red Hat Mono"/>
              </a:rPr>
              <a:t>// jthread: the destructor blocks until the worker finishes</a:t>
            </a:r>
          </a:p>
          <a:p>
            <a:r>
              <a:rPr sz="1100">
                <a:solidFill>
                  <a:srgbClr val="F4F4F4"/>
                </a:solidFill>
                <a:latin typeface="Red Hat Mono"/>
              </a:rPr>
              <a:t>void start_worker_safe() {</a:t>
            </a:r>
          </a:p>
          <a:p>
            <a:r>
              <a:rPr sz="1100">
                <a:solidFill>
                  <a:srgbClr val="F4F4F4"/>
                </a:solidFill>
                <a:latin typeface="Red Hat Mono"/>
              </a:rPr>
              <a:t>    int local = 42;</a:t>
            </a:r>
          </a:p>
          <a:p>
            <a:r>
              <a:rPr sz="1100">
                <a:solidFill>
                  <a:srgbClr val="F4F4F4"/>
                </a:solidFill>
                <a:latin typeface="Red Hat Mono"/>
              </a:rPr>
              <a:t>    std::jthread t([&amp;local] { use(local); });</a:t>
            </a:r>
          </a:p>
          <a:p>
            <a:r>
              <a:rPr sz="1100">
                <a:solidFill>
                  <a:srgbClr val="F4F4F4"/>
                </a:solidFill>
                <a:latin typeface="Red Hat Mono"/>
              </a:rPr>
              <a:t>}   // the frame cannot unwind until t's destructor returns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§2</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The Futex Underneath the Mutex</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An uncontended lock never enters the kernel; a contended one costs two orders of magnitude more.</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8 / 54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The Futex Underneath the Mutex</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The Futex Underneath the Mutex</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9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One word, one syscall, two paths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0066CC"/>
                </a:solidFill>
                <a:latin typeface="Red Hat Text"/>
              </a:rPr>
              <a:t>futex: fast userspace mutex</a:t>
            </a:r>
          </a:p>
          <a:p>
            <a:pPr algn="l">
              <a:lnSpc>
                <a:spcPct val="115000"/>
              </a:lnSpc>
            </a:pPr>
            <a:r>
              <a:rPr sz="1400" b="0" i="0">
                <a:solidFill>
                  <a:srgbClr val="151515"/>
                </a:solidFill>
                <a:latin typeface="Red Hat Text"/>
              </a:rPr>
              <a:t>•  A free lock is one atomic cmpxchg -- no syscall, no mode switch, no scheduler involvement</a:t>
            </a:r>
          </a:p>
          <a:p>
            <a:pPr algn="l">
              <a:lnSpc>
                <a:spcPct val="115000"/>
              </a:lnSpc>
            </a:pPr>
            <a:r>
              <a:rPr sz="1400" b="0" i="0">
                <a:solidFill>
                  <a:srgbClr val="151515"/>
                </a:solidFill>
                <a:latin typeface="Red Hat Text"/>
              </a:rPr>
              <a:t>•  Only a lost compare-and-swap calls futex(FUTEX_WAIT), parking the thread on a kernel wait queue</a:t>
            </a:r>
          </a:p>
          <a:p>
            <a:pPr algn="l">
              <a:lnSpc>
                <a:spcPct val="115000"/>
              </a:lnSpc>
            </a:pPr>
            <a:r>
              <a:rPr sz="1400" b="0" i="0">
                <a:solidFill>
                  <a:srgbClr val="151515"/>
                </a:solidFill>
                <a:latin typeface="Red Hat Text"/>
              </a:rPr>
              <a:t>•  On unlock: no waiter means a plain store, still in user space; a waiter means futex(FUTEX_WAKE)</a:t>
            </a:r>
          </a:p>
          <a:p>
            <a:pPr algn="l">
              <a:lnSpc>
                <a:spcPct val="115000"/>
              </a:lnSpc>
              <a:spcBef>
                <a:spcPts val="1400"/>
              </a:spcBef>
            </a:pPr>
            <a:r>
              <a:rPr sz="1400" b="0" i="1">
                <a:solidFill>
                  <a:srgbClr val="8A8A8A"/>
                </a:solidFill>
                <a:latin typeface="Red Hat Text"/>
              </a:rPr>
              <a:t>lock_guard, unique_lock, and scoped_lock all bottom out at this same word -- none of them add a second mechanism underneath.</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std::atomic&lt;int&gt; flag{0};</a:t>
            </a:r>
          </a:p>
          <a:p>
            <a:r>
              <a:rPr sz="1100">
                <a:solidFill>
                  <a:srgbClr val="F4F4F4"/>
                </a:solidFill>
                <a:latin typeface="Red Hat Mono"/>
              </a:rPr>
              <a:t>std::jthread waiter([&amp;] {</a:t>
            </a:r>
          </a:p>
          <a:p>
            <a:r>
              <a:rPr sz="1100">
                <a:solidFill>
                  <a:srgbClr val="F4F4F4"/>
                </a:solidFill>
                <a:latin typeface="Red Hat Mono"/>
              </a:rPr>
              <a:t>    flag.wait(0);          // futex(FUTEX_WAIT) while flag == 0</a:t>
            </a:r>
          </a:p>
          <a:p>
            <a:r>
              <a:rPr sz="1100">
                <a:solidFill>
                  <a:srgbClr val="F4F4F4"/>
                </a:solidFill>
                <a:latin typeface="Red Hat Mono"/>
              </a:rPr>
              <a:t>    process(flag.load());</a:t>
            </a:r>
          </a:p>
          <a:p>
            <a:r>
              <a:rPr sz="1100">
                <a:solidFill>
                  <a:srgbClr val="F4F4F4"/>
                </a:solidFill>
                <a:latin typeface="Red Hat Mono"/>
              </a:rPr>
              <a:t>});</a:t>
            </a:r>
          </a:p>
          <a:p>
            <a:r>
              <a:rPr sz="1100">
                <a:solidFill>
                  <a:srgbClr val="F4F4F4"/>
                </a:solidFill>
                <a:latin typeface="Red Hat Mono"/>
              </a:rPr>
              <a:t>flag.store(7);</a:t>
            </a:r>
          </a:p>
          <a:p>
            <a:r>
              <a:rPr sz="1100">
                <a:solidFill>
                  <a:srgbClr val="F4F4F4"/>
                </a:solidFill>
                <a:latin typeface="Red Hat Mono"/>
              </a:rPr>
              <a:t>flag.notify_one();         // futex(FUTEX_WAKE) if anyone is parked</a:t>
            </a:r>
          </a:p>
          <a:p>
            <a:r>
              <a:rPr sz="1100">
                <a:solidFill>
                  <a:srgbClr val="F4F4F4"/>
                </a:solidFill>
                <a:latin typeface="Red Hat Mono"/>
              </a:rPr>
              <a:t>waiter.join();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The Futex Underneath the Mutex</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The Futex Underneath the Mutex</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10 / 54</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51515"/>
                </a:solidFill>
                <a:latin typeface="Red Hat Display"/>
              </a:rPr>
              <a:t>Fast path, slow path</a:t>
            </a:r>
          </a:p>
        </p:txBody>
      </p:sp>
      <p:pic>
        <p:nvPicPr>
          <p:cNvPr id="9" name="Picture 8" descr="05-futex-fast-slow-path.jpg"/>
          <p:cNvPicPr>
            <a:picLocks noChangeAspect="1"/>
          </p:cNvPicPr>
          <p:nvPr/>
        </p:nvPicPr>
        <p:blipFill>
          <a:blip r:embed="rId2"/>
          <a:stretch>
            <a:fillRect/>
          </a:stretch>
        </p:blipFill>
        <p:spPr>
          <a:xfrm>
            <a:off x="1715473" y="1463040"/>
            <a:ext cx="8730574" cy="4572000"/>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8A8A8A"/>
                </a:solidFill>
                <a:latin typeface="Red Hat Text"/>
              </a:rPr>
              <a:t>Figure 5.1 -- one lock word, two paths: the uncontended compare-exchange never leaves user space; only a lost compare-exchange descends into the kernel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The Futex Underneath the Mutex</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The Futex Underneath the Mutex</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11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Uncontended vs. contended, by the shape</a:t>
            </a:r>
          </a:p>
        </p:txBody>
      </p:sp>
      <p:sp>
        <p:nvSpPr>
          <p:cNvPr id="9" name="Rectangle 8"/>
          <p:cNvSpPr/>
          <p:nvPr/>
        </p:nvSpPr>
        <p:spPr>
          <a:xfrm>
            <a:off x="457200" y="1554480"/>
            <a:ext cx="3627120" cy="4114800"/>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828800"/>
            <a:ext cx="3627120" cy="2011680"/>
          </a:xfrm>
          <a:prstGeom prst="rect">
            <a:avLst/>
          </a:prstGeom>
          <a:noFill/>
        </p:spPr>
        <p:txBody>
          <a:bodyPr wrap="square" anchor="ctr" lIns="45720" rIns="45720">
            <a:spAutoFit/>
          </a:bodyPr>
          <a:lstStyle/>
          <a:p>
            <a:pPr algn="ctr"/>
            <a:r>
              <a:rPr sz="5400" b="1" i="0">
                <a:solidFill>
                  <a:srgbClr val="0066CC"/>
                </a:solidFill>
                <a:latin typeface="Red Hat Display"/>
              </a:rPr>
              <a:t>1</a:t>
            </a:r>
          </a:p>
        </p:txBody>
      </p:sp>
      <p:sp>
        <p:nvSpPr>
          <p:cNvPr id="11" name="TextBox 10"/>
          <p:cNvSpPr txBox="1"/>
          <p:nvPr/>
        </p:nvSpPr>
        <p:spPr>
          <a:xfrm>
            <a:off x="594360" y="4023360"/>
            <a:ext cx="3352800" cy="1463040"/>
          </a:xfrm>
          <a:prstGeom prst="rect">
            <a:avLst/>
          </a:prstGeom>
          <a:noFill/>
        </p:spPr>
        <p:txBody>
          <a:bodyPr wrap="square" anchor="t" lIns="45720" rIns="45720">
            <a:spAutoFit/>
          </a:bodyPr>
          <a:lstStyle/>
          <a:p>
            <a:pPr algn="ctr"/>
            <a:r>
              <a:rPr sz="1400" b="0" i="0">
                <a:solidFill>
                  <a:srgbClr val="151515"/>
                </a:solidFill>
                <a:latin typeface="Red Hat Text"/>
              </a:rPr>
              <a:t>futex call across 200,000 uncontended
lock/unlock pairs -- matches the no-mutex baseline</a:t>
            </a:r>
          </a:p>
        </p:txBody>
      </p:sp>
      <p:sp>
        <p:nvSpPr>
          <p:cNvPr id="12" name="Rectangle 11"/>
          <p:cNvSpPr/>
          <p:nvPr/>
        </p:nvSpPr>
        <p:spPr>
          <a:xfrm>
            <a:off x="4267200" y="1554480"/>
            <a:ext cx="3627120" cy="4114800"/>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67200" y="1828800"/>
            <a:ext cx="3627120" cy="2011680"/>
          </a:xfrm>
          <a:prstGeom prst="rect">
            <a:avLst/>
          </a:prstGeom>
          <a:noFill/>
        </p:spPr>
        <p:txBody>
          <a:bodyPr wrap="square" anchor="ctr" lIns="45720" rIns="45720">
            <a:spAutoFit/>
          </a:bodyPr>
          <a:lstStyle/>
          <a:p>
            <a:pPr algn="ctr"/>
            <a:r>
              <a:rPr sz="5400" b="1" i="0">
                <a:solidFill>
                  <a:srgbClr val="B71C1C"/>
                </a:solidFill>
                <a:latin typeface="Red Hat Display"/>
              </a:rPr>
              <a:t>~2,360</a:t>
            </a:r>
          </a:p>
        </p:txBody>
      </p:sp>
      <p:sp>
        <p:nvSpPr>
          <p:cNvPr id="14" name="TextBox 13"/>
          <p:cNvSpPr txBox="1"/>
          <p:nvPr/>
        </p:nvSpPr>
        <p:spPr>
          <a:xfrm>
            <a:off x="4404360" y="4023360"/>
            <a:ext cx="3352800" cy="1463040"/>
          </a:xfrm>
          <a:prstGeom prst="rect">
            <a:avLst/>
          </a:prstGeom>
          <a:noFill/>
        </p:spPr>
        <p:txBody>
          <a:bodyPr wrap="square" anchor="t" lIns="45720" rIns="45720">
            <a:spAutoFit/>
          </a:bodyPr>
          <a:lstStyle/>
          <a:p>
            <a:pPr algn="ctr"/>
            <a:r>
              <a:rPr sz="1400" b="0" i="0">
                <a:solidFill>
                  <a:srgbClr val="151515"/>
                </a:solidFill>
                <a:latin typeface="Red Hat Text"/>
              </a:rPr>
              <a:t>futex calls once those same 200,000
increments are split across 8 threads sharing one mutex</a:t>
            </a:r>
          </a:p>
        </p:txBody>
      </p:sp>
      <p:sp>
        <p:nvSpPr>
          <p:cNvPr id="15" name="Rectangle 14"/>
          <p:cNvSpPr/>
          <p:nvPr/>
        </p:nvSpPr>
        <p:spPr>
          <a:xfrm>
            <a:off x="8077200" y="1554480"/>
            <a:ext cx="3627120" cy="4114800"/>
          </a:xfrm>
          <a:prstGeom prst="rect">
            <a:avLst/>
          </a:prstGeom>
          <a:solidFill>
            <a:srgbClr val="D2D2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77200" y="1828800"/>
            <a:ext cx="3627120" cy="2011680"/>
          </a:xfrm>
          <a:prstGeom prst="rect">
            <a:avLst/>
          </a:prstGeom>
          <a:noFill/>
        </p:spPr>
        <p:txBody>
          <a:bodyPr wrap="square" anchor="ctr" lIns="45720" rIns="45720">
            <a:spAutoFit/>
          </a:bodyPr>
          <a:lstStyle/>
          <a:p>
            <a:pPr algn="ctr"/>
            <a:r>
              <a:rPr sz="5400" b="1" i="0">
                <a:solidFill>
                  <a:srgbClr val="B36B00"/>
                </a:solidFill>
                <a:latin typeface="Red Hat Display"/>
              </a:rPr>
              <a:t>&gt;100x</a:t>
            </a:r>
          </a:p>
        </p:txBody>
      </p:sp>
      <p:sp>
        <p:nvSpPr>
          <p:cNvPr id="17" name="TextBox 16"/>
          <p:cNvSpPr txBox="1"/>
          <p:nvPr/>
        </p:nvSpPr>
        <p:spPr>
          <a:xfrm>
            <a:off x="8214360" y="4023360"/>
            <a:ext cx="3352800" cy="1463040"/>
          </a:xfrm>
          <a:prstGeom prst="rect">
            <a:avLst/>
          </a:prstGeom>
          <a:noFill/>
        </p:spPr>
        <p:txBody>
          <a:bodyPr wrap="square" anchor="t" lIns="45720" rIns="45720">
            <a:spAutoFit/>
          </a:bodyPr>
          <a:lstStyle/>
          <a:p>
            <a:pPr algn="ctr"/>
            <a:r>
              <a:rPr sz="1400" b="0" i="0">
                <a:solidFill>
                  <a:srgbClr val="151515"/>
                </a:solidFill>
                <a:latin typeface="Red Hat Text"/>
              </a:rPr>
              <a:t>the typical gap between uncontended and
contended futex counts -- the shape holds, not any one run's number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§3</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Mutexes, RAII Locks, and Lock Ordering</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scoped_lock doesn't require every caller to agree on an order -- it doesn't care about order at all.</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12 / 54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Mutexes, RAII Locks, and Lock Ordering</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Mutexes, RAII Locks, and Lock Ordering</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13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scoped_lock: order stops mattering</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0066CC"/>
                </a:solidFill>
                <a:latin typeface="Red Hat Text"/>
              </a:rPr>
              <a:t>The mutex family, briefly</a:t>
            </a:r>
          </a:p>
          <a:p>
            <a:pPr algn="l">
              <a:lnSpc>
                <a:spcPct val="115000"/>
              </a:lnSpc>
            </a:pPr>
            <a:r>
              <a:rPr sz="1400" b="0" i="0">
                <a:solidFill>
                  <a:srgbClr val="151515"/>
                </a:solidFill>
                <a:latin typeface="Red Hat Text"/>
              </a:rPr>
              <a:t>•  mutex: the default -- non-recursive, exclusive, cheap when uncontended</a:t>
            </a:r>
          </a:p>
          <a:p>
            <a:pPr algn="l">
              <a:lnSpc>
                <a:spcPct val="115000"/>
              </a:lnSpc>
            </a:pPr>
            <a:r>
              <a:rPr sz="1400" b="0" i="0">
                <a:solidFill>
                  <a:srgbClr val="151515"/>
                </a:solidFill>
                <a:latin typeface="Red Hat Text"/>
              </a:rPr>
              <a:t>•  recursive_mutex: only for call graphs that re-enter the same lock</a:t>
            </a:r>
          </a:p>
          <a:p>
            <a:pPr algn="l">
              <a:lnSpc>
                <a:spcPct val="115000"/>
              </a:lnSpc>
            </a:pPr>
            <a:r>
              <a:rPr sz="1400" b="0" i="0">
                <a:solidFill>
                  <a:srgbClr val="151515"/>
                </a:solidFill>
                <a:latin typeface="Red Hat Text"/>
              </a:rPr>
              <a:t>•  timed_mutex: bounded-wait acquisition when a thread must make forward progress</a:t>
            </a:r>
          </a:p>
          <a:p>
            <a:pPr algn="l">
              <a:lnSpc>
                <a:spcPct val="115000"/>
              </a:lnSpc>
            </a:pPr>
            <a:r>
              <a:rPr sz="1400" b="0" i="0">
                <a:solidFill>
                  <a:srgbClr val="151515"/>
                </a:solidFill>
                <a:latin typeface="Red Hat Text"/>
              </a:rPr>
              <a:t>•  shared_mutex: concurrent readers, exclusive writers -- measure before assuming it wins</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void transfer(Account&amp; from, Account&amp; to, long amount) {</a:t>
            </a:r>
          </a:p>
          <a:p>
            <a:r>
              <a:rPr sz="1100">
                <a:solidFill>
                  <a:srgbClr val="F4F4F4"/>
                </a:solidFill>
                <a:latin typeface="Red Hat Mono"/>
              </a:rPr>
              <a:t>    std::scoped_lock lock(from.mutex, to.mutex);</a:t>
            </a:r>
          </a:p>
          <a:p>
            <a:r>
              <a:rPr sz="1100">
                <a:solidFill>
                  <a:srgbClr val="F4F4F4"/>
                </a:solidFill>
                <a:latin typeface="Red Hat Mono"/>
              </a:rPr>
              <a:t>    from.balance -= amount;</a:t>
            </a:r>
          </a:p>
          <a:p>
            <a:r>
              <a:rPr sz="1100">
                <a:solidFill>
                  <a:srgbClr val="F4F4F4"/>
                </a:solidFill>
                <a:latin typeface="Red Hat Mono"/>
              </a:rPr>
              <a:t>    to.balance += amount;</a:t>
            </a:r>
          </a:p>
          <a:p>
            <a:r>
              <a:rPr sz="1100">
                <a:solidFill>
                  <a:srgbClr val="F4F4F4"/>
                </a:solidFill>
                <a:latin typeface="Red Hat Mono"/>
              </a:rPr>
              <a:t>}   // both released here; argument order does not matter</a:t>
            </a:r>
          </a:p>
          <a:p>
            <a:r>
              <a:rPr sz="1100">
                <a:solidFill>
                  <a:srgbClr val="F4F4F4"/>
                </a:solidFill>
                <a:latin typeface="Red Hat Mono"/>
              </a:rPr>
              <a:t> </a:t>
            </a:r>
          </a:p>
          <a:p>
            <a:r>
              <a:rPr sz="1100">
                <a:solidFill>
                  <a:srgbClr val="F4F4F4"/>
                </a:solidFill>
                <a:latin typeface="Red Hat Mono"/>
              </a:rPr>
              <a:t>// scoped_lock(a, b) on one thread and scoped_lock(b, a) on another,</a:t>
            </a:r>
          </a:p>
          <a:p>
            <a:r>
              <a:rPr sz="1100">
                <a:solidFill>
                  <a:srgbClr val="F4F4F4"/>
                </a:solidFill>
                <a:latin typeface="Red Hat Mono"/>
              </a:rPr>
              <a:t>// run concurrently and indefinitely, cannot deadlock each other --</a:t>
            </a:r>
          </a:p>
          <a:p>
            <a:r>
              <a:rPr sz="1100">
                <a:solidFill>
                  <a:srgbClr val="F4F4F4"/>
                </a:solidFill>
                <a:latin typeface="Red Hat Mono"/>
              </a:rPr>
              <a:t>// not "rarely," but cannot, because the order in the argument list</a:t>
            </a:r>
          </a:p>
          <a:p>
            <a:r>
              <a:rPr sz="1100">
                <a:solidFill>
                  <a:srgbClr val="F4F4F4"/>
                </a:solidFill>
                <a:latin typeface="Red Hat Mono"/>
              </a:rPr>
              <a:t>// is not the order the implementation actually acquires 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Mutexes, RAII Locks, and Lock Ordering</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Mutexes, RAII Locks, and Lock Ordering</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14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RAII locking is not a style preference</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B71C1C"/>
                </a:solidFill>
                <a:latin typeface="Red Hat Text"/>
              </a:rPr>
              <a:t>A bare lock()/unlock() pair is a finding</a:t>
            </a:r>
          </a:p>
          <a:p>
            <a:pPr algn="l">
              <a:lnSpc>
                <a:spcPct val="115000"/>
              </a:lnSpc>
            </a:pPr>
            <a:r>
              <a:rPr sz="1400" b="0" i="0">
                <a:solidFill>
                  <a:srgbClr val="151515"/>
                </a:solidFill>
                <a:latin typeface="Red Hat Text"/>
              </a:rPr>
              <a:t>•  Correct only until the first exception, early return, or break between the two calls</a:t>
            </a:r>
          </a:p>
          <a:p>
            <a:pPr algn="l">
              <a:lnSpc>
                <a:spcPct val="115000"/>
              </a:lnSpc>
            </a:pPr>
            <a:r>
              <a:rPr sz="1400" b="0" i="0">
                <a:solidFill>
                  <a:srgbClr val="151515"/>
                </a:solidFill>
                <a:latin typeface="Red Hat Text"/>
              </a:rPr>
              <a:t>•  A lock_guard, unique_lock, or scoped_lock costs nothing beyond lock/unlock -- the compiler inlines it away</a:t>
            </a:r>
          </a:p>
          <a:p>
            <a:pPr algn="l">
              <a:lnSpc>
                <a:spcPct val="115000"/>
              </a:lnSpc>
            </a:pPr>
            <a:r>
              <a:rPr sz="1400" b="0" i="0">
                <a:solidFill>
                  <a:srgbClr val="151515"/>
                </a:solidFill>
                <a:latin typeface="Red Hat Text"/>
              </a:rPr>
              <a:t>•  A reviewer can reason about a critical section's extent by reading the scope, not tracing every exit by hand</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 flagged in review: every exit path must be re-checked by hand</a:t>
            </a:r>
          </a:p>
          <a:p>
            <a:r>
              <a:rPr sz="1100">
                <a:solidFill>
                  <a:srgbClr val="F4F4F4"/>
                </a:solidFill>
                <a:latin typeface="Red Hat Mono"/>
              </a:rPr>
              <a:t>void withdraw_unsafe(Account&amp; acct, long amount) {</a:t>
            </a:r>
          </a:p>
          <a:p>
            <a:r>
              <a:rPr sz="1100">
                <a:solidFill>
                  <a:srgbClr val="F4F4F4"/>
                </a:solidFill>
                <a:latin typeface="Red Hat Mono"/>
              </a:rPr>
              <a:t>    acct.mutex.lock();</a:t>
            </a:r>
          </a:p>
          <a:p>
            <a:r>
              <a:rPr sz="1100">
                <a:solidFill>
                  <a:srgbClr val="F4F4F4"/>
                </a:solidFill>
                <a:latin typeface="Red Hat Mono"/>
              </a:rPr>
              <a:t>    if (amount &gt; acct.balance) {</a:t>
            </a:r>
          </a:p>
          <a:p>
            <a:r>
              <a:rPr sz="1100">
                <a:solidFill>
                  <a:srgbClr val="F4F4F4"/>
                </a:solidFill>
                <a:latin typeface="Red Hat Mono"/>
              </a:rPr>
              <a:t>        throw std::runtime_error("insufficient funds");</a:t>
            </a:r>
          </a:p>
          <a:p>
            <a:r>
              <a:rPr sz="1100">
                <a:solidFill>
                  <a:srgbClr val="F4F4F4"/>
                </a:solidFill>
                <a:latin typeface="Red Hat Mono"/>
              </a:rPr>
              <a:t>    }</a:t>
            </a:r>
          </a:p>
          <a:p>
            <a:r>
              <a:rPr sz="1100">
                <a:solidFill>
                  <a:srgbClr val="F4F4F4"/>
                </a:solidFill>
                <a:latin typeface="Red Hat Mono"/>
              </a:rPr>
              <a:t>    acct.balance -= amount;</a:t>
            </a:r>
          </a:p>
          <a:p>
            <a:r>
              <a:rPr sz="1100">
                <a:solidFill>
                  <a:srgbClr val="F4F4F4"/>
                </a:solidFill>
                <a:latin typeface="Red Hat Mono"/>
              </a:rPr>
              <a:t>    acct.mutex.unlock();   // never reached if the throw fires</a:t>
            </a:r>
          </a:p>
          <a:p>
            <a:r>
              <a:rPr sz="1100">
                <a:solidFill>
                  <a:srgbClr val="F4F4F4"/>
                </a:solidFill>
                <a:latin typeface="Red Hat Mono"/>
              </a:rPr>
              <a:t>}</a:t>
            </a:r>
          </a:p>
          <a:p>
            <a:r>
              <a:rPr sz="1100">
                <a:solidFill>
                  <a:srgbClr val="F4F4F4"/>
                </a:solidFill>
                <a:latin typeface="Red Hat Mono"/>
              </a:rPr>
              <a:t> </a:t>
            </a:r>
          </a:p>
          <a:p>
            <a:r>
              <a:rPr sz="1100">
                <a:solidFill>
                  <a:srgbClr val="F4F4F4"/>
                </a:solidFill>
                <a:latin typeface="Red Hat Mono"/>
              </a:rPr>
              <a:t>// the RAII version: the same exception now releases the lock</a:t>
            </a:r>
          </a:p>
          <a:p>
            <a:r>
              <a:rPr sz="1100">
                <a:solidFill>
                  <a:srgbClr val="F4F4F4"/>
                </a:solidFill>
                <a:latin typeface="Red Hat Mono"/>
              </a:rPr>
              <a:t>void withdraw(Account&amp; acct, long amount) {</a:t>
            </a:r>
          </a:p>
          <a:p>
            <a:r>
              <a:rPr sz="1100">
                <a:solidFill>
                  <a:srgbClr val="F4F4F4"/>
                </a:solidFill>
                <a:latin typeface="Red Hat Mono"/>
              </a:rPr>
              <a:t>    std::lock_guard lock(acct.mutex);</a:t>
            </a:r>
          </a:p>
          <a:p>
            <a:r>
              <a:rPr sz="1100">
                <a:solidFill>
                  <a:srgbClr val="F4F4F4"/>
                </a:solidFill>
                <a:latin typeface="Red Hat Mono"/>
              </a:rPr>
              <a:t>    if (amount &gt; acct.balance) {</a:t>
            </a:r>
          </a:p>
          <a:p>
            <a:r>
              <a:rPr sz="1100">
                <a:solidFill>
                  <a:srgbClr val="F4F4F4"/>
                </a:solidFill>
                <a:latin typeface="Red Hat Mono"/>
              </a:rPr>
              <a:t>        throw std::runtime_error("insufficient funds");</a:t>
            </a:r>
          </a:p>
          <a:p>
            <a:r>
              <a:rPr sz="1100">
                <a:solidFill>
                  <a:srgbClr val="F4F4F4"/>
                </a:solidFill>
                <a:latin typeface="Red Hat Mono"/>
              </a:rPr>
              <a:t>    }</a:t>
            </a:r>
          </a:p>
          <a:p>
            <a:r>
              <a:rPr sz="1100">
                <a:solidFill>
                  <a:srgbClr val="F4F4F4"/>
                </a:solidFill>
                <a:latin typeface="Red Hat Mono"/>
              </a:rPr>
              <a:t>    acct.balance -= amount;</a:t>
            </a:r>
          </a:p>
          <a:p>
            <a:r>
              <a:rPr sz="1100">
                <a:solidFill>
                  <a:srgbClr val="F4F4F4"/>
                </a:solidFill>
                <a:latin typeface="Red Hat Mono"/>
              </a:rPr>
              <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Mutexes, RAII Locks, and Lock Ordering</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Mutexes, RAII Locks, and Lock Ordering</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15 / 54</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51515"/>
                </a:solidFill>
                <a:latin typeface="Red Hat Display"/>
              </a:rPr>
              <a:t>Two locks, opposing order</a:t>
            </a:r>
          </a:p>
        </p:txBody>
      </p:sp>
      <p:pic>
        <p:nvPicPr>
          <p:cNvPr id="9" name="Picture 8" descr="06-lock-ordering-deadlock.jpg"/>
          <p:cNvPicPr>
            <a:picLocks noChangeAspect="1"/>
          </p:cNvPicPr>
          <p:nvPr/>
        </p:nvPicPr>
        <p:blipFill>
          <a:blip r:embed="rId2"/>
          <a:stretch>
            <a:fillRect/>
          </a:stretch>
        </p:blipFill>
        <p:spPr>
          <a:xfrm>
            <a:off x="1715473" y="1463040"/>
            <a:ext cx="8730574" cy="4572000"/>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8A8A8A"/>
                </a:solidFill>
                <a:latin typeface="Red Hat Text"/>
              </a:rPr>
              <a:t>Figure 6.1 -- the same opposing acquisition order, fatal with lock_guard and safe with scoped_lock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§4</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Coordination Primitives</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A mutex answers who may touch this data; a coordination primitive answers has this happened yet.</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16 / 54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Coordination Primitives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Coordination Primitives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17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The predicate form is not optional</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B71C1C"/>
                </a:solidFill>
                <a:latin typeface="Red Hat Text"/>
              </a:rPr>
              <a:t>wait() has no memory of its own</a:t>
            </a:r>
          </a:p>
          <a:p>
            <a:pPr algn="l">
              <a:lnSpc>
                <a:spcPct val="115000"/>
              </a:lnSpc>
            </a:pPr>
            <a:r>
              <a:rPr sz="1400" b="0" i="0">
                <a:solidFill>
                  <a:srgbClr val="151515"/>
                </a:solidFill>
                <a:latin typeface="Red Hat Text"/>
              </a:rPr>
              <a:t>•  A bare wait(lk) can return with no call to notify_one() or notify_all() -- a spurious wakeup</a:t>
            </a:r>
          </a:p>
          <a:p>
            <a:pPr algn="l">
              <a:lnSpc>
                <a:spcPct val="115000"/>
              </a:lnSpc>
            </a:pPr>
            <a:r>
              <a:rPr sz="1400" b="0" i="0">
                <a:solidFill>
                  <a:srgbClr val="151515"/>
                </a:solidFill>
                <a:latin typeface="Red Hat Text"/>
              </a:rPr>
              <a:t>•  The predicate loop re-checks state under the lock on every wake and on first entry</a:t>
            </a:r>
          </a:p>
          <a:p>
            <a:pPr algn="l">
              <a:lnSpc>
                <a:spcPct val="115000"/>
              </a:lnSpc>
            </a:pPr>
            <a:r>
              <a:rPr sz="1400" b="0" i="0">
                <a:solidFill>
                  <a:srgbClr val="151515"/>
                </a:solidFill>
                <a:latin typeface="Red Hat Text"/>
              </a:rPr>
              <a:t>•  notify_one() wakes one waiter; notify_all() is required when the predicate differs per waiter</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std::unique_lock lk(m);</a:t>
            </a:r>
          </a:p>
          <a:p>
            <a:r>
              <a:rPr sz="1100">
                <a:solidFill>
                  <a:srgbClr val="F4F4F4"/>
                </a:solidFill>
                <a:latin typeface="Red Hat Mono"/>
              </a:rPr>
              <a:t>cv.wait(lk, [&amp;] { return ready; });   // re-checks under the lock</a:t>
            </a:r>
          </a:p>
          <a:p>
            <a:r>
              <a:rPr sz="1100">
                <a:solidFill>
                  <a:srgbClr val="F4F4F4"/>
                </a:solidFill>
                <a:latin typeface="Red Hat Mono"/>
              </a:rPr>
              <a:t> </a:t>
            </a:r>
          </a:p>
          <a:p>
            <a:r>
              <a:rPr sz="1100">
                <a:solidFill>
                  <a:srgbClr val="F4F4F4"/>
                </a:solidFill>
                <a:latin typeface="Red Hat Mono"/>
              </a:rPr>
              <a:t>// equivalent, spelled out:</a:t>
            </a:r>
          </a:p>
          <a:p>
            <a:r>
              <a:rPr sz="1100">
                <a:solidFill>
                  <a:srgbClr val="F4F4F4"/>
                </a:solidFill>
                <a:latin typeface="Red Hat Mono"/>
              </a:rPr>
              <a:t>while (!ready) {</a:t>
            </a:r>
          </a:p>
          <a:p>
            <a:r>
              <a:rPr sz="1100">
                <a:solidFill>
                  <a:srgbClr val="F4F4F4"/>
                </a:solidFill>
                <a:latin typeface="Red Hat Mono"/>
              </a:rPr>
              <a:t>    cv.wait(lk);</a:t>
            </a:r>
          </a:p>
          <a:p>
            <a:r>
              <a:rPr sz="1100">
                <a:solidFill>
                  <a:srgbClr val="F4F4F4"/>
                </a:solidFill>
                <a:latin typeface="Red Hat Mono"/>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Coordination Primitives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Coordination Primitives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18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latch and barrier: one-shot vs. reusable</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006E6E"/>
                </a:solidFill>
                <a:latin typeface="Red Hat Text"/>
              </a:rPr>
              <a:t>Two shapes of rendezvous</a:t>
            </a:r>
          </a:p>
          <a:p>
            <a:pPr algn="l">
              <a:lnSpc>
                <a:spcPct val="115000"/>
              </a:lnSpc>
            </a:pPr>
            <a:r>
              <a:rPr sz="1400" b="0" i="0">
                <a:solidFill>
                  <a:srgbClr val="151515"/>
                </a:solidFill>
                <a:latin typeface="Red Hat Text"/>
              </a:rPr>
              <a:t>•  std::latch: single-use countdown -- spent once it hits zero, no reset</a:t>
            </a:r>
          </a:p>
          <a:p>
            <a:pPr algn="l">
              <a:lnSpc>
                <a:spcPct val="115000"/>
              </a:lnSpc>
            </a:pPr>
            <a:r>
              <a:rPr sz="1400" b="0" i="0">
                <a:solidFill>
                  <a:srgbClr val="151515"/>
                </a:solidFill>
                <a:latin typeface="Red Hat Text"/>
              </a:rPr>
              <a:t>•  std::barrier: reusable, phased -- the count resets automatically after each round</a:t>
            </a:r>
          </a:p>
          <a:p>
            <a:pPr algn="l">
              <a:lnSpc>
                <a:spcPct val="115000"/>
              </a:lnSpc>
            </a:pPr>
            <a:r>
              <a:rPr sz="1400" b="0" i="0">
                <a:solidFill>
                  <a:srgbClr val="151515"/>
                </a:solidFill>
                <a:latin typeface="Red Hat Text"/>
              </a:rPr>
              <a:t>•  barrier's completion function runs exactly once per phase, after everyone arrives and before anyone is released</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std::latch startup_done(3);</a:t>
            </a:r>
          </a:p>
          <a:p>
            <a:r>
              <a:rPr sz="1100">
                <a:solidFill>
                  <a:srgbClr val="F4F4F4"/>
                </a:solidFill>
                <a:latin typeface="Red Hat Mono"/>
              </a:rPr>
              <a:t> </a:t>
            </a:r>
          </a:p>
          <a:p>
            <a:r>
              <a:rPr sz="1100">
                <a:solidFill>
                  <a:srgbClr val="F4F4F4"/>
                </a:solidFill>
                <a:latin typeface="Red Hat Mono"/>
              </a:rPr>
              <a:t>auto worker = [&amp;](int id) {</a:t>
            </a:r>
          </a:p>
          <a:p>
            <a:r>
              <a:rPr sz="1100">
                <a:solidFill>
                  <a:srgbClr val="F4F4F4"/>
                </a:solidFill>
                <a:latin typeface="Red Hat Mono"/>
              </a:rPr>
              <a:t>    initialize_subsystem(id);</a:t>
            </a:r>
          </a:p>
          <a:p>
            <a:r>
              <a:rPr sz="1100">
                <a:solidFill>
                  <a:srgbClr val="F4F4F4"/>
                </a:solidFill>
                <a:latin typeface="Red Hat Mono"/>
              </a:rPr>
              <a:t>    startup_done.count_down();</a:t>
            </a:r>
          </a:p>
          <a:p>
            <a:r>
              <a:rPr sz="1100">
                <a:solidFill>
                  <a:srgbClr val="F4F4F4"/>
                </a:solidFill>
                <a:latin typeface="Red Hat Mono"/>
              </a:rPr>
              <a:t>    startup_done.wait();   // all three finish before any proceeds</a:t>
            </a:r>
          </a:p>
          <a:p>
            <a:r>
              <a:rPr sz="1100">
                <a:solidFill>
                  <a:srgbClr val="F4F4F4"/>
                </a:solidFill>
                <a:latin typeface="Red Hat Mono"/>
              </a:rPr>
              <a:t>    run_subsystem(id);</a:t>
            </a:r>
          </a:p>
          <a:p>
            <a:r>
              <a:rPr sz="1100">
                <a:solidFill>
                  <a:srgbClr val="F4F4F4"/>
                </a:solidFill>
                <a:latin typeface="Red Hat Mono"/>
              </a:rPr>
              <a:t>};</a:t>
            </a:r>
          </a:p>
          <a:p>
            <a:r>
              <a:rPr sz="1100">
                <a:solidFill>
                  <a:srgbClr val="F4F4F4"/>
                </a:solidFill>
                <a:latin typeface="Red Hat Mono"/>
              </a:rPr>
              <a:t> </a:t>
            </a:r>
          </a:p>
          <a:p>
            <a:r>
              <a:rPr sz="1100">
                <a:solidFill>
                  <a:srgbClr val="F4F4F4"/>
                </a:solidFill>
                <a:latin typeface="Red Hat Mono"/>
              </a:rPr>
              <a:t>std::barrier sync_point(num_workers, [] {</a:t>
            </a:r>
          </a:p>
          <a:p>
            <a:r>
              <a:rPr sz="1100">
                <a:solidFill>
                  <a:srgbClr val="F4F4F4"/>
                </a:solidFill>
                <a:latin typeface="Red Hat Mono"/>
              </a:rPr>
              <a:t>    merge_phase_results();   // once per phase, before release</a:t>
            </a:r>
          </a:p>
          <a:p>
            <a:r>
              <a:rPr sz="1100">
                <a:solidFill>
                  <a:srgbClr val="F4F4F4"/>
                </a:solidFill>
                <a:latin typeface="Red Hat Mono"/>
              </a:rPr>
              <a: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Coordination Primitives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Coordination Primitives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19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counting_semaphore: permits, not ownership</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B36B00"/>
                </a:solidFill>
                <a:latin typeface="Red Hat Text"/>
              </a:rPr>
              <a:t>No owning thread</a:t>
            </a:r>
          </a:p>
          <a:p>
            <a:pPr algn="l">
              <a:lnSpc>
                <a:spcPct val="115000"/>
              </a:lnSpc>
            </a:pPr>
            <a:r>
              <a:rPr sz="1400" b="0" i="0">
                <a:solidFill>
                  <a:srgbClr val="151515"/>
                </a:solidFill>
                <a:latin typeface="Red Hat Text"/>
              </a:rPr>
              <a:t>•  Any thread may release(), including one that never called acquire() -- a mutex forbids that</a:t>
            </a:r>
          </a:p>
          <a:p>
            <a:pPr algn="l">
              <a:lnSpc>
                <a:spcPct val="115000"/>
              </a:lnSpc>
            </a:pPr>
            <a:r>
              <a:rPr sz="1400" b="0" i="0">
                <a:solidFill>
                  <a:srgbClr val="151515"/>
                </a:solidFill>
                <a:latin typeface="Red Hat Text"/>
              </a:rPr>
              <a:t>•  A counting_semaphore bounds concurrency directly: up to N, where a mutex only ever bounds to 1</a:t>
            </a:r>
          </a:p>
          <a:p>
            <a:pPr algn="l">
              <a:lnSpc>
                <a:spcPct val="115000"/>
              </a:lnSpc>
            </a:pPr>
            <a:r>
              <a:rPr sz="1400" b="0" i="0">
                <a:solidFill>
                  <a:srgbClr val="151515"/>
                </a:solidFill>
                <a:latin typeface="Red Hat Text"/>
              </a:rPr>
              <a:t>•  No FIFO fairness is guaranteed -- build an explicit queue if acquisition order matters</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F4F4F4"/>
                </a:solidFill>
                <a:latin typeface="Red Hat Mono"/>
              </a:rPr>
              <a:t>std::counting_semaphore&lt;8&gt; connection_slots(8);</a:t>
            </a:r>
          </a:p>
          <a:p>
            <a:r>
              <a:rPr sz="1200">
                <a:solidFill>
                  <a:srgbClr val="F4F4F4"/>
                </a:solidFill>
                <a:latin typeface="Red Hat Mono"/>
              </a:rPr>
              <a:t> </a:t>
            </a:r>
          </a:p>
          <a:p>
            <a:r>
              <a:rPr sz="1200">
                <a:solidFill>
                  <a:srgbClr val="F4F4F4"/>
                </a:solidFill>
                <a:latin typeface="Red Hat Mono"/>
              </a:rPr>
              <a:t>void handle_request() {</a:t>
            </a:r>
          </a:p>
          <a:p>
            <a:r>
              <a:rPr sz="1200">
                <a:solidFill>
                  <a:srgbClr val="F4F4F4"/>
                </a:solidFill>
                <a:latin typeface="Red Hat Mono"/>
              </a:rPr>
              <a:t>    connection_slots.acquire();</a:t>
            </a:r>
          </a:p>
          <a:p>
            <a:r>
              <a:rPr sz="1200">
                <a:solidFill>
                  <a:srgbClr val="F4F4F4"/>
                </a:solidFill>
                <a:latin typeface="Red Hat Mono"/>
              </a:rPr>
              <a:t>    struct ReleaseGuard {</a:t>
            </a:r>
          </a:p>
          <a:p>
            <a:r>
              <a:rPr sz="1200">
                <a:solidFill>
                  <a:srgbClr val="F4F4F4"/>
                </a:solidFill>
                <a:latin typeface="Red Hat Mono"/>
              </a:rPr>
              <a:t>        std::counting_semaphore&lt;8&gt;&amp; sem;</a:t>
            </a:r>
          </a:p>
          <a:p>
            <a:r>
              <a:rPr sz="1200">
                <a:solidFill>
                  <a:srgbClr val="F4F4F4"/>
                </a:solidFill>
                <a:latin typeface="Red Hat Mono"/>
              </a:rPr>
              <a:t>        ~ReleaseGuard() { sem.release(); }</a:t>
            </a:r>
          </a:p>
          <a:p>
            <a:r>
              <a:rPr sz="1200">
                <a:solidFill>
                  <a:srgbClr val="F4F4F4"/>
                </a:solidFill>
                <a:latin typeface="Red Hat Mono"/>
              </a:rPr>
              <a:t>    } guard{connection_slots};</a:t>
            </a:r>
          </a:p>
          <a:p>
            <a:r>
              <a:rPr sz="1200">
                <a:solidFill>
                  <a:srgbClr val="F4F4F4"/>
                </a:solidFill>
                <a:latin typeface="Red Hat Mono"/>
              </a:rPr>
              <a:t>    do_work_with_bounded_concurrency();</a:t>
            </a:r>
          </a:p>
          <a:p>
            <a:r>
              <a:rPr sz="1200">
                <a:solidFill>
                  <a:srgbClr val="F4F4F4"/>
                </a:solidFill>
                <a:latin typeface="Red Hat Mono"/>
              </a:rPr>
              <a: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Coordination Primitives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Coordination Primitives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20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Choosing the right primitive</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2000" b="1" i="0">
                <a:solidFill>
                  <a:srgbClr val="0066CC"/>
                </a:solidFill>
                <a:latin typeface="Red Hat Text"/>
              </a:rPr>
              <a:t>A decision guide</a:t>
            </a:r>
          </a:p>
          <a:p>
            <a:pPr algn="l">
              <a:lnSpc>
                <a:spcPct val="115000"/>
              </a:lnSpc>
            </a:pPr>
            <a:r>
              <a:rPr sz="1400" b="0" i="0">
                <a:solidFill>
                  <a:srgbClr val="151515"/>
                </a:solidFill>
                <a:latin typeface="Red Hat Text"/>
              </a:rPr>
              <a:t>•  Wait for a state change, re-check under a lock -&gt; condition_variable (predicate form)</a:t>
            </a:r>
          </a:p>
          <a:p>
            <a:pPr algn="l">
              <a:lnSpc>
                <a:spcPct val="115000"/>
              </a:lnSpc>
            </a:pPr>
            <a:r>
              <a:rPr sz="1400" b="0" i="0">
                <a:solidFill>
                  <a:srgbClr val="151515"/>
                </a:solidFill>
                <a:latin typeface="Red Hat Text"/>
              </a:rPr>
              <a:t>•  Wait for N one-time events, then proceed -&gt; std::latch</a:t>
            </a:r>
          </a:p>
          <a:p>
            <a:pPr algn="l">
              <a:lnSpc>
                <a:spcPct val="115000"/>
              </a:lnSpc>
            </a:pPr>
            <a:r>
              <a:rPr sz="1400" b="0" i="0">
                <a:solidFill>
                  <a:srgbClr val="151515"/>
                </a:solidFill>
                <a:latin typeface="Red Hat Text"/>
              </a:rPr>
              <a:t>•  Repeated phased rendezvous across a fixed group -&gt; std::barrier</a:t>
            </a:r>
          </a:p>
          <a:p>
            <a:pPr algn="l">
              <a:lnSpc>
                <a:spcPct val="115000"/>
              </a:lnSpc>
            </a:pPr>
            <a:r>
              <a:rPr sz="1400" b="0" i="0">
                <a:solidFill>
                  <a:srgbClr val="151515"/>
                </a:solidFill>
                <a:latin typeface="Red Hat Text"/>
              </a:rPr>
              <a:t>•  Bound concurrent access to a resource pool -&gt; std::counting_semaphore</a:t>
            </a:r>
          </a:p>
          <a:p>
            <a:pPr algn="l">
              <a:lnSpc>
                <a:spcPct val="115000"/>
              </a:lnSpc>
            </a:pPr>
            <a:r>
              <a:rPr sz="1400" b="0" i="0">
                <a:solidFill>
                  <a:srgbClr val="151515"/>
                </a:solidFill>
                <a:latin typeface="Red Hat Text"/>
              </a:rPr>
              <a:t>•  Signal a single event, thread to thread -&gt; std::binary_semaphore</a:t>
            </a:r>
          </a:p>
          <a:p>
            <a:pPr algn="l">
              <a:lnSpc>
                <a:spcPct val="115000"/>
              </a:lnSpc>
            </a:pPr>
            <a:r>
              <a:rPr sz="1400" b="0" i="0">
                <a:solidFill>
                  <a:srgbClr val="151515"/>
                </a:solidFill>
                <a:latin typeface="Red Hat Text"/>
              </a:rPr>
              <a:t>•  Protect a critical section -&gt; std::mutex / std::shared_mutex</a:t>
            </a:r>
          </a:p>
          <a:p>
            <a:pPr algn="l">
              <a:lnSpc>
                <a:spcPct val="115000"/>
              </a:lnSpc>
              <a:spcBef>
                <a:spcPts val="1400"/>
              </a:spcBef>
            </a:pPr>
            <a:r>
              <a:rPr sz="1400" b="0" i="1">
                <a:solidFill>
                  <a:srgbClr val="8A8A8A"/>
                </a:solidFill>
                <a:latin typeface="Red Hat Text"/>
              </a:rPr>
              <a:t>Mixing the mutex question with the coordination question produces code that works on today's scheduler and stops working on tomorrow's.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§5</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Atomics and the Memory Model</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Indivisibility is necessary but not sufficient -- ordering is the separate guarantee a hand-off needs.</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21 / 54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Atomics and the Memory Model</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Atomics and the Memory Model</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22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release/acquire: one happens-before edge</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0066CC"/>
                </a:solidFill>
                <a:latin typeface="Red Hat Text"/>
              </a:rPr>
              <a:t>Atomicity is not ordering</a:t>
            </a:r>
          </a:p>
          <a:p>
            <a:pPr algn="l">
              <a:lnSpc>
                <a:spcPct val="115000"/>
              </a:lnSpc>
            </a:pPr>
            <a:r>
              <a:rPr sz="1400" b="0" i="0">
                <a:solidFill>
                  <a:srgbClr val="151515"/>
                </a:solidFill>
                <a:latin typeface="Red Hat Text"/>
              </a:rPr>
              <a:t>•  Both operations atomic says nothing about whether the consumer sees the slot write before the counter write</a:t>
            </a:r>
          </a:p>
          <a:p>
            <a:pPr algn="l">
              <a:lnSpc>
                <a:spcPct val="115000"/>
              </a:lnSpc>
            </a:pPr>
            <a:r>
              <a:rPr sz="1400" b="0" i="0">
                <a:solidFill>
                  <a:srgbClr val="151515"/>
                </a:solidFill>
                <a:latin typeface="Red Hat Text"/>
              </a:rPr>
              <a:t>•  release on a store publishes every ordinary write before it, to any thread that later acquires the value</a:t>
            </a:r>
          </a:p>
          <a:p>
            <a:pPr algn="l">
              <a:lnSpc>
                <a:spcPct val="115000"/>
              </a:lnSpc>
            </a:pPr>
            <a:r>
              <a:rPr sz="1400" b="0" i="0">
                <a:solidFill>
                  <a:srgbClr val="151515"/>
                </a:solidFill>
                <a:latin typeface="Red Hat Text"/>
              </a:rPr>
              <a:t>•  Paired release/acquire form exactly one happens-before edge -- nothing more, nothing less</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F4F4F4"/>
                </a:solidFill>
                <a:latin typeface="Red Hat Mono"/>
              </a:rPr>
              <a:t>// Producer (writes tail, only reads head)</a:t>
            </a:r>
          </a:p>
          <a:p>
            <a:r>
              <a:rPr sz="1200">
                <a:solidFill>
                  <a:srgbClr val="F4F4F4"/>
                </a:solidFill>
                <a:latin typeface="Red Hat Mono"/>
              </a:rPr>
              <a:t>buf[t % cap] = value;</a:t>
            </a:r>
          </a:p>
          <a:p>
            <a:r>
              <a:rPr sz="1200">
                <a:solidFill>
                  <a:srgbClr val="F4F4F4"/>
                </a:solidFill>
                <a:latin typeface="Red Hat Mono"/>
              </a:rPr>
              <a:t>tail.store(t + 1, std::memory_order_release);</a:t>
            </a:r>
          </a:p>
          <a:p>
            <a:r>
              <a:rPr sz="1200">
                <a:solidFill>
                  <a:srgbClr val="F4F4F4"/>
                </a:solidFill>
                <a:latin typeface="Red Hat Mono"/>
              </a:rPr>
              <a:t> </a:t>
            </a:r>
          </a:p>
          <a:p>
            <a:r>
              <a:rPr sz="1200">
                <a:solidFill>
                  <a:srgbClr val="F4F4F4"/>
                </a:solidFill>
                <a:latin typeface="Red Hat Mono"/>
              </a:rPr>
              <a:t>// Consumer (writes head, only reads tail)</a:t>
            </a:r>
          </a:p>
          <a:p>
            <a:r>
              <a:rPr sz="1200">
                <a:solidFill>
                  <a:srgbClr val="F4F4F4"/>
                </a:solidFill>
                <a:latin typeface="Red Hat Mono"/>
              </a:rPr>
              <a:t>while (h == tail.load(std::memory_order_acquire)) {</a:t>
            </a:r>
          </a:p>
          <a:p>
            <a:r>
              <a:rPr sz="1200">
                <a:solidFill>
                  <a:srgbClr val="F4F4F4"/>
                </a:solidFill>
                <a:latin typeface="Red Hat Mono"/>
              </a:rPr>
              <a:t>    // spin: empty</a:t>
            </a:r>
          </a:p>
          <a:p>
            <a:r>
              <a:rPr sz="1200">
                <a:solidFill>
                  <a:srgbClr val="F4F4F4"/>
                </a:solidFill>
                <a:latin typeface="Red Hat Mono"/>
              </a:rPr>
              <a:t>}</a:t>
            </a:r>
          </a:p>
          <a:p>
            <a:r>
              <a:rPr sz="1200">
                <a:solidFill>
                  <a:srgbClr val="F4F4F4"/>
                </a:solidFill>
                <a:latin typeface="Red Hat Mono"/>
              </a:rPr>
              <a:t>auto v = buf[h % cap];   // sees the published write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Atomics and the Memory Model</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Atomics and the Memory Model</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23 / 54</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51515"/>
                </a:solidFill>
                <a:latin typeface="Red Hat Display"/>
              </a:rPr>
              <a:t>Three orderings, one hand-off</a:t>
            </a:r>
          </a:p>
        </p:txBody>
      </p:sp>
      <p:pic>
        <p:nvPicPr>
          <p:cNvPr id="9" name="Picture 8" descr="08-memory-ordering.jpg"/>
          <p:cNvPicPr>
            <a:picLocks noChangeAspect="1"/>
          </p:cNvPicPr>
          <p:nvPr/>
        </p:nvPicPr>
        <p:blipFill>
          <a:blip r:embed="rId2"/>
          <a:stretch>
            <a:fillRect/>
          </a:stretch>
        </p:blipFill>
        <p:spPr>
          <a:xfrm>
            <a:off x="1511870" y="1463040"/>
            <a:ext cx="9137779" cy="4572000"/>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8A8A8A"/>
                </a:solidFill>
                <a:latin typeface="Red Hat Text"/>
              </a:rPr>
              <a:t>Figure 8.1 -- the same producer/consumer hand-off under three orderings: seq_cst's global total order, acquire/release's single happens-before edge, and relaxed's bare atomicity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Atomics and the Memory Model</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Atomics and the Memory Model</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24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seq_cst's cost is on the store side</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B36B00"/>
                </a:solidFill>
                <a:latin typeface="Red Hat Text"/>
              </a:rPr>
              <a:t>What a locked instruction buys</a:t>
            </a:r>
          </a:p>
          <a:p>
            <a:pPr algn="l">
              <a:lnSpc>
                <a:spcPct val="115000"/>
              </a:lnSpc>
            </a:pPr>
            <a:r>
              <a:rPr sz="1400" b="0" i="0">
                <a:solidFill>
                  <a:srgbClr val="151515"/>
                </a:solidFill>
                <a:latin typeface="Red Hat Text"/>
              </a:rPr>
              <a:t>•  x86-64 TSO already orders store-to-store and load-to-load -- release/acquire compiles to a plain mov</a:t>
            </a:r>
          </a:p>
          <a:p>
            <a:pPr algn="l">
              <a:lnSpc>
                <a:spcPct val="115000"/>
              </a:lnSpc>
            </a:pPr>
            <a:r>
              <a:rPr sz="1400" b="0" i="0">
                <a:solidFill>
                  <a:srgbClr val="151515"/>
                </a:solidFill>
                <a:latin typeface="Red Hat Text"/>
              </a:rPr>
              <a:t>•  seq_cst cannot be a plain store -- it needs a lock-prefixed instruction to drain the store buffer first</a:t>
            </a:r>
          </a:p>
          <a:p>
            <a:pPr algn="l">
              <a:lnSpc>
                <a:spcPct val="115000"/>
              </a:lnSpc>
            </a:pPr>
            <a:r>
              <a:rPr sz="1400" b="0" i="0">
                <a:solidFill>
                  <a:srgbClr val="151515"/>
                </a:solidFill>
                <a:latin typeface="Red Hat Text"/>
              </a:rPr>
              <a:t>•  Under tight contention the gap between acquire/release and seq_cst is commonly 10-20%, paid at the store</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 x86-64 disassembly of the ring buffer's producer:</a:t>
            </a:r>
          </a:p>
          <a:p>
            <a:r>
              <a:rPr sz="1100">
                <a:solidFill>
                  <a:srgbClr val="F4F4F4"/>
                </a:solidFill>
                <a:latin typeface="Red Hat Mono"/>
              </a:rPr>
              <a:t>mov    (%rax),%rdx        ; head.load(acquire)</a:t>
            </a:r>
          </a:p>
          <a:p>
            <a:r>
              <a:rPr sz="1100">
                <a:solidFill>
                  <a:srgbClr val="F4F4F4"/>
                </a:solidFill>
                <a:latin typeface="Red Hat Mono"/>
              </a:rPr>
              <a:t>mov    %rsi,(%rax,%rdx,8) ; buf[t % cap] = value</a:t>
            </a:r>
          </a:p>
          <a:p>
            <a:r>
              <a:rPr sz="1100">
                <a:solidFill>
                  <a:srgbClr val="F4F4F4"/>
                </a:solidFill>
                <a:latin typeface="Red Hat Mono"/>
              </a:rPr>
              <a:t>mov    %rsi,(%rax)        ; tail.store(t + 1, release)</a:t>
            </a:r>
          </a:p>
          <a:p>
            <a:r>
              <a:rPr sz="1100">
                <a:solidFill>
                  <a:srgbClr val="F4F4F4"/>
                </a:solidFill>
                <a:latin typeface="Red Hat Mono"/>
              </a:rPr>
              <a:t>// no lock, no mfence -- seq_cst would add one here</a:t>
            </a:r>
          </a:p>
          <a:p>
            <a:r>
              <a:rPr sz="1100">
                <a:solidFill>
                  <a:srgbClr val="F4F4F4"/>
                </a:solidFill>
                <a:latin typeface="Red Hat Mono"/>
              </a:rPr>
              <a:t> </a:t>
            </a:r>
          </a:p>
          <a:p>
            <a:r>
              <a:rPr sz="1100">
                <a:solidFill>
                  <a:srgbClr val="F4F4F4"/>
                </a:solidFill>
                <a:latin typeface="Red Hat Mono"/>
              </a:rPr>
              <a:t>// C++20: atomic_ref makes existing storage atomic, no type change</a:t>
            </a:r>
          </a:p>
          <a:p>
            <a:r>
              <a:rPr sz="1100">
                <a:solidFill>
                  <a:srgbClr val="F4F4F4"/>
                </a:solidFill>
                <a:latin typeface="Red Hat Mono"/>
              </a:rPr>
              <a:t>int legacy_counter = 0;</a:t>
            </a:r>
          </a:p>
          <a:p>
            <a:r>
              <a:rPr sz="1100">
                <a:solidFill>
                  <a:srgbClr val="F4F4F4"/>
                </a:solidFill>
                <a:latin typeface="Red Hat Mono"/>
              </a:rPr>
              <a:t>std::atomic_ref&lt;int&gt; counter_ref(legacy_counter);</a:t>
            </a:r>
          </a:p>
          <a:p>
            <a:r>
              <a:rPr sz="1100">
                <a:solidFill>
                  <a:srgbClr val="F4F4F4"/>
                </a:solidFill>
                <a:latin typeface="Red Hat Mono"/>
              </a:rPr>
              <a:t>counter_ref.fetch_add(1, std::memory_order_relaxed);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§6</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Lock-Free Structures and the ABA Problem</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A CAS compares a value, not a history -- and a location that cycles A to B back to A fools it completely.</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25 / 54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Lock-Free Structures and the ABA Problem</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§6</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Lock-Free Structures and the ABA Problem</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26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SPSC: one writer per counter, no lock</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006E6E"/>
                </a:solidFill>
                <a:latin typeface="Red Hat Text"/>
              </a:rPr>
              <a:t>Why no lock is needed here</a:t>
            </a:r>
          </a:p>
          <a:p>
            <a:pPr algn="l">
              <a:lnSpc>
                <a:spcPct val="115000"/>
              </a:lnSpc>
            </a:pPr>
            <a:r>
              <a:rPr sz="1400" b="0" i="0">
                <a:solidFill>
                  <a:srgbClr val="151515"/>
                </a:solidFill>
                <a:latin typeface="Red Hat Text"/>
              </a:rPr>
              <a:t>•  The producer writes tail and only reads head; the consumer writes head and only reads tail</a:t>
            </a:r>
          </a:p>
          <a:p>
            <a:pPr algn="l">
              <a:lnSpc>
                <a:spcPct val="115000"/>
              </a:lnSpc>
            </a:pPr>
            <a:r>
              <a:rPr sz="1400" b="0" i="0">
                <a:solidFill>
                  <a:srgbClr val="151515"/>
                </a:solidFill>
                <a:latin typeface="Red Hat Text"/>
              </a:rPr>
              <a:t>•  No location is ever written by two threads -- there's no write-write race to arbitrate</a:t>
            </a:r>
          </a:p>
          <a:p>
            <a:pPr algn="l">
              <a:lnSpc>
                <a:spcPct val="115000"/>
              </a:lnSpc>
            </a:pPr>
            <a:r>
              <a:rPr sz="1400" b="0" i="0">
                <a:solidFill>
                  <a:srgbClr val="151515"/>
                </a:solidFill>
                <a:latin typeface="Red Hat Text"/>
              </a:rPr>
              <a:t>•  Moving to multi-producer/multi-consumer breaks this at the root: tail now needs a CAS loop per push</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std::uint64_t t = 0;</a:t>
            </a:r>
          </a:p>
          <a:p>
            <a:r>
              <a:rPr sz="1100">
                <a:solidFill>
                  <a:srgbClr val="F4F4F4"/>
                </a:solidFill>
                <a:latin typeface="Red Hat Mono"/>
              </a:rPr>
              <a:t>for (std::uint64_t i = 0; i &lt; items; ++i) {</a:t>
            </a:r>
          </a:p>
          <a:p>
            <a:r>
              <a:rPr sz="1100">
                <a:solidFill>
                  <a:srgbClr val="F4F4F4"/>
                </a:solidFill>
                <a:latin typeface="Red Hat Mono"/>
              </a:rPr>
              <a:t>    while (t - head.load(std::memory_order_acquire) == capacity) {</a:t>
            </a:r>
          </a:p>
          <a:p>
            <a:r>
              <a:rPr sz="1100">
                <a:solidFill>
                  <a:srgbClr val="F4F4F4"/>
                </a:solidFill>
                <a:latin typeface="Red Hat Mono"/>
              </a:rPr>
              <a:t>        // spin: ring full</a:t>
            </a:r>
          </a:p>
          <a:p>
            <a:r>
              <a:rPr sz="1100">
                <a:solidFill>
                  <a:srgbClr val="F4F4F4"/>
                </a:solidFill>
                <a:latin typeface="Red Hat Mono"/>
              </a:rPr>
              <a:t>    }</a:t>
            </a:r>
          </a:p>
          <a:p>
            <a:r>
              <a:rPr sz="1100">
                <a:solidFill>
                  <a:srgbClr val="F4F4F4"/>
                </a:solidFill>
                <a:latin typeface="Red Hat Mono"/>
              </a:rPr>
              <a:t>    buf[t % capacity] = i;</a:t>
            </a:r>
          </a:p>
          <a:p>
            <a:r>
              <a:rPr sz="1100">
                <a:solidFill>
                  <a:srgbClr val="F4F4F4"/>
                </a:solidFill>
                <a:latin typeface="Red Hat Mono"/>
              </a:rPr>
              <a:t>    ++t;</a:t>
            </a:r>
          </a:p>
          <a:p>
            <a:r>
              <a:rPr sz="1100">
                <a:solidFill>
                  <a:srgbClr val="F4F4F4"/>
                </a:solidFill>
                <a:latin typeface="Red Hat Mono"/>
              </a:rPr>
              <a:t>    tail.store(t, std::memory_order_release);</a:t>
            </a:r>
          </a:p>
          <a:p>
            <a:r>
              <a:rPr sz="1100">
                <a:solidFill>
                  <a:srgbClr val="F4F4F4"/>
                </a:solidFill>
                <a:latin typeface="Red Hat Mono"/>
              </a:rPr>
              <a: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Lock-Free Structures and the ABA Problem</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§6</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Lock-Free Structures and the ABA Problem</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27 / 54</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51515"/>
                </a:solidFill>
                <a:latin typeface="Red Hat Display"/>
              </a:rPr>
              <a:t>ABA: a value recurs, a history doesn't</a:t>
            </a:r>
          </a:p>
        </p:txBody>
      </p:sp>
      <p:pic>
        <p:nvPicPr>
          <p:cNvPr id="9" name="Picture 8" descr="09-aba-problem.jpg"/>
          <p:cNvPicPr>
            <a:picLocks noChangeAspect="1"/>
          </p:cNvPicPr>
          <p:nvPr/>
        </p:nvPicPr>
        <p:blipFill>
          <a:blip r:embed="rId2"/>
          <a:stretch>
            <a:fillRect/>
          </a:stretch>
        </p:blipFill>
        <p:spPr>
          <a:xfrm>
            <a:off x="970686" y="1463040"/>
            <a:ext cx="10220148" cy="4572000"/>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8A8A8A"/>
                </a:solidFill>
                <a:latin typeface="Red Hat Text"/>
              </a:rPr>
              <a:t>Figure 9.1 -- T1 reads head=A and computes new_head=A-&gt;next, is preempted, T2 pops A and B and pushes a new node that reuses address A, and T1's CAS succeeds against a head value that is numerically A but semantically a different stack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Lock-Free Structures and the ABA Problem</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§6</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Lock-Free Structures and the ABA Problem</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28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Reclamation, not detection</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6A1B9A"/>
                </a:solidFill>
                <a:latin typeface="Red Hat Text"/>
              </a:rPr>
              <a:t>The trade-off that follows from ABA</a:t>
            </a:r>
          </a:p>
          <a:p>
            <a:pPr algn="l">
              <a:lnSpc>
                <a:spcPct val="115000"/>
              </a:lnSpc>
            </a:pPr>
            <a:r>
              <a:rPr sz="1400" b="0" i="0">
                <a:solidFill>
                  <a:srgbClr val="151515"/>
                </a:solidFill>
                <a:latin typeface="Red Hat Text"/>
              </a:rPr>
              <a:t>•  Hazard pointers pay on every read -- publish before dereferencing -- to keep reclamation prompt</a:t>
            </a:r>
          </a:p>
          <a:p>
            <a:pPr algn="l">
              <a:lnSpc>
                <a:spcPct val="115000"/>
              </a:lnSpc>
            </a:pPr>
            <a:r>
              <a:rPr sz="1400" b="0" i="0">
                <a:solidFill>
                  <a:srgbClr val="151515"/>
                </a:solidFill>
                <a:latin typeface="Red Hat Text"/>
              </a:rPr>
              <a:t>•  RCU pays on every delete -- a grace-period wait -- to keep reads nearly free</a:t>
            </a:r>
          </a:p>
          <a:p>
            <a:pPr algn="l">
              <a:lnSpc>
                <a:spcPct val="115000"/>
              </a:lnSpc>
            </a:pPr>
            <a:r>
              <a:rPr sz="1400" b="0" i="0">
                <a:solidFill>
                  <a:srgbClr val="151515"/>
                </a:solidFill>
                <a:latin typeface="Red Hat Text"/>
              </a:rPr>
              <a:t>•  C++26 proposes std::hazard_pointer and std::rcu; neither ships in a mainstream compiler yet</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000">
                <a:solidFill>
                  <a:srgbClr val="F4F4F4"/>
                </a:solidFill>
                <a:latin typeface="Red Hat Mono"/>
              </a:rPr>
              <a:t>// ABA-prone: a CAS compares a value, not a history</a:t>
            </a:r>
          </a:p>
          <a:p>
            <a:r>
              <a:rPr sz="1000">
                <a:solidFill>
                  <a:srgbClr val="F4F4F4"/>
                </a:solidFill>
                <a:latin typeface="Red Hat Mono"/>
              </a:rPr>
              <a:t>Node* old_head = head.load();</a:t>
            </a:r>
          </a:p>
          <a:p>
            <a:r>
              <a:rPr sz="1000">
                <a:solidFill>
                  <a:srgbClr val="F4F4F4"/>
                </a:solidFill>
                <a:latin typeface="Red Hat Mono"/>
              </a:rPr>
              <a:t>Node* new_head;</a:t>
            </a:r>
          </a:p>
          <a:p>
            <a:r>
              <a:rPr sz="1000">
                <a:solidFill>
                  <a:srgbClr val="F4F4F4"/>
                </a:solidFill>
                <a:latin typeface="Red Hat Mono"/>
              </a:rPr>
              <a:t>do {</a:t>
            </a:r>
          </a:p>
          <a:p>
            <a:r>
              <a:rPr sz="1000">
                <a:solidFill>
                  <a:srgbClr val="F4F4F4"/>
                </a:solidFill>
                <a:latin typeface="Red Hat Mono"/>
              </a:rPr>
              <a:t>    if (!old_head) return std::nullopt;</a:t>
            </a:r>
          </a:p>
          <a:p>
            <a:r>
              <a:rPr sz="1000">
                <a:solidFill>
                  <a:srgbClr val="F4F4F4"/>
                </a:solidFill>
                <a:latin typeface="Red Hat Mono"/>
              </a:rPr>
              <a:t>    new_head = old_head-&gt;next;</a:t>
            </a:r>
          </a:p>
          <a:p>
            <a:r>
              <a:rPr sz="1000">
                <a:solidFill>
                  <a:srgbClr val="F4F4F4"/>
                </a:solidFill>
                <a:latin typeface="Red Hat Mono"/>
              </a:rPr>
              <a:t>} while (!head.compare_exchange_weak(old_head, new_head));</a:t>
            </a:r>
          </a:p>
          <a:p>
            <a:r>
              <a:rPr sz="1000">
                <a:solidFill>
                  <a:srgbClr val="F4F4F4"/>
                </a:solidFill>
                <a:latin typeface="Red Hat Mono"/>
              </a:rPr>
              <a:t> </a:t>
            </a:r>
          </a:p>
          <a:p>
            <a:r>
              <a:rPr sz="1000">
                <a:solidFill>
                  <a:srgbClr val="F4F4F4"/>
                </a:solidFill>
                <a:latin typeface="Red Hat Mono"/>
              </a:rPr>
              <a:t>// C++26 (proposed): hazard pointer sidesteps reclamation, not ABA</a:t>
            </a:r>
          </a:p>
          <a:p>
            <a:r>
              <a:rPr sz="1000">
                <a:solidFill>
                  <a:srgbClr val="F4F4F4"/>
                </a:solidFill>
                <a:latin typeface="Red Hat Mono"/>
              </a:rPr>
              <a:t>std::hazard_pointer hp = std::make_hazard_pointer();</a:t>
            </a:r>
          </a:p>
          <a:p>
            <a:r>
              <a:rPr sz="1000">
                <a:solidFill>
                  <a:srgbClr val="F4F4F4"/>
                </a:solidFill>
                <a:latin typeface="Red Hat Mono"/>
              </a:rPr>
              <a:t>Node* node = hp.protect(shared_atomic_ptr);</a:t>
            </a:r>
          </a:p>
          <a:p>
            <a:r>
              <a:rPr sz="1000">
                <a:solidFill>
                  <a:srgbClr val="F4F4F4"/>
                </a:solidFill>
                <a:latin typeface="Red Hat Mono"/>
              </a:rPr>
              <a:t>if (node) use(*node);   // safe: node can't be reclaimed while protected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§7</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Futures, Promises, and Packaged Tasks</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An unnamed std::async temporary is a hidden synchronization point -- fire-and-forget that blocks instead.</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29 / 54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Futures, Promises, and Packaged Tasks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§7</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Futures, Promises, and Packaged Tasks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30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The default policy's surprise</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B71C1C"/>
                </a:solidFill>
                <a:latin typeface="Red Hat Text"/>
              </a:rPr>
              <a:t>async or deferred -- the implementation chooses</a:t>
            </a:r>
          </a:p>
          <a:p>
            <a:pPr algn="l">
              <a:lnSpc>
                <a:spcPct val="115000"/>
              </a:lnSpc>
            </a:pPr>
            <a:r>
              <a:rPr sz="1400" b="0" i="0">
                <a:solidFill>
                  <a:srgbClr val="151515"/>
                </a:solidFill>
                <a:latin typeface="Red Hat Text"/>
              </a:rPr>
              <a:t>•  The default policy's only guarantee: the result is ready by the time get() returns</a:t>
            </a:r>
          </a:p>
          <a:p>
            <a:pPr algn="l">
              <a:lnSpc>
                <a:spcPct val="115000"/>
              </a:lnSpc>
            </a:pPr>
            <a:r>
              <a:rPr sz="1400" b="0" i="0">
                <a:solidFill>
                  <a:srgbClr val="151515"/>
                </a:solidFill>
                <a:latin typeface="Red Hat Text"/>
              </a:rPr>
              <a:t>•  It is not a guarantee of concurrency -- a saturated thread pool can conform by running everything deferred</a:t>
            </a:r>
          </a:p>
          <a:p>
            <a:pPr algn="l">
              <a:lnSpc>
                <a:spcPct val="115000"/>
              </a:lnSpc>
            </a:pPr>
            <a:r>
              <a:rPr sz="1400" b="0" i="0">
                <a:solidFill>
                  <a:srgbClr val="151515"/>
                </a:solidFill>
                <a:latin typeface="Red Hat Text"/>
              </a:rPr>
              <a:t>•  Pass std::launch::async explicitly whenever concurrent execution is the point</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000">
                <a:solidFill>
                  <a:srgbClr val="F4F4F4"/>
                </a:solidFill>
                <a:latin typeface="Red Hat Mono"/>
              </a:rPr>
              <a:t>// default policy: implementation picks async or deferred</a:t>
            </a:r>
          </a:p>
          <a:p>
            <a:r>
              <a:rPr sz="1000">
                <a:solidFill>
                  <a:srgbClr val="F4F4F4"/>
                </a:solidFill>
                <a:latin typeface="Red Hat Mono"/>
              </a:rPr>
              <a:t>std::future&lt;int&gt; f = std::async([] { return compute(); });</a:t>
            </a:r>
          </a:p>
          <a:p>
            <a:r>
              <a:rPr sz="1000">
                <a:solidFill>
                  <a:srgbClr val="F4F4F4"/>
                </a:solidFill>
                <a:latin typeface="Red Hat Mono"/>
              </a:rPr>
              <a:t>int result = f.get();   // only guarantee: ready by the time get() returns</a:t>
            </a:r>
          </a:p>
          <a:p>
            <a:r>
              <a:rPr sz="1000">
                <a:solidFill>
                  <a:srgbClr val="F4F4F4"/>
                </a:solidFill>
                <a:latin typeface="Red Hat Mono"/>
              </a:rPr>
              <a:t> </a:t>
            </a:r>
          </a:p>
          <a:p>
            <a:r>
              <a:rPr sz="1000">
                <a:solidFill>
                  <a:srgbClr val="F4F4F4"/>
                </a:solidFill>
                <a:latin typeface="Red Hat Mono"/>
              </a:rPr>
              <a:t>// hidden sync point: a temporary future blocks in its destructor</a:t>
            </a:r>
          </a:p>
          <a:p>
            <a:r>
              <a:rPr sz="1000">
                <a:solidFill>
                  <a:srgbClr val="F4F4F4"/>
                </a:solidFill>
                <a:latin typeface="Red Hat Mono"/>
              </a:rPr>
              <a:t>std::async(std::launch::async, [] { slow_io(); });</a:t>
            </a:r>
          </a:p>
          <a:p>
            <a:r>
              <a:rPr sz="1000">
                <a:solidFill>
                  <a:srgbClr val="F4F4F4"/>
                </a:solidFill>
                <a:latin typeface="Red Hat Mono"/>
              </a:rPr>
              <a:t>log("submitted");   // does NOT run until slow_io() finishes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Futures, Promises, and Packaged Tasks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§7</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Futures, Promises, and Packaged Tasks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31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promise/future is the general primitive</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0066CC"/>
                </a:solidFill>
                <a:latin typeface="Red Hat Text"/>
              </a:rPr>
              <a:t>What std::async is built on</a:t>
            </a:r>
          </a:p>
          <a:p>
            <a:pPr algn="l">
              <a:lnSpc>
                <a:spcPct val="115000"/>
              </a:lnSpc>
            </a:pPr>
            <a:r>
              <a:rPr sz="1400" b="0" i="0">
                <a:solidFill>
                  <a:srgbClr val="151515"/>
                </a:solidFill>
                <a:latin typeface="Red Hat Text"/>
              </a:rPr>
              <a:t>•  Reach for promise/future directly when the producer isn't a callable you launch through std::async yourself</a:t>
            </a:r>
          </a:p>
          <a:p>
            <a:pPr algn="l">
              <a:lnSpc>
                <a:spcPct val="115000"/>
              </a:lnSpc>
            </a:pPr>
            <a:r>
              <a:rPr sz="1400" b="0" i="0">
                <a:solidFill>
                  <a:srgbClr val="151515"/>
                </a:solidFill>
                <a:latin typeface="Red Hat Text"/>
              </a:rPr>
              <a:t>•  packaged_task wraps a callable so invoking it routes the return (or exception) into its own future automatically</a:t>
            </a:r>
          </a:p>
          <a:p>
            <a:pPr algn="l">
              <a:lnSpc>
                <a:spcPct val="115000"/>
              </a:lnSpc>
            </a:pPr>
            <a:r>
              <a:rPr sz="1400" b="0" i="0">
                <a:solidFill>
                  <a:srgbClr val="151515"/>
                </a:solidFill>
                <a:latin typeface="Red Hat Text"/>
              </a:rPr>
              <a:t>•  packaged_task is itself callable -- the usual unit of work for a hand-rolled pool, which std::async can't be</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F4F4F4"/>
                </a:solidFill>
                <a:latin typeface="Red Hat Mono"/>
              </a:rPr>
              <a:t>std::promise&lt;int&gt; prom;</a:t>
            </a:r>
          </a:p>
          <a:p>
            <a:r>
              <a:rPr sz="1200">
                <a:solidFill>
                  <a:srgbClr val="F4F4F4"/>
                </a:solidFill>
                <a:latin typeface="Red Hat Mono"/>
              </a:rPr>
              <a:t>std::future&lt;int&gt; fut = prom.get_future();</a:t>
            </a:r>
          </a:p>
          <a:p>
            <a:r>
              <a:rPr sz="1200">
                <a:solidFill>
                  <a:srgbClr val="F4F4F4"/>
                </a:solidFill>
                <a:latin typeface="Red Hat Mono"/>
              </a:rPr>
              <a:t>std::thread producer([p = std::move(prom)]() mutable {</a:t>
            </a:r>
          </a:p>
          <a:p>
            <a:r>
              <a:rPr sz="1200">
                <a:solidFill>
                  <a:srgbClr val="F4F4F4"/>
                </a:solidFill>
                <a:latin typeface="Red Hat Mono"/>
              </a:rPr>
              <a:t>    p.set_value(do_work());</a:t>
            </a:r>
          </a:p>
          <a:p>
            <a:r>
              <a:rPr sz="1200">
                <a:solidFill>
                  <a:srgbClr val="F4F4F4"/>
                </a:solidFill>
                <a:latin typeface="Red Hat Mono"/>
              </a:rPr>
              <a:t>});</a:t>
            </a:r>
          </a:p>
          <a:p>
            <a:r>
              <a:rPr sz="1200">
                <a:solidFill>
                  <a:srgbClr val="F4F4F4"/>
                </a:solidFill>
                <a:latin typeface="Red Hat Mono"/>
              </a:rPr>
              <a:t>int value = fut.get();</a:t>
            </a:r>
          </a:p>
          <a:p>
            <a:r>
              <a:rPr sz="1200">
                <a:solidFill>
                  <a:srgbClr val="F4F4F4"/>
                </a:solidFill>
                <a:latin typeface="Red Hat Mono"/>
              </a:rPr>
              <a:t>producer.join();</a:t>
            </a:r>
          </a:p>
          <a:p>
            <a:r>
              <a:rPr sz="1200">
                <a:solidFill>
                  <a:srgbClr val="F4F4F4"/>
                </a:solidFill>
                <a:latin typeface="Red Hat Mono"/>
              </a:rPr>
              <a:t> </a:t>
            </a:r>
          </a:p>
          <a:p>
            <a:r>
              <a:rPr sz="1200">
                <a:solidFill>
                  <a:srgbClr val="F4F4F4"/>
                </a:solidFill>
                <a:latin typeface="Red Hat Mono"/>
              </a:rPr>
              <a:t>std::packaged_task&lt;int(int,int)&gt; task(</a:t>
            </a:r>
          </a:p>
          <a:p>
            <a:r>
              <a:rPr sz="1200">
                <a:solidFill>
                  <a:srgbClr val="F4F4F4"/>
                </a:solidFill>
                <a:latin typeface="Red Hat Mono"/>
              </a:rPr>
              <a:t>    [](int a, int b) { return a + b; });</a:t>
            </a:r>
          </a:p>
          <a:p>
            <a:r>
              <a:rPr sz="1200">
                <a:solidFill>
                  <a:srgbClr val="F4F4F4"/>
                </a:solidFill>
                <a:latin typeface="Red Hat Mono"/>
              </a:rPr>
              <a:t>std::future&lt;int&gt; fut2 = task.get_future();</a:t>
            </a:r>
          </a:p>
          <a:p>
            <a:r>
              <a:rPr sz="1200">
                <a:solidFill>
                  <a:srgbClr val="F4F4F4"/>
                </a:solidFill>
                <a:latin typeface="Red Hat Mono"/>
              </a:rPr>
              <a:t>std::thread worker(std::move(task), 3, 4);</a:t>
            </a:r>
          </a:p>
          <a:p>
            <a:r>
              <a:rPr sz="1200">
                <a:solidFill>
                  <a:srgbClr val="F4F4F4"/>
                </a:solidFill>
                <a:latin typeface="Red Hat Mono"/>
              </a:rPr>
              <a:t>int sum = fut2.get();   // 7</a:t>
            </a:r>
          </a:p>
          <a:p>
            <a:r>
              <a:rPr sz="1200">
                <a:solidFill>
                  <a:srgbClr val="F4F4F4"/>
                </a:solidFill>
                <a:latin typeface="Red Hat Mono"/>
              </a:rPr>
              <a:t>worker.join();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Futures, Promises, and Packaged Tasks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§7</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Futures, Promises, and Packaged Tasks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32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Exceptions cross the boundary intact</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B36B00"/>
                </a:solidFill>
                <a:latin typeface="Red Hat Text"/>
              </a:rPr>
              <a:t>One hop, no continuation</a:t>
            </a:r>
          </a:p>
          <a:p>
            <a:pPr algn="l">
              <a:lnSpc>
                <a:spcPct val="115000"/>
              </a:lnSpc>
            </a:pPr>
            <a:r>
              <a:rPr sz="1400" b="0" i="0">
                <a:solidFill>
                  <a:srgbClr val="151515"/>
                </a:solidFill>
                <a:latin typeface="Red Hat Text"/>
              </a:rPr>
              <a:t>•  The producer's exception is stored in shared state and rethrown, intact, at the consumer's first get()</a:t>
            </a:r>
          </a:p>
          <a:p>
            <a:pPr algn="l">
              <a:lnSpc>
                <a:spcPct val="115000"/>
              </a:lnSpc>
            </a:pPr>
            <a:r>
              <a:rPr sz="1400" b="0" i="0">
                <a:solidFill>
                  <a:srgbClr val="151515"/>
                </a:solidFill>
                <a:latin typeface="Red Hat Text"/>
              </a:rPr>
              <a:t>•  shared_future::get() returns const T&amp; and can be called repeatedly from multiple threads</a:t>
            </a:r>
          </a:p>
          <a:p>
            <a:pPr algn="l">
              <a:lnSpc>
                <a:spcPct val="115000"/>
              </a:lnSpc>
            </a:pPr>
            <a:r>
              <a:rPr sz="1400" b="0" i="0">
                <a:solidFill>
                  <a:srgbClr val="151515"/>
                </a:solidFill>
                <a:latin typeface="Red Hat Text"/>
              </a:rPr>
              <a:t>•  No .then(), no combinator for 'whichever finishes first' -- chaining means blocking the chaining thread on get()</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std::future&lt;int&gt; f = std::async(std::launch::async,</a:t>
            </a:r>
          </a:p>
          <a:p>
            <a:r>
              <a:rPr sz="1100">
                <a:solidFill>
                  <a:srgbClr val="F4F4F4"/>
                </a:solidFill>
                <a:latin typeface="Red Hat Mono"/>
              </a:rPr>
              <a:t>    [] () -&gt; int { throw std::runtime_error("failed"); });</a:t>
            </a:r>
          </a:p>
          <a:p>
            <a:r>
              <a:rPr sz="1100">
                <a:solidFill>
                  <a:srgbClr val="F4F4F4"/>
                </a:solidFill>
                <a:latin typeface="Red Hat Mono"/>
              </a:rPr>
              <a:t> </a:t>
            </a:r>
          </a:p>
          <a:p>
            <a:r>
              <a:rPr sz="1100">
                <a:solidFill>
                  <a:srgbClr val="F4F4F4"/>
                </a:solidFill>
                <a:latin typeface="Red Hat Mono"/>
              </a:rPr>
              <a:t>try {</a:t>
            </a:r>
          </a:p>
          <a:p>
            <a:r>
              <a:rPr sz="1100">
                <a:solidFill>
                  <a:srgbClr val="F4F4F4"/>
                </a:solidFill>
                <a:latin typeface="Red Hat Mono"/>
              </a:rPr>
              <a:t>    f.get();   // rethrows here, on the calling thread, at first get()</a:t>
            </a:r>
          </a:p>
          <a:p>
            <a:r>
              <a:rPr sz="1100">
                <a:solidFill>
                  <a:srgbClr val="F4F4F4"/>
                </a:solidFill>
                <a:latin typeface="Red Hat Mono"/>
              </a:rPr>
              <a:t>} catch (const std::runtime_error&amp; e) {</a:t>
            </a:r>
          </a:p>
          <a:p>
            <a:r>
              <a:rPr sz="1100">
                <a:solidFill>
                  <a:srgbClr val="F4F4F4"/>
                </a:solidFill>
                <a:latin typeface="Red Hat Mono"/>
              </a:rPr>
              <a:t>    log(e.what());</a:t>
            </a:r>
          </a:p>
          <a:p>
            <a:r>
              <a:rPr sz="1100">
                <a:solidFill>
                  <a:srgbClr val="F4F4F4"/>
                </a:solidFill>
                <a:latin typeface="Red Hat Mono"/>
              </a:rPr>
              <a:t>}</a:t>
            </a:r>
          </a:p>
          <a:p>
            <a:r>
              <a:rPr sz="1100">
                <a:solidFill>
                  <a:srgbClr val="F4F4F4"/>
                </a:solidFill>
                <a:latin typeface="Red Hat Mono"/>
              </a:rPr>
              <a:t> </a:t>
            </a:r>
          </a:p>
          <a:p>
            <a:r>
              <a:rPr sz="1100">
                <a:solidFill>
                  <a:srgbClr val="F4F4F4"/>
                </a:solidFill>
                <a:latin typeface="Red Hat Mono"/>
              </a:rPr>
              <a:t>// shared_future: many waiters, const T&amp; on every get()</a:t>
            </a:r>
          </a:p>
          <a:p>
            <a:r>
              <a:rPr sz="1100">
                <a:solidFill>
                  <a:srgbClr val="F4F4F4"/>
                </a:solidFill>
                <a:latin typeface="Red Hat Mono"/>
              </a:rPr>
              <a:t>std::shared_future&lt;Config&gt; cfg = prom2.get_future().share();</a:t>
            </a:r>
          </a:p>
          <a:p>
            <a:r>
              <a:rPr sz="1100">
                <a:solidFill>
                  <a:srgbClr val="F4F4F4"/>
                </a:solidFill>
                <a:latin typeface="Red Hat Mono"/>
              </a:rPr>
              <a:t>auto worker = [cfg] { use(cfg.get()); };   // callable repeatedly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§8</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Coroutines in Depth</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HALO is a permission the standard grants, not a guarantee any particular compiler exercises.</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33 / 54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Coroutines in Depth</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§8</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Coroutines in Depth</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34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promise_type: the customization point</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0066CC"/>
                </a:solidFill>
                <a:latin typeface="Red Hat Text"/>
              </a:rPr>
              <a:t>What the compiler needs from you</a:t>
            </a:r>
          </a:p>
          <a:p>
            <a:pPr algn="l">
              <a:lnSpc>
                <a:spcPct val="115000"/>
              </a:lnSpc>
            </a:pPr>
            <a:r>
              <a:rPr sz="1400" b="0" i="0">
                <a:solidFill>
                  <a:srgbClr val="151515"/>
                </a:solidFill>
                <a:latin typeface="Red Hat Text"/>
              </a:rPr>
              <a:t>•  Any function containing co_await, co_yield, or co_return is a coroutine, rewritten into a state machine</a:t>
            </a:r>
          </a:p>
          <a:p>
            <a:pPr algn="l">
              <a:lnSpc>
                <a:spcPct val="115000"/>
              </a:lnSpc>
            </a:pPr>
            <a:r>
              <a:rPr sz="1400" b="0" i="0">
                <a:solidFill>
                  <a:srgbClr val="151515"/>
                </a:solidFill>
                <a:latin typeface="Red Hat Text"/>
              </a:rPr>
              <a:t>•  get_return_object() builds the value the caller actually receives from calling the coroutine</a:t>
            </a:r>
          </a:p>
          <a:p>
            <a:pPr algn="l">
              <a:lnSpc>
                <a:spcPct val="115000"/>
              </a:lnSpc>
            </a:pPr>
            <a:r>
              <a:rPr sz="1400" b="0" i="0">
                <a:solidFill>
                  <a:srgbClr val="151515"/>
                </a:solidFill>
                <a:latin typeface="Red Hat Text"/>
              </a:rPr>
              <a:t>•  initial_suspend()/final_suspend() decide whether the body starts and ends immediately or stays suspended</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struct Task {</a:t>
            </a:r>
          </a:p>
          <a:p>
            <a:r>
              <a:rPr sz="1100">
                <a:solidFill>
                  <a:srgbClr val="F4F4F4"/>
                </a:solidFill>
                <a:latin typeface="Red Hat Mono"/>
              </a:rPr>
              <a:t>    struct promise_type {</a:t>
            </a:r>
          </a:p>
          <a:p>
            <a:r>
              <a:rPr sz="1100">
                <a:solidFill>
                  <a:srgbClr val="F4F4F4"/>
                </a:solidFill>
                <a:latin typeface="Red Hat Mono"/>
              </a:rPr>
              <a:t>        Task get_return_object() {</a:t>
            </a:r>
          </a:p>
          <a:p>
            <a:r>
              <a:rPr sz="1100">
                <a:solidFill>
                  <a:srgbClr val="F4F4F4"/>
                </a:solidFill>
                <a:latin typeface="Red Hat Mono"/>
              </a:rPr>
              <a:t>            return Task{std::coroutine_handle&lt;promise_type&gt;</a:t>
            </a:r>
          </a:p>
          <a:p>
            <a:r>
              <a:rPr sz="1100">
                <a:solidFill>
                  <a:srgbClr val="F4F4F4"/>
                </a:solidFill>
                <a:latin typeface="Red Hat Mono"/>
              </a:rPr>
              <a:t>                        ::from_promise(*this)};</a:t>
            </a:r>
          </a:p>
          <a:p>
            <a:r>
              <a:rPr sz="1100">
                <a:solidFill>
                  <a:srgbClr val="F4F4F4"/>
                </a:solidFill>
                <a:latin typeface="Red Hat Mono"/>
              </a:rPr>
              <a:t>        }</a:t>
            </a:r>
          </a:p>
          <a:p>
            <a:r>
              <a:rPr sz="1100">
                <a:solidFill>
                  <a:srgbClr val="F4F4F4"/>
                </a:solidFill>
                <a:latin typeface="Red Hat Mono"/>
              </a:rPr>
              <a:t>        std::suspend_always initial_suspend() noexcept { return {}; }</a:t>
            </a:r>
          </a:p>
          <a:p>
            <a:r>
              <a:rPr sz="1100">
                <a:solidFill>
                  <a:srgbClr val="F4F4F4"/>
                </a:solidFill>
                <a:latin typeface="Red Hat Mono"/>
              </a:rPr>
              <a:t>        std::suspend_always final_suspend() noexcept { return {}; }</a:t>
            </a:r>
          </a:p>
          <a:p>
            <a:r>
              <a:rPr sz="1100">
                <a:solidFill>
                  <a:srgbClr val="F4F4F4"/>
                </a:solidFill>
                <a:latin typeface="Red Hat Mono"/>
              </a:rPr>
              <a:t>        void return_void() {}</a:t>
            </a:r>
          </a:p>
          <a:p>
            <a:r>
              <a:rPr sz="1100">
                <a:solidFill>
                  <a:srgbClr val="F4F4F4"/>
                </a:solidFill>
                <a:latin typeface="Red Hat Mono"/>
              </a:rPr>
              <a:t>        void unhandled_exception() { std::terminate(); }</a:t>
            </a:r>
          </a:p>
          <a:p>
            <a:r>
              <a:rPr sz="1100">
                <a:solidFill>
                  <a:srgbClr val="F4F4F4"/>
                </a:solidFill>
                <a:latin typeface="Red Hat Mono"/>
              </a:rPr>
              <a:t>    };</a:t>
            </a:r>
          </a:p>
          <a:p>
            <a:r>
              <a:rPr sz="1100">
                <a:solidFill>
                  <a:srgbClr val="F4F4F4"/>
                </a:solidFill>
                <a:latin typeface="Red Hat Mono"/>
              </a:rPr>
              <a:t>    std::coroutine_handle&lt;promise_type&gt; handle;</a:t>
            </a:r>
          </a:p>
          <a:p>
            <a:r>
              <a:rPr sz="1100">
                <a:solidFill>
                  <a:srgbClr val="F4F4F4"/>
                </a:solidFill>
                <a:latin typeface="Red Hat Mono"/>
              </a:rPr>
              <a: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Coroutines in Depth</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§8</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Coroutines in Depth</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35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await_suspend and symmetric transfer</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006E6E"/>
                </a:solidFill>
                <a:latin typeface="Red Hat Text"/>
              </a:rPr>
              <a:t>The three-call protocol</a:t>
            </a:r>
          </a:p>
          <a:p>
            <a:pPr algn="l">
              <a:lnSpc>
                <a:spcPct val="115000"/>
              </a:lnSpc>
            </a:pPr>
            <a:r>
              <a:rPr sz="1400" b="0" i="0">
                <a:solidFill>
                  <a:srgbClr val="151515"/>
                </a:solidFill>
                <a:latin typeface="Red Hat Text"/>
              </a:rPr>
              <a:t>•  await_ready, await_suspend, await_resume -- in that order, every co_await</a:t>
            </a:r>
          </a:p>
          <a:p>
            <a:pPr algn="l">
              <a:lnSpc>
                <a:spcPct val="115000"/>
              </a:lnSpc>
            </a:pPr>
            <a:r>
              <a:rPr sz="1400" b="0" i="0">
                <a:solidFill>
                  <a:srgbClr val="151515"/>
                </a:solidFill>
                <a:latin typeface="Red Hat Text"/>
              </a:rPr>
              <a:t>•  await_suspend hands an external source a handle to resume later -- the bridge to a reactor or a scheduler</a:t>
            </a:r>
          </a:p>
          <a:p>
            <a:pPr algn="l">
              <a:lnSpc>
                <a:spcPct val="115000"/>
              </a:lnSpc>
            </a:pPr>
            <a:r>
              <a:rPr sz="1400" b="0" i="0">
                <a:solidFill>
                  <a:srgbClr val="151515"/>
                </a:solidFill>
                <a:latin typeface="Red Hat Text"/>
              </a:rPr>
              <a:t>•  Returning a handle instead of calling .resume() is a tail call -- no stack frame accumulates across a long chain</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struct ReadAwaitable {</a:t>
            </a:r>
          </a:p>
          <a:p>
            <a:r>
              <a:rPr sz="1100">
                <a:solidFill>
                  <a:srgbClr val="F4F4F4"/>
                </a:solidFill>
                <a:latin typeface="Red Hat Mono"/>
              </a:rPr>
              <a:t>    Reactor&amp; reactor;</a:t>
            </a:r>
          </a:p>
          <a:p>
            <a:r>
              <a:rPr sz="1100">
                <a:solidFill>
                  <a:srgbClr val="F4F4F4"/>
                </a:solidFill>
                <a:latin typeface="Red Hat Mono"/>
              </a:rPr>
              <a:t>    int fd;</a:t>
            </a:r>
          </a:p>
          <a:p>
            <a:r>
              <a:rPr sz="1100">
                <a:solidFill>
                  <a:srgbClr val="F4F4F4"/>
                </a:solidFill>
                <a:latin typeface="Red Hat Mono"/>
              </a:rPr>
              <a:t>    bool await_ready() noexcept { return false; }</a:t>
            </a:r>
          </a:p>
          <a:p>
            <a:r>
              <a:rPr sz="1100">
                <a:solidFill>
                  <a:srgbClr val="F4F4F4"/>
                </a:solidFill>
                <a:latin typeface="Red Hat Mono"/>
              </a:rPr>
              <a:t>    void await_suspend(std::coroutine_handle&lt;&gt; h) {</a:t>
            </a:r>
          </a:p>
          <a:p>
            <a:r>
              <a:rPr sz="1100">
                <a:solidFill>
                  <a:srgbClr val="F4F4F4"/>
                </a:solidFill>
                <a:latin typeface="Red Hat Mono"/>
              </a:rPr>
              <a:t>        reactor.wait_readable(fd, h);   // parks h</a:t>
            </a:r>
          </a:p>
          <a:p>
            <a:r>
              <a:rPr sz="1100">
                <a:solidFill>
                  <a:srgbClr val="F4F4F4"/>
                </a:solidFill>
                <a:latin typeface="Red Hat Mono"/>
              </a:rPr>
              <a:t>    }</a:t>
            </a:r>
          </a:p>
          <a:p>
            <a:r>
              <a:rPr sz="1100">
                <a:solidFill>
                  <a:srgbClr val="F4F4F4"/>
                </a:solidFill>
                <a:latin typeface="Red Hat Mono"/>
              </a:rPr>
              <a:t>    void await_resume() noexcept {}</a:t>
            </a:r>
          </a:p>
          <a:p>
            <a:r>
              <a:rPr sz="1100">
                <a:solidFill>
                  <a:srgbClr val="F4F4F4"/>
                </a:solidFill>
                <a:latin typeface="Red Hat Mono"/>
              </a:rPr>
              <a:t>};</a:t>
            </a:r>
          </a:p>
          <a:p>
            <a:r>
              <a:rPr sz="1100">
                <a:solidFill>
                  <a:srgbClr val="F4F4F4"/>
                </a:solidFill>
                <a:latin typeface="Red Hat Mono"/>
              </a:rPr>
              <a:t> </a:t>
            </a:r>
          </a:p>
          <a:p>
            <a:r>
              <a:rPr sz="1100">
                <a:solidFill>
                  <a:srgbClr val="F4F4F4"/>
                </a:solidFill>
                <a:latin typeface="Red Hat Mono"/>
              </a:rPr>
              <a:t>// symmetric transfer: return a handle, don't call .resume() yourself</a:t>
            </a:r>
          </a:p>
          <a:p>
            <a:r>
              <a:rPr sz="1100">
                <a:solidFill>
                  <a:srgbClr val="F4F4F4"/>
                </a:solidFill>
                <a:latin typeface="Red Hat Mono"/>
              </a:rPr>
              <a:t>std::coroutine_handle&lt;&gt; await_suspend(</a:t>
            </a:r>
          </a:p>
          <a:p>
            <a:r>
              <a:rPr sz="1100">
                <a:solidFill>
                  <a:srgbClr val="F4F4F4"/>
                </a:solidFill>
                <a:latin typeface="Red Hat Mono"/>
              </a:rPr>
              <a:t>        std::coroutine_handle&lt;promise_type&gt; h) noexcept {</a:t>
            </a:r>
          </a:p>
          <a:p>
            <a:r>
              <a:rPr sz="1100">
                <a:solidFill>
                  <a:srgbClr val="F4F4F4"/>
                </a:solidFill>
                <a:latin typeface="Red Hat Mono"/>
              </a:rPr>
              <a:t>    auto c = h.promise().continuation;</a:t>
            </a:r>
          </a:p>
          <a:p>
            <a:r>
              <a:rPr sz="1100">
                <a:solidFill>
                  <a:srgbClr val="F4F4F4"/>
                </a:solidFill>
                <a:latin typeface="Red Hat Mono"/>
              </a:rPr>
              <a:t>    return c ? c : std::noop_coroutine();</a:t>
            </a:r>
          </a:p>
          <a:p>
            <a:r>
              <a:rPr sz="1100">
                <a:solidFill>
                  <a:srgbClr val="F4F4F4"/>
                </a:solidFill>
                <a:latin typeface="Red Hat Mono"/>
              </a:rPr>
              <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Coroutines in Depth</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§8</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Coroutines in Depth</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36 / 54</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51515"/>
                </a:solidFill>
                <a:latin typeface="Red Hat Display"/>
              </a:rPr>
              <a:t>HALO: permitted, not guaranteed</a:t>
            </a:r>
          </a:p>
        </p:txBody>
      </p:sp>
      <p:pic>
        <p:nvPicPr>
          <p:cNvPr id="9" name="Picture 8" descr="11-halo-permission-not-guarantee.jpg"/>
          <p:cNvPicPr>
            <a:picLocks noChangeAspect="1"/>
          </p:cNvPicPr>
          <p:nvPr/>
        </p:nvPicPr>
        <p:blipFill>
          <a:blip r:embed="rId2"/>
          <a:stretch>
            <a:fillRect/>
          </a:stretch>
        </p:blipFill>
        <p:spPr>
          <a:xfrm>
            <a:off x="1288503" y="1463040"/>
            <a:ext cx="9584513" cy="4572000"/>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8A8A8A"/>
                </a:solidFill>
                <a:latin typeface="Red Hat Text"/>
              </a:rPr>
              <a:t>Figure 11.1 -- HALO is a permission, not a guarantee: identical source at an identical optimization level can allocate on one toolchain and elide entirely on another, both conforming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Coroutines in Depth</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§8</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Coroutines in Depth</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37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std::generator and the lifetime trap</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6A1B9A"/>
                </a:solidFill>
                <a:latin typeface="Red Hat Text"/>
              </a:rPr>
              <a:t>C++23 standardizes the generator</a:t>
            </a:r>
          </a:p>
          <a:p>
            <a:pPr algn="l">
              <a:lnSpc>
                <a:spcPct val="115000"/>
              </a:lnSpc>
            </a:pPr>
            <a:r>
              <a:rPr sz="1400" b="0" i="0">
                <a:solidFill>
                  <a:srgbClr val="151515"/>
                </a:solidFill>
                <a:latin typeface="Red Hat Text"/>
              </a:rPr>
              <a:t>•  An infinite co_yield loop consumed finitely by views::take is not a leak -- destroying it runs destructors in scope</a:t>
            </a:r>
          </a:p>
          <a:p>
            <a:pPr algn="l">
              <a:lnSpc>
                <a:spcPct val="115000"/>
              </a:lnSpc>
            </a:pPr>
            <a:r>
              <a:rPr sz="1400" b="0" i="0">
                <a:solidFill>
                  <a:srgbClr val="151515"/>
                </a:solidFill>
                <a:latin typeface="Red Hat Text"/>
              </a:rPr>
              <a:t>•  coroutine_handle owns nothing -- only a wrapper's destructor calling .destroy() frees the frame</a:t>
            </a:r>
          </a:p>
          <a:p>
            <a:pPr algn="l">
              <a:lnSpc>
                <a:spcPct val="115000"/>
              </a:lnSpc>
            </a:pPr>
            <a:r>
              <a:rPr sz="1400" b="0" i="0">
                <a:solidFill>
                  <a:srgbClr val="151515"/>
                </a:solidFill>
                <a:latin typeface="Red Hat Text"/>
              </a:rPr>
              <a:t>•  A reference parameter used after a suspension point can dangle -- the caller may have returned by then</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std::generator&lt;std::uint64_t&gt; fibonacci() {</a:t>
            </a:r>
          </a:p>
          <a:p>
            <a:r>
              <a:rPr sz="1100">
                <a:solidFill>
                  <a:srgbClr val="F4F4F4"/>
                </a:solidFill>
                <a:latin typeface="Red Hat Mono"/>
              </a:rPr>
              <a:t>    std::uint64_t a = 0, b = 1;</a:t>
            </a:r>
          </a:p>
          <a:p>
            <a:r>
              <a:rPr sz="1100">
                <a:solidFill>
                  <a:srgbClr val="F4F4F4"/>
                </a:solidFill>
                <a:latin typeface="Red Hat Mono"/>
              </a:rPr>
              <a:t>    while (true) {</a:t>
            </a:r>
          </a:p>
          <a:p>
            <a:r>
              <a:rPr sz="1100">
                <a:solidFill>
                  <a:srgbClr val="F4F4F4"/>
                </a:solidFill>
                <a:latin typeface="Red Hat Mono"/>
              </a:rPr>
              <a:t>        co_yield a;</a:t>
            </a:r>
          </a:p>
          <a:p>
            <a:r>
              <a:rPr sz="1100">
                <a:solidFill>
                  <a:srgbClr val="F4F4F4"/>
                </a:solidFill>
                <a:latin typeface="Red Hat Mono"/>
              </a:rPr>
              <a:t>        const std::uint64_t next = a + b;</a:t>
            </a:r>
          </a:p>
          <a:p>
            <a:r>
              <a:rPr sz="1100">
                <a:solidFill>
                  <a:srgbClr val="F4F4F4"/>
                </a:solidFill>
                <a:latin typeface="Red Hat Mono"/>
              </a:rPr>
              <a:t>        a = b; b = next;</a:t>
            </a:r>
          </a:p>
          <a:p>
            <a:r>
              <a:rPr sz="1100">
                <a:solidFill>
                  <a:srgbClr val="F4F4F4"/>
                </a:solidFill>
                <a:latin typeface="Red Hat Mono"/>
              </a:rPr>
              <a:t>    }</a:t>
            </a:r>
          </a:p>
          <a:p>
            <a:r>
              <a:rPr sz="1100">
                <a:solidFill>
                  <a:srgbClr val="F4F4F4"/>
                </a:solidFill>
                <a:latin typeface="Red Hat Mono"/>
              </a:rPr>
              <a:t>}</a:t>
            </a:r>
          </a:p>
          <a:p>
            <a:r>
              <a:rPr sz="1100">
                <a:solidFill>
                  <a:srgbClr val="F4F4F4"/>
                </a:solidFill>
                <a:latin typeface="Red Hat Mono"/>
              </a:rPr>
              <a:t>for (auto v : fibonacci() | std::views::take(10)) use(v);</a:t>
            </a:r>
          </a:p>
          <a:p>
            <a:r>
              <a:rPr sz="1100">
                <a:solidFill>
                  <a:srgbClr val="F4F4F4"/>
                </a:solidFill>
                <a:latin typeface="Red Hat Mono"/>
              </a:rPr>
              <a:t> </a:t>
            </a:r>
          </a:p>
          <a:p>
            <a:r>
              <a:rPr sz="1100">
                <a:solidFill>
                  <a:srgbClr val="F4F4F4"/>
                </a:solidFill>
                <a:latin typeface="Red Hat Mono"/>
              </a:rPr>
              <a:t>// lifetime trap: a reference outliving the call that produced it</a:t>
            </a:r>
          </a:p>
          <a:p>
            <a:r>
              <a:rPr sz="1100">
                <a:solidFill>
                  <a:srgbClr val="F4F4F4"/>
                </a:solidFill>
                <a:latin typeface="Red Hat Mono"/>
              </a:rPr>
              <a:t>Task use_dangling_ref(const std::string&amp; name) {</a:t>
            </a:r>
          </a:p>
          <a:p>
            <a:r>
              <a:rPr sz="1100">
                <a:solidFill>
                  <a:srgbClr val="F4F4F4"/>
                </a:solidFill>
                <a:latin typeface="Red Hat Mono"/>
              </a:rPr>
              <a:t>    co_await something();   // suspends; caller may now return</a:t>
            </a:r>
          </a:p>
          <a:p>
            <a:r>
              <a:rPr sz="1100">
                <a:solidFill>
                  <a:srgbClr val="F4F4F4"/>
                </a:solidFill>
                <a:latin typeface="Red Hat Mono"/>
              </a:rPr>
              <a:t>    log(name);               // UB if the caller's `name` is gone</a:t>
            </a:r>
          </a:p>
          <a:p>
            <a:r>
              <a:rPr sz="1100">
                <a:solidFill>
                  <a:srgbClr val="F4F4F4"/>
                </a:solidFill>
                <a:latin typeface="Red Hat Mono"/>
              </a:rPr>
              <a: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§9</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Async Runtimes and Event Loops</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A mutex blocks a thread; a strand defers a handler -- correct either way, reaching the kernel far less often.</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38 / 54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Async Runtimes and Event Loops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§9</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Async Runtimes and Event Loops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39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epoll_wait resumes the exact handle</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0066CC"/>
                </a:solidFill>
                <a:latin typeface="Red Hat Text"/>
              </a:rPr>
              <a:t>The whole reactor</a:t>
            </a:r>
          </a:p>
          <a:p>
            <a:pPr algn="l">
              <a:lnSpc>
                <a:spcPct val="115000"/>
              </a:lnSpc>
            </a:pPr>
            <a:r>
              <a:rPr sz="1400" b="0" i="0">
                <a:solidFill>
                  <a:srgbClr val="151515"/>
                </a:solidFill>
                <a:latin typeface="Red Hat Text"/>
              </a:rPr>
              <a:t>•  EPOLLONESHOT disarms a descriptor the instant it fires -- exactly one resume per readiness event</a:t>
            </a:r>
          </a:p>
          <a:p>
            <a:pPr algn="l">
              <a:lnSpc>
                <a:spcPct val="115000"/>
              </a:lnSpc>
            </a:pPr>
            <a:r>
              <a:rPr sz="1400" b="0" i="0">
                <a:solidFill>
                  <a:srgbClr val="151515"/>
                </a:solidFill>
                <a:latin typeface="Red Hat Text"/>
              </a:rPr>
              <a:t>•  The run loop's h.resume() is a plain function call into the frame -- nothing about the thread blocks on it</a:t>
            </a:r>
          </a:p>
          <a:p>
            <a:pPr algn="l">
              <a:lnSpc>
                <a:spcPct val="115000"/>
              </a:lnSpc>
            </a:pPr>
            <a:r>
              <a:rPr sz="1400" b="0" i="0">
                <a:solidFill>
                  <a:srgbClr val="151515"/>
                </a:solidFill>
                <a:latin typeface="Red Hat Text"/>
              </a:rPr>
              <a:t>•  One epoll instance, one map from fd to handle, and a resume call -- no thread pool, no scheduler abstraction</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void Reactor::wait_readable(int fd, std::coroutine_handle&lt;&gt; h) {</a:t>
            </a:r>
          </a:p>
          <a:p>
            <a:r>
              <a:rPr sz="1100">
                <a:solidFill>
                  <a:srgbClr val="F4F4F4"/>
                </a:solidFill>
                <a:latin typeface="Red Hat Mono"/>
              </a:rPr>
              <a:t>    waiters_[fd] = h;</a:t>
            </a:r>
          </a:p>
          <a:p>
            <a:r>
              <a:rPr sz="1100">
                <a:solidFill>
                  <a:srgbClr val="F4F4F4"/>
                </a:solidFill>
                <a:latin typeface="Red Hat Mono"/>
              </a:rPr>
              <a:t>    epoll_event ev{};</a:t>
            </a:r>
          </a:p>
          <a:p>
            <a:r>
              <a:rPr sz="1100">
                <a:solidFill>
                  <a:srgbClr val="F4F4F4"/>
                </a:solidFill>
                <a:latin typeface="Red Hat Mono"/>
              </a:rPr>
              <a:t>    ev.events = EPOLLIN | EPOLLONESHOT;</a:t>
            </a:r>
          </a:p>
          <a:p>
            <a:r>
              <a:rPr sz="1100">
                <a:solidFill>
                  <a:srgbClr val="F4F4F4"/>
                </a:solidFill>
                <a:latin typeface="Red Hat Mono"/>
              </a:rPr>
              <a:t>    ev.data.fd = fd;</a:t>
            </a:r>
          </a:p>
          <a:p>
            <a:r>
              <a:rPr sz="1100">
                <a:solidFill>
                  <a:srgbClr val="F4F4F4"/>
                </a:solidFill>
                <a:latin typeface="Red Hat Mono"/>
              </a:rPr>
              <a:t>    ::epoll_ctl(epfd_, EPOLL_CTL_ADD, fd, &amp;ev);</a:t>
            </a:r>
          </a:p>
          <a:p>
            <a:r>
              <a:rPr sz="1100">
                <a:solidFill>
                  <a:srgbClr val="F4F4F4"/>
                </a:solidFill>
                <a:latin typeface="Red Hat Mono"/>
              </a:rPr>
              <a:t>}</a:t>
            </a:r>
          </a:p>
          <a:p>
            <a:r>
              <a:rPr sz="1100">
                <a:solidFill>
                  <a:srgbClr val="F4F4F4"/>
                </a:solidFill>
                <a:latin typeface="Red Hat Mono"/>
              </a:rPr>
              <a:t> </a:t>
            </a:r>
          </a:p>
          <a:p>
            <a:r>
              <a:rPr sz="1100">
                <a:solidFill>
                  <a:srgbClr val="F4F4F4"/>
                </a:solidFill>
                <a:latin typeface="Red Hat Mono"/>
              </a:rPr>
              <a:t>void Reactor::run() {</a:t>
            </a:r>
          </a:p>
          <a:p>
            <a:r>
              <a:rPr sz="1100">
                <a:solidFill>
                  <a:srgbClr val="F4F4F4"/>
                </a:solidFill>
                <a:latin typeface="Red Hat Mono"/>
              </a:rPr>
              <a:t>    epoll_event events[64];</a:t>
            </a:r>
          </a:p>
          <a:p>
            <a:r>
              <a:rPr sz="1100">
                <a:solidFill>
                  <a:srgbClr val="F4F4F4"/>
                </a:solidFill>
                <a:latin typeface="Red Hat Mono"/>
              </a:rPr>
              <a:t>    while (!stopped_) {</a:t>
            </a:r>
          </a:p>
          <a:p>
            <a:r>
              <a:rPr sz="1100">
                <a:solidFill>
                  <a:srgbClr val="F4F4F4"/>
                </a:solidFill>
                <a:latin typeface="Red Hat Mono"/>
              </a:rPr>
              <a:t>        int n = ::epoll_wait(epfd_, events, 64, -1);</a:t>
            </a:r>
          </a:p>
          <a:p>
            <a:r>
              <a:rPr sz="1100">
                <a:solidFill>
                  <a:srgbClr val="F4F4F4"/>
                </a:solidFill>
                <a:latin typeface="Red Hat Mono"/>
              </a:rPr>
              <a:t>        for (int i = 0; i &lt; n; ++i) {</a:t>
            </a:r>
          </a:p>
          <a:p>
            <a:r>
              <a:rPr sz="1100">
                <a:solidFill>
                  <a:srgbClr val="F4F4F4"/>
                </a:solidFill>
                <a:latin typeface="Red Hat Mono"/>
              </a:rPr>
              <a:t>            auto it = waiters_.find(events[i].data.fd);</a:t>
            </a:r>
          </a:p>
          <a:p>
            <a:r>
              <a:rPr sz="1100">
                <a:solidFill>
                  <a:srgbClr val="F4F4F4"/>
                </a:solidFill>
                <a:latin typeface="Red Hat Mono"/>
              </a:rPr>
              <a:t>            if (it != waiters_.end()) {</a:t>
            </a:r>
          </a:p>
          <a:p>
            <a:r>
              <a:rPr sz="1100">
                <a:solidFill>
                  <a:srgbClr val="F4F4F4"/>
                </a:solidFill>
                <a:latin typeface="Red Hat Mono"/>
              </a:rPr>
              <a:t>                auto h = it-&gt;second;</a:t>
            </a:r>
          </a:p>
          <a:p>
            <a:r>
              <a:rPr sz="1100">
                <a:solidFill>
                  <a:srgbClr val="F4F4F4"/>
                </a:solidFill>
                <a:latin typeface="Red Hat Mono"/>
              </a:rPr>
              <a:t>                waiters_.erase(it);</a:t>
            </a:r>
          </a:p>
          <a:p>
            <a:r>
              <a:rPr sz="1100">
                <a:solidFill>
                  <a:srgbClr val="F4F4F4"/>
                </a:solidFill>
                <a:latin typeface="Red Hat Mono"/>
              </a:rPr>
              <a:t>                h.resume();</a:t>
            </a:r>
          </a:p>
          <a:p>
            <a:r>
              <a:rPr sz="1100">
                <a:solidFill>
                  <a:srgbClr val="F4F4F4"/>
                </a:solidFill>
                <a:latin typeface="Red Hat Mono"/>
              </a:rPr>
              <a:t>            }</a:t>
            </a:r>
          </a:p>
          <a:p>
            <a:r>
              <a:rPr sz="1100">
                <a:solidFill>
                  <a:srgbClr val="F4F4F4"/>
                </a:solidFill>
                <a:latin typeface="Red Hat Mono"/>
              </a:rPr>
              <a:t>        }</a:t>
            </a:r>
          </a:p>
          <a:p>
            <a:r>
              <a:rPr sz="1100">
                <a:solidFill>
                  <a:srgbClr val="F4F4F4"/>
                </a:solidFill>
                <a:latin typeface="Red Hat Mono"/>
              </a:rPr>
              <a:t>    }</a:t>
            </a:r>
          </a:p>
          <a:p>
            <a:r>
              <a:rPr sz="1100">
                <a:solidFill>
                  <a:srgbClr val="F4F4F4"/>
                </a:solidFill>
                <a:latin typeface="Red Hat Mono"/>
              </a:rPr>
              <a: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Async Runtimes and Event Loops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§9</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Async Runtimes and Event Loops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40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io_context: a refcount, not a loop you wrote</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B71C1C"/>
                </a:solidFill>
                <a:latin typeface="Red Hat Text"/>
              </a:rPr>
              <a:t>run() returns on no work, not on done</a:t>
            </a:r>
          </a:p>
          <a:p>
            <a:pPr algn="l">
              <a:lnSpc>
                <a:spcPct val="115000"/>
              </a:lnSpc>
            </a:pPr>
            <a:r>
              <a:rPr sz="1400" b="0" i="0">
                <a:solidFill>
                  <a:srgbClr val="151515"/>
                </a:solidFill>
                <a:latin typeface="Red Hat Text"/>
              </a:rPr>
              <a:t>•  A freshly constructed io_context has nothing queued -- run() returns the moment it finds no outstanding work</a:t>
            </a:r>
          </a:p>
          <a:p>
            <a:pPr algn="l">
              <a:lnSpc>
                <a:spcPct val="115000"/>
              </a:lnSpc>
            </a:pPr>
            <a:r>
              <a:rPr sz="1400" b="0" i="0">
                <a:solidFill>
                  <a:srgbClr val="151515"/>
                </a:solidFill>
                <a:latin typeface="Red Hat Text"/>
              </a:rPr>
              <a:t>•  executor_work_guard is a claim against that refcount, independent of whether any work has been posted yet</a:t>
            </a:r>
          </a:p>
          <a:p>
            <a:pPr algn="l">
              <a:lnSpc>
                <a:spcPct val="115000"/>
              </a:lnSpc>
            </a:pPr>
            <a:r>
              <a:rPr sz="1400" b="0" i="0">
                <a:solidFill>
                  <a:srgbClr val="151515"/>
                </a:solidFill>
                <a:latin typeface="Red Hat Text"/>
              </a:rPr>
              <a:t>•  Releasing the guard is how a program tells its io_context threads to drain and exit, without cutting off work mid-flight</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asio::io_context ioc;</a:t>
            </a:r>
          </a:p>
          <a:p>
            <a:r>
              <a:rPr sz="1100">
                <a:solidFill>
                  <a:srgbClr val="F4F4F4"/>
                </a:solidFill>
                <a:latin typeface="Red Hat Mono"/>
              </a:rPr>
              <a:t>auto guard = asio::make_work_guard(ioc);</a:t>
            </a:r>
          </a:p>
          <a:p>
            <a:r>
              <a:rPr sz="1100">
                <a:solidFill>
                  <a:srgbClr val="F4F4F4"/>
                </a:solidFill>
                <a:latin typeface="Red Hat Mono"/>
              </a:rPr>
              <a:t>asio::post(ioc, [&amp;guard] {</a:t>
            </a:r>
          </a:p>
          <a:p>
            <a:r>
              <a:rPr sz="1100">
                <a:solidFill>
                  <a:srgbClr val="F4F4F4"/>
                </a:solidFill>
                <a:latin typeface="Red Hat Mono"/>
              </a:rPr>
              <a:t>    do_startup_work();</a:t>
            </a:r>
          </a:p>
          <a:p>
            <a:r>
              <a:rPr sz="1100">
                <a:solidFill>
                  <a:srgbClr val="F4F4F4"/>
                </a:solidFill>
                <a:latin typeface="Red Hat Mono"/>
              </a:rPr>
              <a:t>    guard.reset();   // release the claim; run() may now return</a:t>
            </a:r>
          </a:p>
          <a:p>
            <a:r>
              <a:rPr sz="1100">
                <a:solidFill>
                  <a:srgbClr val="F4F4F4"/>
                </a:solidFill>
                <a:latin typeface="Red Hat Mono"/>
              </a:rPr>
              <a:t>});</a:t>
            </a:r>
          </a:p>
          <a:p>
            <a:r>
              <a:rPr sz="1100">
                <a:solidFill>
                  <a:srgbClr val="F4F4F4"/>
                </a:solidFill>
                <a:latin typeface="Red Hat Mono"/>
              </a:rPr>
              <a:t>std::thread t([&amp;ioc] { ioc.run(); });   // blocks until reset()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Async Runtimes and Event Loops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§9</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Async Runtimes and Event Loops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41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A strand defers; a mutex blocks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006E6E"/>
                </a:solidFill>
                <a:latin typeface="Red Hat Text"/>
              </a:rPr>
              <a:t>Serialization without a lock</a:t>
            </a:r>
          </a:p>
          <a:p>
            <a:pPr algn="l">
              <a:lnSpc>
                <a:spcPct val="115000"/>
              </a:lnSpc>
            </a:pPr>
            <a:r>
              <a:rPr sz="1400" b="0" i="0">
                <a:solidFill>
                  <a:srgbClr val="151515"/>
                </a:solidFill>
                <a:latin typeface="Red Hat Text"/>
              </a:rPr>
              <a:t>•  Handlers posted through a strand never run concurrently with each other, no matter how many threads call run()</a:t>
            </a:r>
          </a:p>
          <a:p>
            <a:pPr algn="l">
              <a:lnSpc>
                <a:spcPct val="115000"/>
              </a:lnSpc>
            </a:pPr>
            <a:r>
              <a:rPr sz="1400" b="0" i="0">
                <a:solidFill>
                  <a:srgbClr val="151515"/>
                </a:solidFill>
                <a:latin typeface="Red Hat Text"/>
              </a:rPr>
              <a:t>•  An unsynchronized counter, incremented 2,000 times by 8 threads through a strand, lands on exactly 2,000, every time</a:t>
            </a:r>
          </a:p>
          <a:p>
            <a:pPr algn="l">
              <a:lnSpc>
                <a:spcPct val="115000"/>
              </a:lnSpc>
            </a:pPr>
            <a:r>
              <a:rPr sz="1400" b="0" i="0">
                <a:solidFill>
                  <a:srgbClr val="151515"/>
                </a:solidFill>
                <a:latin typeface="Red Hat Text"/>
              </a:rPr>
              <a:t>•  Posted straight to the io_context instead, the same counter comes back short -- only the executor changed</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asio::strand&lt;asio::io_context::executor_type&gt;</a:t>
            </a:r>
          </a:p>
          <a:p>
            <a:r>
              <a:rPr sz="1100">
                <a:solidFill>
                  <a:srgbClr val="F4F4F4"/>
                </a:solidFill>
                <a:latin typeface="Red Hat Mono"/>
              </a:rPr>
              <a:t>    strand(ioc.get_executor());</a:t>
            </a:r>
          </a:p>
          <a:p>
            <a:r>
              <a:rPr sz="1100">
                <a:solidFill>
                  <a:srgbClr val="F4F4F4"/>
                </a:solidFill>
                <a:latin typeface="Red Hat Mono"/>
              </a:rPr>
              <a:t>long counter = 0;   // deliberately unsynchronized</a:t>
            </a:r>
          </a:p>
          <a:p>
            <a:r>
              <a:rPr sz="1100">
                <a:solidFill>
                  <a:srgbClr val="F4F4F4"/>
                </a:solidFill>
                <a:latin typeface="Red Hat Mono"/>
              </a:rPr>
              <a:t>for (int i = 0; i &lt; 2000; ++i) {</a:t>
            </a:r>
          </a:p>
          <a:p>
            <a:r>
              <a:rPr sz="1100">
                <a:solidFill>
                  <a:srgbClr val="F4F4F4"/>
                </a:solidFill>
                <a:latin typeface="Red Hat Mono"/>
              </a:rPr>
              <a:t>    asio::post(strand, [&amp;counter] { ++counter; });</a:t>
            </a:r>
          </a:p>
          <a:p>
            <a:r>
              <a:rPr sz="1100">
                <a:solidFill>
                  <a:srgbClr val="F4F4F4"/>
                </a:solidFill>
                <a:latin typeface="Red Hat Mono"/>
              </a:rPr>
              <a:t>}</a:t>
            </a:r>
          </a:p>
          <a:p>
            <a:r>
              <a:rPr sz="1100">
                <a:solidFill>
                  <a:srgbClr val="F4F4F4"/>
                </a:solidFill>
                <a:latin typeface="Red Hat Mono"/>
              </a:rPr>
              <a:t>// 8 threads drain the queue: counter == 2000, every time</a:t>
            </a:r>
          </a:p>
          <a:p>
            <a:r>
              <a:rPr sz="1100">
                <a:solidFill>
                  <a:srgbClr val="F4F4F4"/>
                </a:solidFill>
                <a:latin typeface="Red Hat Mono"/>
              </a:rPr>
              <a:t>// a mutex blocks a thread; a strand defers a handler instead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§10</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Fibers and Stackful Coroutines</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Cost and capability move together: a thread's stack, a fiber's stack, and a coroutine's frame, in that order.</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42 / 54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Fibers and Stackful Coroutines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§10</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Fibers and Stackful Coroutines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43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Suspend from an ordinary function</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0066CC"/>
                </a:solidFill>
                <a:latin typeface="Red Hat Text"/>
              </a:rPr>
              <a:t>Sidestepping function coloring</a:t>
            </a:r>
          </a:p>
          <a:p>
            <a:pPr algn="l">
              <a:lnSpc>
                <a:spcPct val="115000"/>
              </a:lnSpc>
            </a:pPr>
            <a:r>
              <a:rPr sz="1400" b="0" i="0">
                <a:solidFill>
                  <a:srgbClr val="151515"/>
                </a:solidFill>
                <a:latin typeface="Red Hat Text"/>
              </a:rPr>
              <a:t>•  co_await only ever suspends the coroutine that contains it -- a non-coroutine link anywhere breaks the chain</a:t>
            </a:r>
          </a:p>
          <a:p>
            <a:pPr algn="l">
              <a:lnSpc>
                <a:spcPct val="115000"/>
              </a:lnSpc>
            </a:pPr>
            <a:r>
              <a:rPr sz="1400" b="0" i="0">
                <a:solidFill>
                  <a:srgbClr val="151515"/>
                </a:solidFill>
                <a:latin typeface="Red Hat Text"/>
              </a:rPr>
              <a:t>•  A fiber's context switch is a handful of registers saved to one stack and restored from another, in user space</a:t>
            </a:r>
          </a:p>
          <a:p>
            <a:pPr algn="l">
              <a:lnSpc>
                <a:spcPct val="115000"/>
              </a:lnSpc>
            </a:pPr>
            <a:r>
              <a:rPr sz="1400" b="0" i="0">
                <a:solidFill>
                  <a:srgbClr val="151515"/>
                </a:solidFill>
                <a:latin typeface="Red Hat Text"/>
              </a:rPr>
              <a:t>•  Yielding never asks the compiler for anything -- it works inside code the compiler has never heard of</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void leaf() {</a:t>
            </a:r>
          </a:p>
          <a:p>
            <a:r>
              <a:rPr sz="1100">
                <a:solidFill>
                  <a:srgbClr val="F4F4F4"/>
                </a:solidFill>
                <a:latin typeface="Red Hat Mono"/>
              </a:rPr>
              <a:t>    boost::this_fiber::yield();   // suspend from an ORDINARY function</a:t>
            </a:r>
          </a:p>
          <a:p>
            <a:r>
              <a:rPr sz="1100">
                <a:solidFill>
                  <a:srgbClr val="F4F4F4"/>
                </a:solidFill>
                <a:latin typeface="Red Hat Mono"/>
              </a:rPr>
              <a:t>}</a:t>
            </a:r>
          </a:p>
          <a:p>
            <a:r>
              <a:rPr sz="1100">
                <a:solidFill>
                  <a:srgbClr val="F4F4F4"/>
                </a:solidFill>
                <a:latin typeface="Red Hat Mono"/>
              </a:rPr>
              <a:t> </a:t>
            </a:r>
          </a:p>
          <a:p>
            <a:r>
              <a:rPr sz="1100">
                <a:solidFill>
                  <a:srgbClr val="F4F4F4"/>
                </a:solidFill>
                <a:latin typeface="Red Hat Mono"/>
              </a:rPr>
              <a:t>void middle(int depth) {</a:t>
            </a:r>
          </a:p>
          <a:p>
            <a:r>
              <a:rPr sz="1100">
                <a:solidFill>
                  <a:srgbClr val="F4F4F4"/>
                </a:solidFill>
                <a:latin typeface="Red Hat Mono"/>
              </a:rPr>
              <a:t>    if (depth == 0) leaf();</a:t>
            </a:r>
          </a:p>
          <a:p>
            <a:r>
              <a:rPr sz="1100">
                <a:solidFill>
                  <a:srgbClr val="F4F4F4"/>
                </a:solidFill>
                <a:latin typeface="Red Hat Mono"/>
              </a:rPr>
              <a:t>    else middle(depth - 1);       // five ordinary stack frames deep</a:t>
            </a:r>
          </a:p>
          <a:p>
            <a:r>
              <a:rPr sz="1100">
                <a:solidFill>
                  <a:srgbClr val="F4F4F4"/>
                </a:solidFill>
                <a:latin typeface="Red Hat Mono"/>
              </a:rPr>
              <a:t>}</a:t>
            </a:r>
          </a:p>
          <a:p>
            <a:r>
              <a:rPr sz="1100">
                <a:solidFill>
                  <a:srgbClr val="F4F4F4"/>
                </a:solidFill>
                <a:latin typeface="Red Hat Mono"/>
              </a:rPr>
              <a:t> </a:t>
            </a:r>
          </a:p>
          <a:p>
            <a:r>
              <a:rPr sz="1100">
                <a:solidFill>
                  <a:srgbClr val="F4F4F4"/>
                </a:solidFill>
                <a:latin typeface="Red Hat Mono"/>
              </a:rPr>
              <a:t>// called from the fiber's own entry function:</a:t>
            </a:r>
          </a:p>
          <a:p>
            <a:r>
              <a:rPr sz="1100">
                <a:solidFill>
                  <a:srgbClr val="F4F4F4"/>
                </a:solidFill>
                <a:latin typeface="Red Hat Mono"/>
              </a:rPr>
              <a:t>middle(5);</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Fibers and Stackful Coroutines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§10</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Fibers and Stackful Coroutines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44 / 54</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51515"/>
                </a:solidFill>
                <a:latin typeface="Red Hat Display"/>
              </a:rPr>
              <a:t>Three ways to pause</a:t>
            </a:r>
          </a:p>
        </p:txBody>
      </p:sp>
      <p:pic>
        <p:nvPicPr>
          <p:cNvPr id="9" name="Picture 8" descr="13-three-ways-to-pause.jpg"/>
          <p:cNvPicPr>
            <a:picLocks noChangeAspect="1"/>
          </p:cNvPicPr>
          <p:nvPr/>
        </p:nvPicPr>
        <p:blipFill>
          <a:blip r:embed="rId2"/>
          <a:stretch>
            <a:fillRect/>
          </a:stretch>
        </p:blipFill>
        <p:spPr>
          <a:xfrm>
            <a:off x="1622734" y="1463040"/>
            <a:ext cx="8916051" cy="4572000"/>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8A8A8A"/>
                </a:solidFill>
                <a:latin typeface="Red Hat Text"/>
              </a:rPr>
              <a:t>Figure 13.1 -- three ways to hold a paused computation: a thread's kernel-visible stack, a fiber's user-space stack, and a coroutine's heap frame, in decreasing cost and increasing restriction on where they may suspend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Fibers and Stackful Coroutines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§10</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Fibers and Stackful Coroutines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45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The guard page, and the scheduler choice</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B71C1C"/>
                </a:solidFill>
                <a:latin typeface="Red Hat Text"/>
              </a:rPr>
              <a:t>One page of determinism</a:t>
            </a:r>
          </a:p>
          <a:p>
            <a:pPr algn="l">
              <a:lnSpc>
                <a:spcPct val="115000"/>
              </a:lnSpc>
            </a:pPr>
            <a:r>
              <a:rPr sz="1400" b="0" i="0">
                <a:solidFill>
                  <a:srgbClr val="151515"/>
                </a:solidFill>
                <a:latin typeface="Red Hat Text"/>
              </a:rPr>
              <a:t>•  protected_fixedsize_stack maps one extra PROT_NONE page -- an overrun faults immediately instead of corrupting silently</a:t>
            </a:r>
          </a:p>
          <a:p>
            <a:pPr algn="l">
              <a:lnSpc>
                <a:spcPct val="115000"/>
              </a:lnSpc>
            </a:pPr>
            <a:r>
              <a:rPr sz="1400" b="0" i="0">
                <a:solidFill>
                  <a:srgbClr val="151515"/>
                </a:solidFill>
                <a:latin typeface="Red Hat Text"/>
              </a:rPr>
              <a:t>•  round_robin never migrates a fiber off its creating thread -- a lock-free programming model between yields</a:t>
            </a:r>
          </a:p>
          <a:p>
            <a:pPr algn="l">
              <a:lnSpc>
                <a:spcPct val="115000"/>
              </a:lnSpc>
            </a:pPr>
            <a:r>
              <a:rPr sz="1400" b="0" i="0">
                <a:solidFill>
                  <a:srgbClr val="151515"/>
                </a:solidFill>
                <a:latin typeface="Red Hat Text"/>
              </a:rPr>
              <a:t>•  shared_work spreads fibers across threads for parallelism, and makes thread_local a latent migration bug</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boost::context::protected_fixedsize_stack alloc(65536);</a:t>
            </a:r>
          </a:p>
          <a:p>
            <a:r>
              <a:rPr sz="1100">
                <a:solidFill>
                  <a:srgbClr val="F4F4F4"/>
                </a:solidFill>
                <a:latin typeface="Red Hat Mono"/>
              </a:rPr>
              <a:t>// 65536 usable bytes + one PROT_NONE guard page</a:t>
            </a:r>
          </a:p>
          <a:p>
            <a:r>
              <a:rPr sz="1100">
                <a:solidFill>
                  <a:srgbClr val="F4F4F4"/>
                </a:solidFill>
                <a:latin typeface="Red Hat Mono"/>
              </a:rPr>
              <a:t> </a:t>
            </a:r>
          </a:p>
          <a:p>
            <a:r>
              <a:rPr sz="1100">
                <a:solidFill>
                  <a:srgbClr val="F4F4F4"/>
                </a:solidFill>
                <a:latin typeface="Red Hat Mono"/>
              </a:rPr>
              <a:t>boost::fibers::use_scheduling_algorithm&lt;</a:t>
            </a:r>
          </a:p>
          <a:p>
            <a:r>
              <a:rPr sz="1100">
                <a:solidFill>
                  <a:srgbClr val="F4F4F4"/>
                </a:solidFill>
                <a:latin typeface="Red Hat Mono"/>
              </a:rPr>
              <a:t>    boost::fibers::algo::shared_work&gt;();</a:t>
            </a:r>
          </a:p>
          <a:p>
            <a:r>
              <a:rPr sz="1100">
                <a:solidFill>
                  <a:srgbClr val="F4F4F4"/>
                </a:solidFill>
                <a:latin typeface="Red Hat Mono"/>
              </a:rPr>
              <a:t>// a fiber can now resume on a different thread than it suspended 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§11</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Parallel Algorithms and Execution Policies</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par_unseq may interleave iterations within one thread -- a lock inside its callable can deadlock against itself.</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46 / 54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Parallel Algorithms and Execution Policies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Parallel Algorithms and Execution Policies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47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par relaxes order; par_unseq forbids blocking</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B36B00"/>
                </a:solidFill>
                <a:latin typeface="Red Hat Text"/>
              </a:rPr>
              <a:t>What each policy permits and forbids</a:t>
            </a:r>
          </a:p>
          <a:p>
            <a:pPr algn="l">
              <a:lnSpc>
                <a:spcPct val="115000"/>
              </a:lnSpc>
            </a:pPr>
            <a:r>
              <a:rPr sz="1400" b="0" i="0">
                <a:solidFill>
                  <a:srgbClr val="151515"/>
                </a:solidFill>
                <a:latin typeface="Red Hat Text"/>
              </a:rPr>
              <a:t>•  par: the callable must be safe to invoke concurrently -- a mutex inside it is perfectly legal</a:t>
            </a:r>
          </a:p>
          <a:p>
            <a:pPr algn="l">
              <a:lnSpc>
                <a:spcPct val="115000"/>
              </a:lnSpc>
            </a:pPr>
            <a:r>
              <a:rPr sz="1400" b="0" i="0">
                <a:solidFill>
                  <a:srgbClr val="151515"/>
                </a:solidFill>
                <a:latin typeface="Red Hat Text"/>
              </a:rPr>
              <a:t>•  par_unseq: the library may interleave iterations within a single thread for vectorization</a:t>
            </a:r>
          </a:p>
          <a:p>
            <a:pPr algn="l">
              <a:lnSpc>
                <a:spcPct val="115000"/>
              </a:lnSpc>
            </a:pPr>
            <a:r>
              <a:rPr sz="1400" b="0" i="0">
                <a:solidFill>
                  <a:srgbClr val="151515"/>
                </a:solidFill>
                <a:latin typeface="Red Hat Text"/>
              </a:rPr>
              <a:t>•  A lock inside a par_unseq callable can deadlock against itself -- not a race, a self-deadlock</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std::vector&lt;int&gt; data(1'000'000);</a:t>
            </a:r>
          </a:p>
          <a:p>
            <a:r>
              <a:rPr sz="1100">
                <a:solidFill>
                  <a:srgbClr val="F4F4F4"/>
                </a:solidFill>
                <a:latin typeface="Red Hat Mono"/>
              </a:rPr>
              <a:t>std::atomic&lt;long&gt; sum{0};</a:t>
            </a:r>
          </a:p>
          <a:p>
            <a:r>
              <a:rPr sz="1100">
                <a:solidFill>
                  <a:srgbClr val="F4F4F4"/>
                </a:solidFill>
                <a:latin typeface="Red Hat Mono"/>
              </a:rPr>
              <a:t>std::for_each(std::execution::par, data.begin(), data.end(),</a:t>
            </a:r>
          </a:p>
          <a:p>
            <a:r>
              <a:rPr sz="1100">
                <a:solidFill>
                  <a:srgbClr val="F4F4F4"/>
                </a:solidFill>
                <a:latin typeface="Red Hat Mono"/>
              </a:rPr>
              <a:t>              [&amp;sum](int x) {</a:t>
            </a:r>
          </a:p>
          <a:p>
            <a:r>
              <a:rPr sz="1100">
                <a:solidFill>
                  <a:srgbClr val="F4F4F4"/>
                </a:solidFill>
                <a:latin typeface="Red Hat Mono"/>
              </a:rPr>
              <a:t>                  sum.fetch_add(x, std::memory_order_relaxed);</a:t>
            </a:r>
          </a:p>
          <a:p>
            <a:r>
              <a:rPr sz="1100">
                <a:solidFill>
                  <a:srgbClr val="F4F4F4"/>
                </a:solidFill>
                <a:latin typeface="Red Hat Mono"/>
              </a:rPr>
              <a:t>              });</a:t>
            </a:r>
          </a:p>
          <a:p>
            <a:r>
              <a:rPr sz="1100">
                <a:solidFill>
                  <a:srgbClr val="F4F4F4"/>
                </a:solidFill>
                <a:latin typeface="Red Hat Mono"/>
              </a:rPr>
              <a:t> </a:t>
            </a:r>
          </a:p>
          <a:p>
            <a:r>
              <a:rPr sz="1100">
                <a:solidFill>
                  <a:srgbClr val="F4F4F4"/>
                </a:solidFill>
                <a:latin typeface="Red Hat Mono"/>
              </a:rPr>
              <a:t>// WRONG under par_unseq: a lock can deadlock against itself</a:t>
            </a:r>
          </a:p>
          <a:p>
            <a:r>
              <a:rPr sz="1100">
                <a:solidFill>
                  <a:srgbClr val="F4F4F4"/>
                </a:solidFill>
                <a:latin typeface="Red Hat Mono"/>
              </a:rPr>
              <a:t>std::mutex m;</a:t>
            </a:r>
          </a:p>
          <a:p>
            <a:r>
              <a:rPr sz="1100">
                <a:solidFill>
                  <a:srgbClr val="F4F4F4"/>
                </a:solidFill>
                <a:latin typeface="Red Hat Mono"/>
              </a:rPr>
              <a:t>std::for_each(std::execution::par_unseq, v.begin(), v.end(),</a:t>
            </a:r>
          </a:p>
          <a:p>
            <a:r>
              <a:rPr sz="1100">
                <a:solidFill>
                  <a:srgbClr val="F4F4F4"/>
                </a:solidFill>
                <a:latin typeface="Red Hat Mono"/>
              </a:rPr>
              <a:t>    [&amp;](int&amp; x) {</a:t>
            </a:r>
          </a:p>
          <a:p>
            <a:r>
              <a:rPr sz="1100">
                <a:solidFill>
                  <a:srgbClr val="F4F4F4"/>
                </a:solidFill>
                <a:latin typeface="Red Hat Mono"/>
              </a:rPr>
              <a:t>        std::lock_guard&lt;std::mutex&gt; lock(m);   // forbidden</a:t>
            </a:r>
          </a:p>
          <a:p>
            <a:r>
              <a:rPr sz="1100">
                <a:solidFill>
                  <a:srgbClr val="F4F4F4"/>
                </a:solidFill>
                <a:latin typeface="Red Hat Mono"/>
              </a:rPr>
              <a:t>        x = transform(x);</a:t>
            </a:r>
          </a:p>
          <a:p>
            <a:r>
              <a:rPr sz="1100">
                <a:solidFill>
                  <a:srgbClr val="F4F4F4"/>
                </a:solidFill>
                <a:latin typeface="Red Hat Mono"/>
              </a:rPr>
              <a:t>    });</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Parallel Algorithms and Execution Policies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Parallel Algorithms and Execution Policies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48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reduce needs a weaker operation, not more threads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0066CC"/>
                </a:solidFill>
                <a:latin typeface="Red Hat Text"/>
              </a:rPr>
              <a:t>Policy-parameterized vs. order-sensitive</a:t>
            </a:r>
          </a:p>
          <a:p>
            <a:pPr algn="l">
              <a:lnSpc>
                <a:spcPct val="115000"/>
              </a:lnSpc>
            </a:pPr>
            <a:r>
              <a:rPr sz="1400" b="0" i="0">
                <a:solidFill>
                  <a:srgbClr val="151515"/>
                </a:solidFill>
                <a:latin typeface="Red Hat Text"/>
              </a:rPr>
              <a:t>•  Most parallel algorithms are the sequential one plus a leading policy argument -- sort, for_each, transform</a:t>
            </a:r>
          </a:p>
          <a:p>
            <a:pPr algn="l">
              <a:lnSpc>
                <a:spcPct val="115000"/>
              </a:lnSpc>
            </a:pPr>
            <a:r>
              <a:rPr sz="1400" b="0" i="0">
                <a:solidFill>
                  <a:srgbClr val="151515"/>
                </a:solidFill>
                <a:latin typeface="Red Hat Text"/>
              </a:rPr>
              <a:t>•  reduce looks like accumulate but drops its strict left-to-right requirement -- it needs associative, usually commutative</a:t>
            </a:r>
          </a:p>
          <a:p>
            <a:pPr algn="l">
              <a:lnSpc>
                <a:spcPct val="115000"/>
              </a:lnSpc>
            </a:pPr>
            <a:r>
              <a:rPr sz="1400" b="0" i="0">
                <a:solidFill>
                  <a:srgbClr val="151515"/>
                </a:solidFill>
                <a:latin typeface="Red Hat Text"/>
              </a:rPr>
              <a:t>•  Floating-point reduce is not UB, but trades a reproducible rounding result for a different, also-valid one</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std::sort(std::execution::par, v.begin(), v.end());</a:t>
            </a:r>
          </a:p>
          <a:p>
            <a:r>
              <a:rPr sz="1100">
                <a:solidFill>
                  <a:srgbClr val="F4F4F4"/>
                </a:solidFill>
                <a:latin typeface="Red Hat Mono"/>
              </a:rPr>
              <a:t> </a:t>
            </a:r>
          </a:p>
          <a:p>
            <a:r>
              <a:rPr sz="1100">
                <a:solidFill>
                  <a:srgbClr val="F4F4F4"/>
                </a:solidFill>
                <a:latin typeface="Red Hat Mono"/>
              </a:rPr>
              <a:t>// reduce: associative + commutative required, order not fixed</a:t>
            </a:r>
          </a:p>
          <a:p>
            <a:r>
              <a:rPr sz="1100">
                <a:solidFill>
                  <a:srgbClr val="F4F4F4"/>
                </a:solidFill>
                <a:latin typeface="Red Hat Mono"/>
              </a:rPr>
              <a:t>std::transform_reduce(std::execution::par,</a:t>
            </a:r>
          </a:p>
          <a:p>
            <a:r>
              <a:rPr sz="1100">
                <a:solidFill>
                  <a:srgbClr val="F4F4F4"/>
                </a:solidFill>
                <a:latin typeface="Red Hat Mono"/>
              </a:rPr>
              <a:t>    in.begin(), in.end(), 0.0,</a:t>
            </a:r>
          </a:p>
          <a:p>
            <a:r>
              <a:rPr sz="1100">
                <a:solidFill>
                  <a:srgbClr val="F4F4F4"/>
                </a:solidFill>
                <a:latin typeface="Red Hat Mono"/>
              </a:rPr>
              <a:t>    std::plus&lt;&gt;{}, [](double x) { return x * x;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Parallel Algorithms and Execution Policies</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Parallel Algorithms and Execution Policies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49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Parallelism pays off past a crossover</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6A1B9A"/>
                </a:solidFill>
                <a:latin typeface="Red Hat Text"/>
              </a:rPr>
              <a:t>N x w versus the dispatch cost c</a:t>
            </a:r>
          </a:p>
          <a:p>
            <a:pPr algn="l">
              <a:lnSpc>
                <a:spcPct val="115000"/>
              </a:lnSpc>
            </a:pPr>
            <a:r>
              <a:rPr sz="1400" b="0" i="0">
                <a:solidFill>
                  <a:srgbClr val="151515"/>
                </a:solidFill>
                <a:latin typeface="Red Hat Text"/>
              </a:rPr>
              <a:t>•  A trivial per-element callable on a bandwidth-bound loop can lose to the sequential version once dispatch cost is added back</a:t>
            </a:r>
          </a:p>
          <a:p>
            <a:pPr algn="l">
              <a:lnSpc>
                <a:spcPct val="115000"/>
              </a:lnSpc>
            </a:pPr>
            <a:r>
              <a:rPr sz="1400" b="0" i="0">
                <a:solidFill>
                  <a:srgbClr val="151515"/>
                </a:solidFill>
                <a:latin typeface="Red Hat Text"/>
              </a:rPr>
              <a:t>•  The win shows up on large N with nontrivial per-element work -- not the small, tight loops a profiler flags as hot</a:t>
            </a:r>
          </a:p>
          <a:p>
            <a:pPr algn="l">
              <a:lnSpc>
                <a:spcPct val="115000"/>
              </a:lnSpc>
            </a:pPr>
            <a:r>
              <a:rPr sz="1400" b="0" i="0">
                <a:solidFill>
                  <a:srgbClr val="151515"/>
                </a:solidFill>
                <a:latin typeface="Red Hat Text"/>
              </a:rPr>
              <a:t>•  A standard library without a conforming parallel backend linked in may silently execute par as if seq had been requested</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 C++20 adds unseq: vectorize only, no cross-thread parallelism</a:t>
            </a:r>
          </a:p>
          <a:p>
            <a:r>
              <a:rPr sz="1100">
                <a:solidFill>
                  <a:srgbClr val="F4F4F4"/>
                </a:solidFill>
                <a:latin typeface="Red Hat Mono"/>
              </a:rPr>
              <a:t>std::for_each(std::execution::unseq, v.begin(), v.end(),</a:t>
            </a:r>
          </a:p>
          <a:p>
            <a:r>
              <a:rPr sz="1100">
                <a:solidFill>
                  <a:srgbClr val="F4F4F4"/>
                </a:solidFill>
                <a:latin typeface="Red Hat Mono"/>
              </a:rPr>
              <a:t>              [](double&amp; x) { x = std::sqrt(x); });</a:t>
            </a:r>
          </a:p>
          <a:p>
            <a:r>
              <a:rPr sz="1100">
                <a:solidFill>
                  <a:srgbClr val="F4F4F4"/>
                </a:solidFill>
                <a:latin typeface="Red Hat Mono"/>
              </a:rPr>
              <a:t> </a:t>
            </a:r>
          </a:p>
          <a:p>
            <a:r>
              <a:rPr sz="1100">
                <a:solidFill>
                  <a:srgbClr val="F4F4F4"/>
                </a:solidFill>
                <a:latin typeface="Red Hat Mono"/>
              </a:rPr>
              <a:t>// parallelism pays off once N * w comfortably exceeds the fixed</a:t>
            </a:r>
          </a:p>
          <a:p>
            <a:r>
              <a:rPr sz="1100">
                <a:solidFill>
                  <a:srgbClr val="F4F4F4"/>
                </a:solidFill>
                <a:latin typeface="Red Hat Mono"/>
              </a:rPr>
              <a:t>// dispatch cost c -- a single-multiply transform is bandwidth-</a:t>
            </a:r>
          </a:p>
          <a:p>
            <a:r>
              <a:rPr sz="1100">
                <a:solidFill>
                  <a:srgbClr val="F4F4F4"/>
                </a:solidFill>
                <a:latin typeface="Red Hat Mono"/>
              </a:rPr>
              <a:t>// bound long before it is compute-bound; measure before converting.</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AB0000"/>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EE0000"/>
                </a:solidFill>
                <a:latin typeface="Red Hat Display"/>
              </a:rPr>
              <a:t>§12</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Red Hat Display"/>
              </a:rPr>
              <a:t>Thread Pools and Work Scheduling</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8A8A8A"/>
                </a:solidFill>
                <a:latin typeface="Red Hat Text"/>
              </a:rPr>
              <a:t>hardware_concurrency() reports the host's hardware, not the slice the container was actually given.</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8A8A8A"/>
                </a:solidFill>
                <a:latin typeface="Red Hat Text"/>
              </a:rPr>
              <a:t>50 / 54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Thread Pools and Work Scheduling</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Thread Pools and Work Scheduling</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51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Size from the workload, not a guess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0066CC"/>
                </a:solidFill>
                <a:latin typeface="Red Hat Text"/>
              </a:rPr>
              <a:t>Two sizing rules, one cgroup check</a:t>
            </a:r>
          </a:p>
          <a:p>
            <a:pPr algn="l">
              <a:lnSpc>
                <a:spcPct val="115000"/>
              </a:lnSpc>
            </a:pPr>
            <a:r>
              <a:rPr sz="1400" b="0" i="0">
                <a:solidFill>
                  <a:srgbClr val="151515"/>
                </a:solidFill>
                <a:latin typeface="Red Hat Text"/>
              </a:rPr>
              <a:t>•  CPU-bound: one thread per core the workload may actually use concurrently -- no more</a:t>
            </a:r>
          </a:p>
          <a:p>
            <a:pPr algn="l">
              <a:lnSpc>
                <a:spcPct val="115000"/>
              </a:lnSpc>
            </a:pPr>
            <a:r>
              <a:rPr sz="1400" b="0" i="0">
                <a:solidFill>
                  <a:srgbClr val="151515"/>
                </a:solidFill>
                <a:latin typeface="Red Hat Text"/>
              </a:rPr>
              <a:t>•  I/O-bound: threads ~= cores x (1 + wait_time / compute_time)</a:t>
            </a:r>
          </a:p>
          <a:p>
            <a:pPr algn="l">
              <a:lnSpc>
                <a:spcPct val="115000"/>
              </a:lnSpc>
            </a:pPr>
            <a:r>
              <a:rPr sz="1400" b="0" i="0">
                <a:solidFill>
                  <a:srgbClr val="151515"/>
                </a:solidFill>
                <a:latin typeface="Red Hat Text"/>
              </a:rPr>
              <a:t>•  hardware_concurrency() reads the host's topology, not the container's cpu.max quota -- read the cgroup first</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F4F4F4"/>
                </a:solidFill>
                <a:latin typeface="Red Hat Mono"/>
              </a:rPr>
              <a:t>// CPU-bound: one thread per core the workload may actually use</a:t>
            </a:r>
          </a:p>
          <a:p>
            <a:r>
              <a:rPr sz="1100">
                <a:solidFill>
                  <a:srgbClr val="F4F4F4"/>
                </a:solidFill>
                <a:latin typeface="Red Hat Mono"/>
              </a:rPr>
              <a:t>// I/O-bound: threads ~= cores * (1 + wait_time / compute_time)</a:t>
            </a:r>
          </a:p>
          <a:p>
            <a:r>
              <a:rPr sz="1100">
                <a:solidFill>
                  <a:srgbClr val="F4F4F4"/>
                </a:solidFill>
                <a:latin typeface="Red Hat Mono"/>
              </a:rPr>
              <a:t> </a:t>
            </a:r>
          </a:p>
          <a:p>
            <a:r>
              <a:rPr sz="1100">
                <a:solidFill>
                  <a:srgbClr val="F4F4F4"/>
                </a:solidFill>
                <a:latin typeface="Red Hat Mono"/>
              </a:rPr>
              <a:t>// read cpu.max before trusting hardware_concurrency()</a:t>
            </a:r>
          </a:p>
          <a:p>
            <a:r>
              <a:rPr sz="1100">
                <a:solidFill>
                  <a:srgbClr val="F4F4F4"/>
                </a:solidFill>
                <a:latin typeface="Red Hat Mono"/>
              </a:rPr>
              <a:t>std::ifstream f("/sys/fs/cgroup/cpu.max");</a:t>
            </a:r>
          </a:p>
          <a:p>
            <a:r>
              <a:rPr sz="1100">
                <a:solidFill>
                  <a:srgbClr val="F4F4F4"/>
                </a:solidFill>
                <a:latin typeface="Red Hat Mono"/>
              </a:rPr>
              <a:t>long quota, period;</a:t>
            </a:r>
          </a:p>
          <a:p>
            <a:r>
              <a:rPr sz="1100">
                <a:solidFill>
                  <a:srgbClr val="F4F4F4"/>
                </a:solidFill>
                <a:latin typeface="Red Hat Mono"/>
              </a:rPr>
              <a:t>f &gt;&gt; quota &gt;&gt; period;   // "max" period means unlimited</a:t>
            </a:r>
          </a:p>
          <a:p>
            <a:r>
              <a:rPr sz="1100">
                <a:solidFill>
                  <a:srgbClr val="F4F4F4"/>
                </a:solidFill>
                <a:latin typeface="Red Hat Mono"/>
              </a:rPr>
              <a:t>unsigned cores = quota &gt; 0 ? quota / period</a:t>
            </a:r>
          </a:p>
          <a:p>
            <a:r>
              <a:rPr sz="1100">
                <a:solidFill>
                  <a:srgbClr val="F4F4F4"/>
                </a:solidFill>
                <a:latin typeface="Red Hat Mono"/>
              </a:rPr>
              <a:t>                           : std::thread::hardware_concurrency();</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Thread Pools and Work Scheduling</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Thread Pools and Work Scheduling</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52 / 54</a:t>
            </a:r>
          </a:p>
        </p:txBody>
      </p:sp>
      <p:sp>
        <p:nvSpPr>
          <p:cNvPr id="8" name="TextBox 7"/>
          <p:cNvSpPr txBox="1"/>
          <p:nvPr/>
        </p:nvSpPr>
        <p:spPr>
          <a:xfrm>
            <a:off x="457200" y="822960"/>
            <a:ext cx="10972800" cy="457200"/>
          </a:xfrm>
          <a:prstGeom prst="rect">
            <a:avLst/>
          </a:prstGeom>
          <a:noFill/>
        </p:spPr>
        <p:txBody>
          <a:bodyPr wrap="square" anchor="t" lIns="45720" rIns="45720">
            <a:spAutoFit/>
          </a:bodyPr>
          <a:lstStyle/>
          <a:p>
            <a:pPr algn="l"/>
            <a:r>
              <a:rPr sz="2800" b="1" i="0">
                <a:solidFill>
                  <a:srgbClr val="151515"/>
                </a:solidFill>
                <a:latin typeface="Red Hat Display"/>
              </a:rPr>
              <a:t>Work-stealing: owner and thief, opposite ends</a:t>
            </a:r>
          </a:p>
        </p:txBody>
      </p:sp>
      <p:pic>
        <p:nvPicPr>
          <p:cNvPr id="9" name="Picture 8" descr="15-work-stealing-deque.jpg"/>
          <p:cNvPicPr>
            <a:picLocks noChangeAspect="1"/>
          </p:cNvPicPr>
          <p:nvPr/>
        </p:nvPicPr>
        <p:blipFill>
          <a:blip r:embed="rId2"/>
          <a:stretch>
            <a:fillRect/>
          </a:stretch>
        </p:blipFill>
        <p:spPr>
          <a:xfrm>
            <a:off x="457200" y="1933177"/>
            <a:ext cx="11247120" cy="3631726"/>
          </a:xfrm>
          <a:prstGeom prst="rect">
            <a:avLst/>
          </a:prstGeom>
        </p:spPr>
      </p:pic>
      <p:sp>
        <p:nvSpPr>
          <p:cNvPr id="10" name="TextBox 9"/>
          <p:cNvSpPr txBox="1"/>
          <p:nvPr/>
        </p:nvSpPr>
        <p:spPr>
          <a:xfrm>
            <a:off x="457200" y="6172200"/>
            <a:ext cx="11247120" cy="320040"/>
          </a:xfrm>
          <a:prstGeom prst="rect">
            <a:avLst/>
          </a:prstGeom>
          <a:noFill/>
        </p:spPr>
        <p:txBody>
          <a:bodyPr wrap="square" anchor="t" lIns="45720" rIns="45720">
            <a:spAutoFit/>
          </a:bodyPr>
          <a:lstStyle/>
          <a:p>
            <a:pPr algn="ctr"/>
            <a:r>
              <a:rPr sz="1100" b="0" i="1">
                <a:solidFill>
                  <a:srgbClr val="8A8A8A"/>
                </a:solidFill>
                <a:latin typeface="Red Hat Text"/>
              </a:rPr>
              <a:t>Figure 15.1 -- a work-stealing pool: each worker pops its own freshly pushed work from the bottom of its deque, and an idle worker steals the oldest task from the top of a busy neighbor's deque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EE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Red Hat Display"/>
              </a:rPr>
              <a:t>Thread Pools and Work Scheduling</a:t>
            </a:r>
          </a:p>
        </p:txBody>
      </p:sp>
      <p:sp>
        <p:nvSpPr>
          <p:cNvPr id="4" name="Rounded Rectangle 3"/>
          <p:cNvSpPr/>
          <p:nvPr/>
        </p:nvSpPr>
        <p:spPr>
          <a:xfrm>
            <a:off x="10454335" y="164592"/>
            <a:ext cx="1463040" cy="320040"/>
          </a:xfrm>
          <a:prstGeom prst="roundRect">
            <a:avLst>
              <a:gd name="adj" fmla="val 50000"/>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Red Hat Display"/>
              </a:rPr>
              <a:t>§12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8A8A8A"/>
                </a:solidFill>
                <a:latin typeface="Red Hat Text"/>
              </a:rPr>
              <a:t>C++ Concurrency 101   |   Thread Pools and Work Scheduling</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8A8A8A"/>
                </a:solidFill>
                <a:latin typeface="Red Hat Text"/>
              </a:rPr>
              <a:t>53 / 54</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51515"/>
                </a:solidFill>
                <a:latin typeface="Red Hat Display"/>
              </a:rPr>
              <a:t>A jthread pool with cooperative shutdown</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2000" b="1" i="0">
                <a:solidFill>
                  <a:srgbClr val="006E6E"/>
                </a:solidFill>
                <a:latin typeface="Red Hat Text"/>
              </a:rPr>
              <a:t>Join discipline, built into the pool</a:t>
            </a:r>
          </a:p>
          <a:p>
            <a:pPr algn="l">
              <a:lnSpc>
                <a:spcPct val="115000"/>
              </a:lnSpc>
            </a:pPr>
            <a:r>
              <a:rPr sz="1400" b="0" i="0">
                <a:solidFill>
                  <a:srgbClr val="151515"/>
                </a:solidFill>
                <a:latin typeface="Red Hat Text"/>
              </a:rPr>
              <a:t>•  The destructor is implicit -- each jthread requests a stop and joins automatically</a:t>
            </a:r>
          </a:p>
          <a:p>
            <a:pPr algn="l">
              <a:lnSpc>
                <a:spcPct val="115000"/>
              </a:lnSpc>
            </a:pPr>
            <a:r>
              <a:rPr sz="1400" b="0" i="0">
                <a:solidFill>
                  <a:srgbClr val="151515"/>
                </a:solidFill>
                <a:latin typeface="Red Hat Text"/>
              </a:rPr>
              <a:t>•  cv_.wait(lk, st, predicate) wakes on either new work or a cooperative stop request</a:t>
            </a:r>
          </a:p>
          <a:p>
            <a:pPr algn="l">
              <a:lnSpc>
                <a:spcPct val="115000"/>
              </a:lnSpc>
            </a:pPr>
            <a:r>
              <a:rPr sz="1400" b="0" i="0">
                <a:solidFill>
                  <a:srgbClr val="151515"/>
                </a:solidFill>
                <a:latin typeface="Red Hat Text"/>
              </a:rPr>
              <a:t>•  move_only_function (C++23) drops the queue element's copyability requirement the pool never actually needed</a:t>
            </a:r>
          </a:p>
        </p:txBody>
      </p:sp>
      <p:sp>
        <p:nvSpPr>
          <p:cNvPr id="10" name="Rectangle 9"/>
          <p:cNvSpPr/>
          <p:nvPr/>
        </p:nvSpPr>
        <p:spPr>
          <a:xfrm>
            <a:off x="6217920" y="1554480"/>
            <a:ext cx="5486400" cy="4572000"/>
          </a:xfrm>
          <a:prstGeom prst="rect">
            <a:avLst/>
          </a:prstGeom>
          <a:solidFill>
            <a:srgbClr val="1515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000">
                <a:solidFill>
                  <a:srgbClr val="F4F4F4"/>
                </a:solidFill>
                <a:latin typeface="Red Hat Mono"/>
              </a:rPr>
              <a:t>class ThreadPool {</a:t>
            </a:r>
          </a:p>
          <a:p>
            <a:r>
              <a:rPr sz="1000">
                <a:solidFill>
                  <a:srgbClr val="F4F4F4"/>
                </a:solidFill>
                <a:latin typeface="Red Hat Mono"/>
              </a:rPr>
              <a:t>public:</a:t>
            </a:r>
          </a:p>
          <a:p>
            <a:r>
              <a:rPr sz="1000">
                <a:solidFill>
                  <a:srgbClr val="F4F4F4"/>
                </a:solidFill>
                <a:latin typeface="Red Hat Mono"/>
              </a:rPr>
              <a:t>    explicit ThreadPool(unsigned n) {</a:t>
            </a:r>
          </a:p>
          <a:p>
            <a:r>
              <a:rPr sz="1000">
                <a:solidFill>
                  <a:srgbClr val="F4F4F4"/>
                </a:solidFill>
                <a:latin typeface="Red Hat Mono"/>
              </a:rPr>
              <a:t>        for (unsigned i = 0; i &lt; n; ++i)</a:t>
            </a:r>
          </a:p>
          <a:p>
            <a:r>
              <a:rPr sz="1000">
                <a:solidFill>
                  <a:srgbClr val="F4F4F4"/>
                </a:solidFill>
                <a:latin typeface="Red Hat Mono"/>
              </a:rPr>
              <a:t>            workers_.emplace_back([this](std::stop_token st) { run(st); });</a:t>
            </a:r>
          </a:p>
          <a:p>
            <a:r>
              <a:rPr sz="1000">
                <a:solidFill>
                  <a:srgbClr val="F4F4F4"/>
                </a:solidFill>
                <a:latin typeface="Red Hat Mono"/>
              </a:rPr>
              <a:t>    }</a:t>
            </a:r>
          </a:p>
          <a:p>
            <a:r>
              <a:rPr sz="1000">
                <a:solidFill>
                  <a:srgbClr val="F4F4F4"/>
                </a:solidFill>
                <a:latin typeface="Red Hat Mono"/>
              </a:rPr>
              <a:t>    void submit(std::function&lt;void()&gt; task) {</a:t>
            </a:r>
          </a:p>
          <a:p>
            <a:r>
              <a:rPr sz="1000">
                <a:solidFill>
                  <a:srgbClr val="F4F4F4"/>
                </a:solidFill>
                <a:latin typeface="Red Hat Mono"/>
              </a:rPr>
              <a:t>        { std::lock_guard lk(mtx_);</a:t>
            </a:r>
          </a:p>
          <a:p>
            <a:r>
              <a:rPr sz="1000">
                <a:solidFill>
                  <a:srgbClr val="F4F4F4"/>
                </a:solidFill>
                <a:latin typeface="Red Hat Mono"/>
              </a:rPr>
              <a:t>          queue_.push_back(std::move(task)); }</a:t>
            </a:r>
          </a:p>
          <a:p>
            <a:r>
              <a:rPr sz="1000">
                <a:solidFill>
                  <a:srgbClr val="F4F4F4"/>
                </a:solidFill>
                <a:latin typeface="Red Hat Mono"/>
              </a:rPr>
              <a:t>        cv_.notify_one();</a:t>
            </a:r>
          </a:p>
          <a:p>
            <a:r>
              <a:rPr sz="1000">
                <a:solidFill>
                  <a:srgbClr val="F4F4F4"/>
                </a:solidFill>
                <a:latin typeface="Red Hat Mono"/>
              </a:rPr>
              <a:t>    }</a:t>
            </a:r>
          </a:p>
          <a:p>
            <a:r>
              <a:rPr sz="1000">
                <a:solidFill>
                  <a:srgbClr val="F4F4F4"/>
                </a:solidFill>
                <a:latin typeface="Red Hat Mono"/>
              </a:rPr>
              <a:t>private:</a:t>
            </a:r>
          </a:p>
          <a:p>
            <a:r>
              <a:rPr sz="1000">
                <a:solidFill>
                  <a:srgbClr val="F4F4F4"/>
                </a:solidFill>
                <a:latin typeface="Red Hat Mono"/>
              </a:rPr>
              <a:t>    void run(std::stop_token st) {</a:t>
            </a:r>
          </a:p>
          <a:p>
            <a:r>
              <a:rPr sz="1000">
                <a:solidFill>
                  <a:srgbClr val="F4F4F4"/>
                </a:solidFill>
                <a:latin typeface="Red Hat Mono"/>
              </a:rPr>
              <a:t>        while (true) {</a:t>
            </a:r>
          </a:p>
          <a:p>
            <a:r>
              <a:rPr sz="1000">
                <a:solidFill>
                  <a:srgbClr val="F4F4F4"/>
                </a:solidFill>
                <a:latin typeface="Red Hat Mono"/>
              </a:rPr>
              <a:t>            std::unique_lock lk(mtx_);</a:t>
            </a:r>
          </a:p>
          <a:p>
            <a:r>
              <a:rPr sz="1000">
                <a:solidFill>
                  <a:srgbClr val="F4F4F4"/>
                </a:solidFill>
                <a:latin typeface="Red Hat Mono"/>
              </a:rPr>
              <a:t>            cv_.wait(lk, st, [&amp;] { return !queue_.empty(); });</a:t>
            </a:r>
          </a:p>
          <a:p>
            <a:r>
              <a:rPr sz="1000">
                <a:solidFill>
                  <a:srgbClr val="F4F4F4"/>
                </a:solidFill>
                <a:latin typeface="Red Hat Mono"/>
              </a:rPr>
              <a:t>            if (st.stop_requested() &amp;&amp; queue_.empty()) return;</a:t>
            </a:r>
          </a:p>
          <a:p>
            <a:r>
              <a:rPr sz="1000">
                <a:solidFill>
                  <a:srgbClr val="F4F4F4"/>
                </a:solidFill>
                <a:latin typeface="Red Hat Mono"/>
              </a:rPr>
              <a:t>            auto task = std::move(queue_.front());</a:t>
            </a:r>
          </a:p>
          <a:p>
            <a:r>
              <a:rPr sz="1000">
                <a:solidFill>
                  <a:srgbClr val="F4F4F4"/>
                </a:solidFill>
                <a:latin typeface="Red Hat Mono"/>
              </a:rPr>
              <a:t>            queue_.pop_front();</a:t>
            </a:r>
          </a:p>
          <a:p>
            <a:r>
              <a:rPr sz="1000">
                <a:solidFill>
                  <a:srgbClr val="F4F4F4"/>
                </a:solidFill>
                <a:latin typeface="Red Hat Mono"/>
              </a:rPr>
              <a:t>            lk.unlock();</a:t>
            </a:r>
          </a:p>
          <a:p>
            <a:r>
              <a:rPr sz="1000">
                <a:solidFill>
                  <a:srgbClr val="F4F4F4"/>
                </a:solidFill>
                <a:latin typeface="Red Hat Mono"/>
              </a:rPr>
              <a:t>            task();</a:t>
            </a:r>
          </a:p>
          <a:p>
            <a:r>
              <a:rPr sz="1000">
                <a:solidFill>
                  <a:srgbClr val="F4F4F4"/>
                </a:solidFill>
                <a:latin typeface="Red Hat Mono"/>
              </a:rPr>
              <a:t>        }</a:t>
            </a:r>
          </a:p>
          <a:p>
            <a:r>
              <a:rPr sz="1000">
                <a:solidFill>
                  <a:srgbClr val="F4F4F4"/>
                </a:solidFill>
                <a:latin typeface="Red Hat Mono"/>
              </a:rPr>
              <a:t>    }</a:t>
            </a:r>
          </a:p>
          <a:p>
            <a:r>
              <a:rPr sz="1000">
                <a:solidFill>
                  <a:srgbClr val="F4F4F4"/>
                </a:solidFill>
                <a:latin typeface="Red Hat Mono"/>
              </a:rPr>
              <a:t>    std::mutex mtx_;</a:t>
            </a:r>
          </a:p>
          <a:p>
            <a:r>
              <a:rPr sz="1000">
                <a:solidFill>
                  <a:srgbClr val="F4F4F4"/>
                </a:solidFill>
                <a:latin typeface="Red Hat Mono"/>
              </a:rPr>
              <a:t>    std::condition_variable_any cv_;</a:t>
            </a:r>
          </a:p>
          <a:p>
            <a:r>
              <a:rPr sz="1000">
                <a:solidFill>
                  <a:srgbClr val="F4F4F4"/>
                </a:solidFill>
                <a:latin typeface="Red Hat Mono"/>
              </a:rPr>
              <a:t>    std::deque&lt;std::function&lt;void()&gt;&gt; queue_;</a:t>
            </a:r>
          </a:p>
          <a:p>
            <a:r>
              <a:rPr sz="1000">
                <a:solidFill>
                  <a:srgbClr val="F4F4F4"/>
                </a:solidFill>
                <a:latin typeface="Red Hat Mono"/>
              </a:rPr>
              <a:t>    std::vector&lt;std::jthread&gt; workers_;</a:t>
            </a:r>
          </a:p>
          <a:p>
            <a:r>
              <a:rPr sz="1000">
                <a:solidFill>
                  <a:srgbClr val="F4F4F4"/>
                </a:solidFill>
                <a:latin typeface="Red Hat Mono"/>
              </a:rPr>
              <a: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51515"/>
        </a:solidFill>
        <a:effectLst/>
      </p:bgPr>
    </p:bg>
    <p:spTree>
      <p:nvGrpSpPr>
        <p:cNvPr id="1" name=""/>
        <p:cNvGrpSpPr/>
        <p:nvPr/>
      </p:nvGrpSpPr>
      <p:grpSpPr/>
      <p:sp>
        <p:nvSpPr>
          <p:cNvPr id="2" name="TextBox 1"/>
          <p:cNvSpPr txBox="1"/>
          <p:nvPr/>
        </p:nvSpPr>
        <p:spPr>
          <a:xfrm>
            <a:off x="914400" y="1463040"/>
            <a:ext cx="10332720" cy="914400"/>
          </a:xfrm>
          <a:prstGeom prst="rect">
            <a:avLst/>
          </a:prstGeom>
          <a:noFill/>
        </p:spPr>
        <p:txBody>
          <a:bodyPr wrap="square" anchor="t" lIns="45720" rIns="45720">
            <a:spAutoFit/>
          </a:bodyPr>
          <a:lstStyle/>
          <a:p>
            <a:pPr algn="l"/>
            <a:r>
              <a:rPr sz="3600" b="1" i="0">
                <a:solidFill>
                  <a:srgbClr val="FFFFFF"/>
                </a:solidFill>
                <a:latin typeface="Red Hat Display"/>
              </a:rPr>
              <a:t>The toolkit is only half the job.</a:t>
            </a:r>
          </a:p>
        </p:txBody>
      </p:sp>
      <p:sp>
        <p:nvSpPr>
          <p:cNvPr id="3" name="TextBox 2"/>
          <p:cNvSpPr txBox="1"/>
          <p:nvPr/>
        </p:nvSpPr>
        <p:spPr>
          <a:xfrm>
            <a:off x="914400" y="2560320"/>
            <a:ext cx="10332720" cy="2560320"/>
          </a:xfrm>
          <a:prstGeom prst="rect">
            <a:avLst/>
          </a:prstGeom>
          <a:noFill/>
        </p:spPr>
        <p:txBody>
          <a:bodyPr wrap="square" anchor="t" lIns="45720" rIns="45720">
            <a:spAutoFit/>
          </a:bodyPr>
          <a:lstStyle/>
          <a:p>
            <a:pPr algn="l">
              <a:lnSpc>
                <a:spcPct val="115000"/>
              </a:lnSpc>
            </a:pPr>
            <a:r>
              <a:rPr sz="1800" b="0" i="0">
                <a:solidFill>
                  <a:srgbClr val="F4F4F4"/>
                </a:solidFill>
                <a:latin typeface="Red Hat Text"/>
              </a:rPr>
              <a:t>Every primitive in this deck compiles correctly long before it performs correctly under a real latency budget.</a:t>
            </a:r>
          </a:p>
          <a:p>
            <a:pPr algn="l">
              <a:lnSpc>
                <a:spcPct val="115000"/>
              </a:lnSpc>
              <a:spcBef>
                <a:spcPts val="1000"/>
              </a:spcBef>
            </a:pPr>
            <a:r>
              <a:rPr sz="1800" b="0" i="0">
                <a:solidFill>
                  <a:srgbClr val="F4F4F4"/>
                </a:solidFill>
                <a:latin typeface="Red Hat Text"/>
              </a:rPr>
              <a:t>jthread, the memory model, lock-free reclamation, and parallel algorithms are the vocabulary -- mechanical sympathy and the disruptor pattern are what turn that vocabulary into microseconds.</a:t>
            </a:r>
          </a:p>
          <a:p>
            <a:pPr algn="l">
              <a:lnSpc>
                <a:spcPct val="115000"/>
              </a:lnSpc>
              <a:spcBef>
                <a:spcPts val="1000"/>
              </a:spcBef>
            </a:pPr>
            <a:r>
              <a:rPr sz="1800" b="0" i="0">
                <a:solidFill>
                  <a:srgbClr val="EE0000"/>
                </a:solidFill>
                <a:latin typeface="Red Hat Text"/>
              </a:rPr>
              <a:t>Next: the 201 deck -- low-latency and HFT patterns built on exactly the primitives covered today.</a:t>
            </a:r>
          </a:p>
        </p:txBody>
      </p:sp>
      <p:sp>
        <p:nvSpPr>
          <p:cNvPr id="4" name="TextBox 3"/>
          <p:cNvSpPr txBox="1"/>
          <p:nvPr/>
        </p:nvSpPr>
        <p:spPr>
          <a:xfrm>
            <a:off x="914400" y="5394960"/>
            <a:ext cx="10332720" cy="457200"/>
          </a:xfrm>
          <a:prstGeom prst="rect">
            <a:avLst/>
          </a:prstGeom>
          <a:noFill/>
        </p:spPr>
        <p:txBody>
          <a:bodyPr wrap="square" anchor="t" lIns="45720" rIns="45720">
            <a:spAutoFit/>
          </a:bodyPr>
          <a:lstStyle/>
          <a:p>
            <a:pPr algn="l"/>
            <a:r>
              <a:rPr sz="1600" b="0" i="0">
                <a:solidFill>
                  <a:srgbClr val="8A8A8A"/>
                </a:solidFill>
                <a:latin typeface="Red Hat Text"/>
              </a:rPr>
              <a:t>Read the book  •  run the chapter examples  •  the source is on the repo</a:t>
            </a:r>
          </a:p>
        </p:txBody>
      </p:sp>
      <p:sp>
        <p:nvSpPr>
          <p:cNvPr id="5" name="TextBox 4"/>
          <p:cNvSpPr txBox="1"/>
          <p:nvPr/>
        </p:nvSpPr>
        <p:spPr>
          <a:xfrm>
            <a:off x="914400" y="5943600"/>
            <a:ext cx="10332720" cy="365760"/>
          </a:xfrm>
          <a:prstGeom prst="rect">
            <a:avLst/>
          </a:prstGeom>
          <a:noFill/>
        </p:spPr>
        <p:txBody>
          <a:bodyPr wrap="square" anchor="t" lIns="45720" rIns="45720">
            <a:spAutoFit/>
          </a:bodyPr>
          <a:lstStyle/>
          <a:p>
            <a:pPr algn="l"/>
            <a:r>
              <a:rPr sz="1100" b="0" i="0">
                <a:solidFill>
                  <a:srgbClr val="8A8A8A"/>
                </a:solidFill>
                <a:latin typeface="Red Hat Mono"/>
              </a:rPr>
              <a:t>github.com/patterncatalyst/cpp-concurrency-and-parallelism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