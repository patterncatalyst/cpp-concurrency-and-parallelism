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201 deck — the low-latency and high-throughput deep dive for senior and staff engineers building matching engines, feed handlers, and other systems where single-digit microseconds are the budget, not an aspiration. Where an introductory deck explains what a thread is, this one assumes that and goes straight at NUMA placement, false sharing, the Disruptor pattern, and a full pipeline that composes all of it under load.</a:t>
            </a:r>
          </a:p>
          <a:p>
            <a:r>
              <a:rPr sz="1200"/>
              <a:t>The spine is fourteen sections built from chapters 16 through 33 of the book: locality and vectorization, the benchmarking discipline that makes every later performance claim trustworthy, the fast path and mechanical sympathy, lock-free messaging, communication models and the actor model, concurrent REST and gRPC under load, error handling across thread boundaries, debugging and sanitizers, observability, coding practices and architecture patterns, running correctly in a container, and a full end-to-end example order-book pipeline that ties the whole arc together.</a:t>
            </a:r>
          </a:p>
          <a:p>
            <a:r>
              <a:rPr sz="1200"/>
              <a:t>Every pattern in this deck has a runnable companion under examples/concurrency/, and we will cue each demo at the point its pattern is introduced — eight of them across the deck, from NUMA placement in a disposable KVM lab through the full ingest-match-publish pipeline measured under a deliberate overload burst.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Fourteen sections, two movements. Sections one through six build the low-latency foundation — locality, vectorization, benchmarking methodology, the fast path, mechanical sympathy, and lock-free messaging. Sections seven through thirteen widen into throughput and correctness at scale — communication models and actors, concurrent REST and gRPC, error handling across boundaries, debugging and sanitizers, observability, coding and architecture patterns, and running correctly under a container's real resource limits.</a:t>
            </a:r>
          </a:p>
          <a:p>
            <a:r>
              <a:rPr sz="1200"/>
              <a:t>Section fourteen closes with the full example: a single ingest-match-publish pipeline that composes a thread pool, a pinned single-writer thread, lock-free rings, and full tracing into one measured system, proving the earlier sections' individually-true claims hold up stacked together. Eight sections pause on a demo cue where the pattern has a runnable companion.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opens the deep-dive compendium at chapter 16. The thesis: a multi-socket server, or a single chip built from several dies, gives every core a fast path to its own local memory and a slower one to every other node's. Pinning a thread to a node and placing its memory on that same node are two separate problems, and getting only one of them right still leaves the remote-access penalty in place.</a:t>
            </a:r>
          </a:p>
          <a:p>
            <a:r>
              <a:rPr sz="1200"/>
              <a:t>The running example provisions a disposable KVM guest with a real two-node topology, because the remote-latency gap this chapter measures cannot be reproduced truthfully inside an ordinary container on a single-node host.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First-touch placement is the default allocation policy on every mainstream Linux distribution, and it's easy to get backwards: the thread that writes a page first determines which node's physical memory backs it, regardless of which thread allocated it or which thread does the bulk of the work afterward.</a:t>
            </a:r>
          </a:p>
          <a:p>
            <a:r>
              <a:rPr sz="1200"/>
              <a:t>The bug shape is specific and common: a reasonable-looking init loop on the main thread binds a buffer to the wrong node before it's ever handed to the worker pool that actually owns it. Nothing in the source names the mistake directly; there's no visible allocation call on the wrong node, just an initialization loop that ran before anyone decided which thread should own which memory. The fix is either explicit (numa_alloc_onnode) or structural (each worker touches its own slice first, so first-touch does the right thing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numbers to anchor the chapter. numactl's relative distance matrix is a proxy for the real latency gap, not the gap itself; a remote access routinely costs thirty to sixty percent more than a local one, and the exact figure is worth measuring on the target platform rather than assumed from a vendor spec sheet.</a:t>
            </a:r>
          </a:p>
          <a:p>
            <a:r>
              <a:rPr sz="1200"/>
              <a:t>The cache line number matters because the two costs compound: a line bounced between cores on the same node pays only the coherence cost, while the identical false-sharing pattern across nodes pays that cost plus the cross-node interconnect latency, because invalidating a remote core's cached copy is itself a message that crosses the same interconnect a remote read would. Padding fixes the coherence half; node-local placement fixes the other half, and a design needs both to close the gap completely.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Pinning and NUMA placement are reached the same way at every standard this book tracks, through a jthread's native_handle() plus a POSIX or libnuma call underneath. The standard library gives cooperative cancellation; it gives no node-aware allocator and no affinity API of its own, at C++20, C++23, or C++26.</a:t>
            </a:r>
          </a:p>
          <a:p>
            <a:r>
              <a:rPr sz="1200"/>
              <a:t>A subtler container trap worth naming here: a cpuset that restricts cores but leaves cpuset.mems open to every node reintroduces exactly the remote-access penalty this chapter spends two sections eliminating, because nothing told the kernel to prefer the container's own node for its memory. A process inside a cpuset-restricted container that calls numa_alloc_onnode for an excluded node doesn't fail loudly either; it silently falls back to an allowed node, which is a second, quieter way the same misconfiguration surfaces.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one demo in the deck that runs in a KVM lab rather than a plain container, and that choice is itself the point worth making out loud: NUMA placement and real local-versus-remote latency cannot be reproduced truthfully inside an ordinary container on a single-node host, so the example provisions a disposable guest instead of working around the limitation.</a:t>
            </a:r>
          </a:p>
          <a:p>
            <a:r>
              <a:rPr sz="1200"/>
              <a:t>What to show: the guest's verify.lua reads back the actual node of every page with get_mempolicy and confirms the placement and fallback behaviors directly rather than asserting them from the side. Flag the demo's own caveat too: on a host with only one physical NUMA node the guest's second node is emulated, so placement and fallback are real and verified, but the remote-latency penalty itself isn't reproduced on that topology. No host-level NUMA, governor, or isolcpus setting is ever touched; only the disposable guest's configuration moves.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SIMD parallelizes inside a single thread, across data, rather than across independent execution units. The two forms of parallelism are complementary: a thread pool divides work across cores, and each thread's share of that work can itself be vectorized. Almost every SIMD failure mode comes down to the compiler being unable to prove something about the data that the programmer already knows to be true — aliasing, a data-dependent branch, or a layout that scatters the one field a vector load actually wants.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autovectorizer declines rather than guesses whenever it can't prove a transformation preserves observable behavior — pointer aliasing, a branch that picks a different computation per lane, or a gather/scatter access pattern all trip the same silent fallback to a scalar loop, with no diagnostic unless one is explicitly requested.</a:t>
            </a:r>
          </a:p>
          <a:p>
            <a:r>
              <a:rPr sz="1200"/>
              <a:t>Layout is usually decided long before the hot loop is written, in the struct definition, and it matters more than any compiler flag: SoA turns a scattered, gap-filled access pattern into the contiguous run a vector load needs, at the cost of four separate lookups for code that wants one whole entity at a time. The usual resolution keeps SoA for anything running through a hot, vectorizable loop and tolerates the extra indirection elsewhere.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ways to get vectorized code exist today, trading portability, control, and maintenance cost differently. Trusting the autovectorizer costs nothing in code complexity and is the right default for most code; hand-written intrinsics are the right tool only once the autovectorizer provably can't produce what's needed.</a:t>
            </a:r>
          </a:p>
          <a:p>
            <a:r>
              <a:rPr sz="1200"/>
              <a:t>std::experimental::simd sits between the two — write the width-agnostic operation once, and the library maps it onto the target's actual register width, with a correct scalar fallback anywhere nothing matches. C++26's std::simd targets the identical API shape but ships in no mainstream standard library as of this writing; the experimental header is the stable, usable predecessor to reach for in production code, not a stand-in to migrate away from casually once the real thing ships.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Lead with the correctness assertion before the performance one: all three update variants have to produce bit-identical positions, which is the demo's way of proving a layout or instruction-set change never alters the computed result, only its cost.</a:t>
            </a:r>
          </a:p>
          <a:p>
            <a:r>
              <a:rPr sz="1200"/>
              <a:t>The speed comparison is reported as information, not a hard pass/fail gate, because SIMD throughput depends on the CPU features actually present on the machine running the demo. Report this to the room: a binary built with -march=native on one host and shipped to a fleet with older CPUs doesn't run slower, it faults outright on the first instruction the hardware doesn't have.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Not a specific result, but the discipline that makes any result in this book trustworthy: discard the cold calls, correct for coordinated omission, report a percentile instead of a mean, measure wall-clock time on a monotonic clock, and keep the compiler from deleting the very thing being measured. Everything that follows answers one question — when a measurement says a path takes 47 nanoseconds, what has to be true for that number to mean what it claims.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benchmark's timed loop is almost always closed: one iteration finishes before the next begins. A real caller sending requests at a fixed rate doesn't pause while a stall plays out; five or ten more requests queue up behind it, each paying a delay close to the stall's own length, and a closed-loop timer records exactly one sample for the whole event.</a:t>
            </a:r>
          </a:p>
          <a:p>
            <a:r>
              <a:rPr sz="1200"/>
              <a:t>Gil Tene's name for this, coordinated omission, is precise: the benchmark didn't just under-measure the tail, it erased the part of the distribution the tail exists to describe. The correction is mechanical once the picture is clear — backfill v-E, v-2E, and so on down to E for every sample exceeding the expected interval, capped so one pathological stall can't grow the array without limit.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Latency distributions are heavy-tailed, and averaging a heavy tail drags the mean toward exactly the outliers a reader most needs to see reported accurately, while hiding how bad the tail actually gets. A percentile answers a sharper question — what latency do ninety-nine percent of calls beat — without blending the tail into the body.</a:t>
            </a:r>
          </a:p>
          <a:p>
            <a:r>
              <a:rPr sz="1200"/>
              <a:t>The compiler-deletion trap has nothing to do with clocks: if a timed iteration's result is never read, the optimizer is entitled to remove the computation entirely, leaving an accurate measurement of an empty loop. Folding every iteration's output into a running checksum the program prints at the end defeats that, and doubles as a correctness check — a diverging checksum across two runs signals a logic bug, not measurement noise.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point of the --naive mode is pedagogical: it makes the methodology gap visible in the program's own output rather than only in prose. A naive, unwarmed single-sample timing has no p50, no p99, and nothing to assert against — it simply doesn't produce the vocabulary a trustworthy benchmark needs.</a:t>
            </a:r>
          </a:p>
          <a:p>
            <a:r>
              <a:rPr sz="1200"/>
              <a:t>Every later chapter in this deck that cites a performance number is leaning on exactly this harness rather than re-deriving its own, so this is worth treating as the deck's foundation demo, not a one-off. Watch co_p99 track visibly above the raw p99 once the workload includes any scheduling noise at 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Once a p99 can be trusted, the next question is how to make it small. The answer on Linux is a short, specific list: pin a core, reuse one buffer, decide busy-poll versus block — each targeted at removing one concrete source of the multi-microsecond stalls the previous chapter's corrected percentile exists to surface. A fast path isn't the code with no cost; it's the code whose cost has been moved somewhere predictable and paid for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Each move targets a specific line item in a latency budget and is worthless, or harmful, applied without a reason. A thread pinned to a single core that then blocks on a lock has nowhere else to run once runnable again — pinning a thread that isn't actually CPU-bound just reproduces, on purpose, the bottleneck the scheduler's default migration would otherwise relieve.</a:t>
            </a:r>
          </a:p>
          <a:p>
            <a:r>
              <a:rPr sz="1200"/>
              <a:t>The workloads that benefit are the ones the scheduler actively hurts by moving: a tight polling loop, a hot path with a resident working set a migration would evict, or a pipeline stage whose pinned neighbors depend on this one holding steady timing. isolcpus at boot removes cores from the kernel's normal rotation entirely, so pinning plus isolation together give a latency-critical thread a core the rest of the system has agreed to leave alone.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careless implementation of the affinity-count check quietly breaks under a container: a count that reflects the current affinity mask instead of the system-wide core count rejects a valid pin target the moment something upstream has already narrowed the mask — the identical bug shape hardware_concurrency() has when it reads a cgroup quota instead of the host's real core count, reached through a different door.</a:t>
            </a:r>
          </a:p>
          <a:p>
            <a:r>
              <a:rPr sz="1200"/>
              <a:t>Zero-allocation hot paths generalize past the obvious inbound-buffer case: any container growth on the path — a vector reallocating because capacity wasn't reserved, a string built incrementally — reintroduces the same variable cost less visibly. reserve() ahead of the loop closes that door at compile time rather than relying on every call site remembering not to trigger a reallocation.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Order matters here: optimizing a branch before pinning, allocation, and blocking behavior are settled spends effort on a cost an order of magnitude smaller than the ones still sitting unaddressed. A single-producer/single-consumer handoff can usually avoid a lock entirely by construction, using two atomics the way the disruptor pattern in the next section does.</a:t>
            </a:r>
          </a:p>
          <a:p>
            <a:r>
              <a:rPr sz="1200"/>
              <a:t>Kernel-bypass networking maps a network interface's queues directly into userspace, removing the per-packet kernel transition a busy-poll loop still pays. The cost is a large jump in operational complexity — no ordinary socket tooling, no kernel firewall rules, a driver model specific to the bypass framework — which is why this deck treats it as the tier to reach for only once a standard busy-poll path has been measured and found insufficient, not a default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Once a hot path allocates nothing and touches a fixed set of memory on every iteration, that memory's own layout matters as much as whether it's allocated at all. A CPU cache moves fixed-size 64-byte lines, not individual bytes, and false sharing is the resulting failure: two logically unrelated variables land on the same line, and every write by either thread evicts the other's cached copy of the whole line.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shape is easy to construct by accident: two std::atomic&lt;uint64_t&gt; counters declared adjacently in a struct, each incremented by its own dedicated thread, sit well within a single 64-byte line with nothing logically connecting them, yet behave from a cache-traffic perspective exactly like one atomic under contention.</a:t>
            </a:r>
          </a:p>
          <a:p>
            <a:r>
              <a:rPr sz="1200"/>
              <a:t>Struct layout should follow who writes a field, not what reads naturally together semantically — hot, writer-owned fields each get their own padded line, while cold, read-mostly fields can safely share one, since nobody is contending to write them. A container's CPU quota or cpuset changes nothing about this; cache-line granularity is a hardware property no cgroup touches. NUMA placement is what compounds with it — a false-sharing pair split across nodes pays the coherence cost and the cross-node interconnect penalty together.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turns N threads contending on one hot atomic into N threads each writing a plain, non-atomic local variable, with the summation cost paid once per read rather than once per write. A single hot atomic every thread contends on is never faster than this shape once contention is real; it's only simpler to write.</a:t>
            </a:r>
          </a:p>
          <a:p>
            <a:r>
              <a:rPr sz="1200"/>
              <a:t>The shard count itself is a tuning parameter, not a fixed answer — too few shards and contention returns, too many and the read-time summation cost grows for no benefit. The crossover point where one atomic outperforms the sharding bookkeeping is worth confirming with the Chapter 18 benchmark methodology rather than assumed.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Lead with the correctness invariant: both counts equal N exactly in every trial, padded or not, because false sharing is a performance bug, never a correctness bug. That's the detail that makes it insidious in production — a service can run false-shared counters for months with every test passing and no symptom visible anywhere except a latency number nobody is watching closely enough.</a:t>
            </a:r>
          </a:p>
          <a:p>
            <a:r>
              <a:rPr sz="1200"/>
              <a:t>What to show live: taskset pins the two threads to separate physical cores so the comparison isolates cache-line placement from scheduler noise, and an optional perf stat invocation surfaces L1-dcache-load-misses directly, turning the abstract coherence-traffic argument into a number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builds directly on the SPSC ring from earlier in the book and the cache-line discipline from Mechanical Sympathy. Neither introduces anything new on its own: the ring is the same structure, and the cursor tracking a consumer's read position is exactly the kind of hot, frequently-written word false sharing destroys if it lands on the wrong line. What the Disruptor pattern adds is a way to fan a single ring out to multiple independent consumers without reintroducing a lock.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Looked at as a messaging substrate rather than a generic container, the ring earns a different vocabulary: a producer doesn't push a value, it claims the next slot, writes into the object already sitting there, and publishes the slot as ready. Nothing is allocated or freed on the hot path, because nothing needs to be — capacity is fixed at construction and every slot is reused forever.</a:t>
            </a:r>
          </a:p>
          <a:p>
            <a:r>
              <a:rPr sz="1200"/>
              <a:t>Contrast this with a lock-based queue built on an unbounded container: a slow consumer there doesn't block the producer at all, the queue grows unchecked until something else makes the cost visible, usually at the worst possible moment. The ring's fixed capacity turns an invisible, unbounded liability into a visible, bounded one — back-pressure is loud and immediate rather than silent and deferred.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single-writer principle is why a single-producer Disruptor ring beats a lock-based queue on tail latency, not just average throughput. A mutex-protected queue serializes every producer and consumer through one critical section, and contention is exactly what happens under the bursty load patterns that matter in practice — a convoy effect where one slow operation under the lock delays everyone else waiting on it.</a:t>
            </a:r>
          </a:p>
          <a:p>
            <a:r>
              <a:rPr sz="1200"/>
              <a:t>Core placement dominates a Disruptor pipeline's measured performance inside a container: a busy-spin wait strategy under a CFS cpu.max quota exhausts its slice and gets throttled well before nproc-based assumptions suggest, visible directly as cpu.stat's throttled_usec. Pin the producer and each consumer to distinct physical cores, and avoid placing two of them on sibling hyperthreads of the same physical core.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ordering assertion is the one worth walking the room through: the business-logic stage must never read a slot the journal stage hasn't cleared, and that invariant is enforced by nothing but an atomic load and a comparison, with no lock anywhere in the pipeline.</a:t>
            </a:r>
          </a:p>
          <a:p>
            <a:r>
              <a:rPr sz="1200"/>
              <a:t>The 2011 LMAX whitepaper reported sustained throughput above twenty-five million messages per second against a lock-based queue roughly a thousand times slower on the hardware available at the time — worth citing as a data point about the shape of the win, not a number to expect on today's hardware. This example is where a reader measures their own numbers instead of trusting that one.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Stepping outside a single address space: communication between separate processes, possibly separate machines, where the memory model no longer reaches and every hand-off crosses a boundary the kernel or a network mediates. The actor model and CSP-style channels then take message passing from a mechanism into a design discipline — structuring a whole concurrent program so the question 'which lock protects this data' never needs to be asked, because no two threads ever touch the same mutable data at all.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Most real systems use both families, at different layers: shared memory for the tightest, same-host, latency-critical hand-off — the ring-buffer channel from the previous section is, in the single-process case, exactly this pattern applied between threads rather than processes — and message passing for anything that needs to cross a process or machine boundary, tolerate a restart on either side, or sit off the latency-critical path.</a:t>
            </a:r>
          </a:p>
          <a:p>
            <a:r>
              <a:rPr sz="1200"/>
              <a:t>In a container, UNIX sockets and shared memory both assume a shared filesystem namespace that containers don't automatically give: a socket bound inside one container's /tmp is absent from another's entirely without an explicit bind-mounted volume, and shm_open names land in a tmpfs private to each container's mount namespace by default. TCP and UDP need none of this ceremony, which is why they're the default choice crossing a container boundary.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a strictly stronger guarantee than 'protected by a mutex' — a mutex protects data that is still, structurally, shared, and a bug is one missed lock acquisition away from a race. An actor's state isn't locked at all; there's nothing to synchronize against from outside because nothing outside can reach it.</a:t>
            </a:r>
          </a:p>
          <a:p>
            <a:r>
              <a:rPr sz="1200"/>
              <a:t>The practical test for confinement in C++ is ownership, and the language already has the tool for enforcing it at compile time: a std::unique_ptr passed by value into a queue leaves the sender's own pointer null, and the compiler won't let the sender dereference it without that being a visible bug at the call site, not a race discovered under load. An unbounded mailbox under a memory-limited container is a straightforward way to get OOM-killed — size every mailbox's capacity explicitly.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pattern is worth reaching for when a component's correctness is easier to state as 'processes one event at a time, in order, against private state' than as 'some invariant holds across several fields multiple threads touch' — an order book, a per-connection session, a state machine driving a device.</a:t>
            </a:r>
          </a:p>
          <a:p>
            <a:r>
              <a:rPr sz="1200"/>
              <a:t>It is not a general replacement for shared-state concurrency: a workload that needs many threads touching the same data concurrently for throughput gains nothing from forcing everything through one actor's single-threaded mailbox loop. A pool of actors is also directly constrained by a container's CPU quota in a way hardware_concurrency() won't reveal — size the pool from the configured quota, not the core count, and watch throttled_usec, not just end-to-end mailbox latency, when load climbs.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protocol framing is incidental; what determines whether a service stays responsive at a thousand connections or falls over at a hundred is the same set of decisions covered throughout this deck — how many threads actually run application code, how work gets handed to them, and what happens when more requests arrive than the service can finish in time. Boost.Asio and Beast for REST, gRPC's completion-queue API underneath all three of its surfaces, same underlying questions both times.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service whose handlers do real, sustained CPU work per request can win outright with thread-per-request's simplicity — a pool sized to the core count, no event-loop indirection to debug. A service whose bottleneck is connection count and I/O wait needs the async model's lower per-connection cost to reach the connection counts a modern REST tier is expected to sustain.</a:t>
            </a:r>
          </a:p>
          <a:p>
            <a:r>
              <a:rPr sz="1200"/>
              <a:t>Overload shedding has to be cheap: checking an atomic counter and writing a fixed, pre-serialized 503 response, with no database call, no logging call that itself blocks on I/O. A shedding path that does meaningful work defeats its own purpose — a service shedding load because it's out of handler capacity, using handler capacity to shed it, degrades exactly like the overload it was meant to prevent.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Beast builds HTTP parsing on top of Asio's asynchronous sockets without imposing a framework — no routing layer, no middleware chain, just a parser, a serializer, and the same async_read/async_write primitives any other Asio I/O uses. That minimalism keeps the concurrency structure visible instead of hidden behind a framework's own thread pool.</a:t>
            </a:r>
          </a:p>
          <a:p>
            <a:r>
              <a:rPr sz="1200"/>
              <a:t>Graceful shutdown ties directly to deadline propagation: on SIGTERM, stop accepting new connections immediately, then give in-flight requests the remainder of their own deadlines to finish, not a fixed extra grace period layered on top. A server that drains blindly for a fixed thirty seconds either kills requests that needed thirty-one or holds the process open twenty-nine seconds after every in-flight request already finished or timed out on its own.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Picking a surface is really picking how much of the concurrency machinery to own directly. The raw async API trades more code for the ability to tune completion-queue count and thread assignment directly, which matters once a service's RPC concurrency outgrows what gRPC's default pool sizing assumes.</a:t>
            </a:r>
          </a:p>
          <a:p>
            <a:r>
              <a:rPr sz="1200"/>
              <a:t>Completion-queue count and thread-pool count are two separate numbers, and conflating them is the most common sizing mistake in a hand-rolled async server — a single shared queue still serializes dequeue through its own internal locking regardless of how many threads call Next() on it. gRPC's own guidance, roughly one completion queue per thread intended to service it exclusively, sidesteps that contention the same way per-worker deques sidestep a single shared task queue's lock.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same cgroup trap the Thread Pools chapter and this deck's Containers section both cover, applied without modification to a Beast server's io_context workers and a gRPC server's completion-queue servicing threads alike. More threads calling cq-&gt;Next() or io_context::run() than the quota can run concurrently pays for context switches out of a budget already fully spoken for.</a:t>
            </a:r>
          </a:p>
          <a:p>
            <a:r>
              <a:rPr sz="1200"/>
              <a:t>The failure mode is harder to spot than a clean throughput ceiling because it shows up as request-handling or RPC tail latency spikes rather than a flat plateau a dashboard makes obvious. Flip the health-check service to NOT_SERVING before a gRPC server stops accepting calls, so a load balancer or mesh routes around it before the process itself stops listening.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 mechanism covered in this deck — futures, coroutines, lock-free structures, thread pools — moves a unit of work off the calling thread, and none of it answers what happens when that unit of work fails. Error handling that works fine single-threaded routinely breaks across these boundaries, usually by going silent rather than crashing loudly, which is the worse failure mode of the two.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On a hot path where a failure is routine rather than exceptional — a lock-free queue reporting itself full, a retry loop's expected-to-sometimes-miss cache lookup — the exception cost model is backwards: the common case is the one that wants to be cheapest, and an exception makes it free only by making the differentiating case disproportionately expensive.</a:t>
            </a:r>
          </a:p>
          <a:p>
            <a:r>
              <a:rPr sz="1200"/>
              <a:t>A production Task-style coroutine type avoids the default terminate by storing the exception in unhandled_exception() and rethrowing it when something asks for the result — hand-rolled, because the standard library ships the coroutine machinery without this convenience type. The pattern across all three boundaries is consistent: a synchronous throw/catch pair only works within one stack, so every mechanism that moves work onto another stack needs its own explicit convention.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std::optional tells a caller something is missing but not why — a std::optional&lt;Connection&gt; from a failed connect says nothing about whether the peer refused, DNS failed, or the handshake timed out. std::expected's second type parameter is built to carry exactly that reason as a first-class value.</a:t>
            </a:r>
          </a:p>
          <a:p>
            <a:r>
              <a:rPr sz="1200"/>
              <a:t>noexcept destructors keep RAII locking safe during unwinding for a specific reason: std::mutex::unlock() is specified never to throw, so lock_guard's destructor can't become the second exception in a two-exception pileup that would otherwise call std::terminate. A custom RAII wrapper doing something non-trivial in its destructor has to preserve that guarantee deliberately — a destructor that can throw is a loaded clause nobody checks until a different exception is already unwinding through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race explained in the abstract teaches nothing about what to do the next time one shows up in a real codebase. This section builds one minimal, deliberately broken program for each failure mode, forces the failure to reproduce on demand rather than occasionally, and reads what gdb and ThreadSanitizer actually say about them, line by line — then broadens into the continuously-running tools that catch a defect before anyone needs a debugger at all.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plain, uninstrumented run of a racy program can print the correct sum on one invocation and a corrupted total on the next, purely as a function of how the scheduler happened to interleave two threads' load-add-store sequences that time. Treating a correct print as proof is exactly backwards — the absence of a symptom is not the absence of the defect.</a:t>
            </a:r>
          </a:p>
          <a:p>
            <a:r>
              <a:rPr sz="1200"/>
              <a:t>gdb's multithreaded vocabulary layers on top of everything it already does for a single-threaded crash: info threads is the first command against a hung process, since a deadlock's signature sits right there — every thread involved inside a locking primitive, not inside application logic. set scheduler-locking on lets a session single-step one thread without every other thread racing ahead and scrambling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Each section of a TSan report maps onto a specific fact the instrumentation observed during the one execution it just ran: the two conflicting writes with full call stacks, the raced-on location, and each thread's parentage reconstructed back to a human-meaningful creation site rather than an anonymous pthread id.</a:t>
            </a:r>
          </a:p>
          <a:p>
            <a:r>
              <a:rPr sz="1200"/>
              <a:t>The report's deeper mechanism is a vector clock per thread, updated at every synchronization point, tracking precisely which other threads' prior writes a given access is guaranteed to have observed. That's also the report's most important limitation: TSan is dynamic analysis, so a clean run means no race was observed on this execution's schedule and inputs, not that none exists in the program — a race gated behind a rare interleaving, or code TSan's instrumentation never touched, can sit undetected through an arbitrarily long run of clean reports.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right CI default is two purpose-built jobs rather than one heavyweight one: ASan+UBSan at roughly 2x as a required, blocking gate on every pull request; TSan at 5-15x, still cheap enough for every PR for most suites, scoped down to concurrency-relevant targets first if wall-clock time becomes a bottleneck, rather than dropped to a nightly schedule — a race caught a day late already merged into every branch built against it in the meantime.</a:t>
            </a:r>
          </a:p>
          <a:p>
            <a:r>
              <a:rPr sz="1200"/>
              <a:t>Helgrind or DRD at 10-50x is the one tier where a nightly or weekly job is the right trade, specifically because Valgrind's value is catching something the cheaper tools structurally cannot — no sanitizer runtime for a target, or confirming the exact shipped binary. A __attribute__((no_sanitize("thread"))) annotation is the escape hatch for a deliberately racy benchmark-only function TSan would otherwise, correctly, flag.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concurrent service in production affords none of the stop-rerun-instrument luxury the previous section relied on. Observability fills that gap with signals a running service emits continuously, cheap enough to leave on, specific enough to say which pool, which lock, and which percentile actually misbehaved. This instruments a service with OpenTelemetry and ships the result to an LGTM stack so the numbers are something to query, not something the program merely asserts about itself.</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real subject of the chapter, not a footnote: a pool's worker threads creating spans concurrently is fine on its own — nothing about the SDK knows that a span on worker thread seven belongs to the same logical request as one created a moment earlier on the submitting thread. Getting that relationship right is a propagation problem, not a thread-safety problem.</a:t>
            </a:r>
          </a:p>
          <a:p>
            <a:r>
              <a:rPr sz="1200"/>
              <a:t>The first visible sign of getting this wrong is a dashboard full of single-span traces where a deep request tree was expected — a child span started inside a pool task without a reinstalled Scope doesn't fail, it silently starts a brand-new trace root. Nothing crosses a thread boundary implicitly; it has to be handed off as an explicit, owned value, the same discipline the Disruptor's single-writer principle and actor confinement both rest 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climbing lock-wait-time histogram with a flat hold-time distribution means threads are queued behind a lock that's fine once acquired; a climbing hold time means the critical section itself got slower — two failure modes that look identical from outside and need separate histograms to tell apart.</a:t>
            </a:r>
          </a:p>
          <a:p>
            <a:r>
              <a:rPr sz="1200"/>
              <a:t>In a container, the instrumented process has to reach the collector by its compose service name, not localhost, because localhost inside a container refers to that container alone. Batching introduces real, bounded memory pressure worth sizing deliberately — a batch span processor's buffer needs headroom above steady per-request allocation, or the buffer itself triggers an OOM kill in exactly the traffic spike the telemetry exists to explain.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one demo in the deck that proves observability rather than describing it: the verifier queries Tempo through the collector for correct parent/child span nesting (request to task) and queries Mimir for the queue-depth metric actually rising during the burst and returning to zero after drain.</a:t>
            </a:r>
          </a:p>
          <a:p>
            <a:r>
              <a:rPr sz="1200"/>
              <a:t>The distinction: saturation was both produced and observed, not merely logged by the service and taken on faith. Walk through the compose topology if time allows: the service, the collector, and the LGTM backend, with Grafana as the one pane every signal resolves through.</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Per-type habits — immutability by default, RAII locking, confinement, naming that makes a threading contract legible without reading the implementation — scale up into the architectures that decide how whole systems of well-behaved pieces fit together: pipelines, sharding, half-sync/half-async. None of these patterns is new; what's worth building is the vocabulary to name which one a given design actually is before the wrong one gets load-tested into a rewrite.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Immutability is the cheapest way to avoid synchronizing access at all: an immutable value shared across threads needs no lock for reads, because there's no write for a read to race with. The recurring structural pattern is a snapshot — construct a new immutable version, publish it by swapping a pointer, and readers holding the old one keep reading a consistent, if slightly stale, value.</a:t>
            </a:r>
          </a:p>
          <a:p>
            <a:r>
              <a:rPr sz="1200"/>
              <a:t>Clang's Thread Safety Analysis turns part of this naming discipline into a compile-time check: GUARDED_BY and REQUIRES annotations let -Wthread-safety reject any access to a guarded member that isn't provably protected, for code that can't be restructured into a Monitor. Pinning the exact Clang version the annotations were validated against matters, because the diagnostics have changed in both directions across releases.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cost of a pipeline is the hand-off itself: every stage boundary is a context switch and usually a cache-cold start for the next stage's thread. A pipeline earns that cost back when stages differ in blocking behavior or resource profile, and is a poor fit for a request whose entire path is a few microseconds of uniform CPU work.</a:t>
            </a:r>
          </a:p>
          <a:p>
            <a:r>
              <a:rPr sz="1200"/>
              <a:t>A reactor dispatches on readiness; a proactor dispatches on completion, and io_uring pulls Linux's traditional epoll-based reactor toward the proactor shape. Half-sync/half-async keeps application code as ordinary blocking logic on a synchronous layer while a reactor or proactor handles I/O without ever blocking its own thread — the queueing layer between them needs the same explicit context propagation as any other thread hand-off.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architecture behind partitioning a market-data feed or an order book by instrument symbol: each symbol's book has exactly one writer, so two symbols' updates never contend for the same lock. A tighter latency budget favors fewer hand-offs on the critical path — sharded single writers, or a tight reactor loop with no queueing layer at all for the hottest requests.</a:t>
            </a:r>
          </a:p>
          <a:p>
            <a:r>
              <a:rPr sz="1200"/>
              <a:t>A throughput-oriented batch system can afford a deeper pipeline, because its latency budget is measured in milliseconds rather than microseconds and the isolation a pipeline buys is worth more than the hand-off cost it adds. Real systems compose these rather than picking exactly one — a SEDA stage is often internally sharded, and a half-sync/half-async boundary often feeds the first stage of a pipeline.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 thread pool, every allocator arena count, every polling loop in this book assumed a thread could see the machine it was actually running on. Inside a container that assumption breaks in a specific, mechanical way: cpu.max and cpuset.cpus are two independent cgroup v2 controls, easy to confuse because they're configured from the same --cpus flag or the same Kubernetes resources block, but enforced by unrelated kernel code paths.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Eight threads each getting twenty-five milliseconds of wall time on eight different cores exhausts a two-hundred-millisecond quota exactly as fast as two threads running flat out on two cores for a hundred milliseconds — the quota taxes total CPU-seconds, not core count, which is the detail that trips up a naive mental model of '--cpus=2 means two cores.'</a:t>
            </a:r>
          </a:p>
          <a:p>
            <a:r>
              <a:rPr sz="1200"/>
              <a:t>A Guaranteed-QoS Kubernetes pod with the CPU Manager static policy enabled is removed from cpu.max accounting entirely and instead granted exclusive, pinned cores through cpuset.cpus. Two pods that both 'request two cores' can be running under mechanically different enforcement, and a program that only reads cpu.max sees nothing meaningful on the pinned one, because no quota file is populated once a cgroup is cpuset-exclusive.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These four facts are the chapter's entire argument compressed to a glance. A quota-limited container on a large host reports the host's full core count regardless of how little CPU time it has actually been granted, because hardware_concurrency() answers 'how many cores can a thread be scheduled on,' not 'how much CPU time has this container been given' — a different question entirely, faithfully answered.</a:t>
            </a:r>
          </a:p>
          <a:p>
            <a:r>
              <a:rPr sz="1200"/>
              <a:t>cpu.stat's throttled_usec field, not throttled_time, is the direct evidence worth watching continuously: a climbing value under a fixed pool size is the clearest available signal that the quota, not the algorithm, is adding latency. Every pool a service creates or inherits — the application's own, OpenMP, TBB, the allocator's per-CPU arenas — is a source of the identical oversubscription at its defaults.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For a latency-sensitive container, the practical rule follows directly from the two mechanisms: request whole, integer cores under a QoS class and CPU Manager configuration that grants cpuset-exclusive pinning rather than a shared time budget, pin hot-path threads explicitly within that set once running, and size every pool from the pinned core count rather than a host-wide probe.</a:t>
            </a:r>
          </a:p>
          <a:p>
            <a:r>
              <a:rPr sz="1200"/>
              <a:t>Where exclusive pinning isn't available and a shared quota is the reality, keep thread count at or below the quota and monitor throttled_usec continuously — a sustained climb there means the fix is a smaller pool or a larger quota, not a faster algorithm. This applies per stage in a pipeline, not once for the whole thing: each stage's pool sized off hardware_concurrency() can oversubscribe the aggregate quota even when each one looks reasonable on its own.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Run it in three steps if time allows: bare host (numbers agree, or the quota reports unlimited), then --cpus=4 --cpuset-cpus=0-7 on a host with more than eight cores (cpuset count drops to 8, quota drops to 4.00 — two different numbers for two different reasons), then --cpus=2 alone with no cpuset restriction at all.</a:t>
            </a:r>
          </a:p>
          <a:p>
            <a:r>
              <a:rPr sz="1200"/>
              <a:t>That last step is the oversubscription scenario from the chapter's opening, reproduced on demand: the cpuset count jumps back to the full host count while the quota stays at 2.00. Running the probe alongside cat /sys/fs/cgroup/cpu.stat before and after a deliberately oversized pool makes throttled_usec climb visibly — the most convincing evidence in the deck that sizing from hardware_concurrency() alone is a real cost, not a theoretical one.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 earlier chapter picked one concurrency model, one synchronization primitive, one workload, and measured it in isolation, which was a deliberate simplification. This closing section builds the wiring once, as a single order-book pipeline — ingest, match, publish — run under one workload, so the earlier chapters' individually-true claims can be checked against how they behave stacked on top of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Ingest is a thread pool, because connection handling parallelizes trivially. Match is exactly one thread, pinned to one core, because an order book is fundamentally a serial data structure — a lock around a shared book would only reintroduce, as a bottleneck, the serialization a single dedicated thread already gives for free.</a:t>
            </a:r>
          </a:p>
          <a:p>
            <a:r>
              <a:rPr sz="1200"/>
              <a:t>Publish is a small pool again, because encoding and writing to N independent subscriber connections is embarrassingly parallel work. Both ring boundaries are bounded rather than growable, which is what makes back-pressure visible instead of silent: when match falls behind, the ingest ring's gating sequence refuses new claims, and ingest threads respond BUSY rather than let an unbounded queue absorb the backlog.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a book-keeping discrepancy that produces no compiler warning and no crash on its own — only a bug serious enough to invalidate every correctness assumption the single-writer design depends on, surfacing much later as a data race nobody can reproduce. Verifying it with a real span attribute, rather than trusting the architecture diagram, is the instrument this deck has argued for throughout.</a:t>
            </a:r>
          </a:p>
          <a:p>
            <a:r>
              <a:rPr sz="1200"/>
              <a:t>Two load shapes matter: a sustained moderate rate exercises the steady-state path and produces the number a capacity-planning conversation actually wants, while a deliberate overload burst tests the back-pressure path specifically — the ingest ring should fill, BUSY responses should appear, and admitted orders' tail latency should stay bounded by the ring's fixed capacity rather than growing open-ended.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Nearly every earlier chapter in this deck shows up here as a specific, consequential design decision rather than a technique chosen for its own sake: the acquire/release pairing underneath both rings' claim-and-publish sequences, the cache-line discipline keeping hot sequence counters away from cold event payloads, the coding-practices review discipline that keeps the match thread's single-writer invariant from eroding the first time a feature seems like it only needs to 'peek' at the book.</a:t>
            </a:r>
          </a:p>
          <a:p>
            <a:r>
              <a:rPr sz="1200"/>
              <a:t>Each stage runs as its own container in the companion example, with the match container alone given a cpuset-exclusive core pin. Running it without that pin, a quick deliberate misconfiguration, is a useful exercise on its own — the same workload under a shared quota shows CFS throttling pauses landing directly on the match thread's latency distribution, visible in both the recorded p99.9 and throttled_usec climbing in lockstep.</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deck's closing argument made runnable: no latency number in the chapter is presented as the book's own measurement, because a matching engine's achievable p99 depends on core topology, kernel configuration, and the specific hardware under test closely enough that a quoted figure would mislead a reader about their own hardware more than it would inform them.</a:t>
            </a:r>
          </a:p>
          <a:p>
            <a:r>
              <a:rPr sz="1200"/>
              <a:t>Point the room at what the verifier actually checks rather than a number on a slide: order conservation across both rings, single-threaded match enforced and verified (not assumed), back-pressure engaging under burst rather than memory growing unbounded, and percentiles present in the output. This is the example to run on a reader's own hardware for the real figures.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To close: every pattern in this deck, from first-touch NUMA placement to the full example's pinned single-writer match thread, is backed by a runnable example under examples/concurrency/, and none of the performance claims in this deck are presented as the book's own measurement — the hardware a reader runs these on produces the real figures.</a:t>
            </a:r>
          </a:p>
          <a:p>
            <a:r>
              <a:rPr sz="1200"/>
              <a:t>The arc holds together end to end: a trustworthy benchmark makes every other number in the book meaningful, mechanical sympathy and lock-free messaging turn that discipline into a fast path, and the full pipeline proves the individually-true claims from every earlier section still hold once they are stacked into one system under real load. Clone the repo, run the demos, and measure your own hardware.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515"/>
        </a:solidFill>
        <a:effectLst/>
      </p:bgPr>
    </p:bg>
    <p:spTree>
      <p:nvGrpSpPr>
        <p:cNvPr id="1" name=""/>
        <p:cNvGrpSpPr/>
        <p:nvPr/>
      </p:nvGrpSpPr>
      <p:grpSpPr/>
      <p:sp>
        <p:nvSpPr>
          <p:cNvPr id="2" name="Oval 1"/>
          <p:cNvSpPr/>
          <p:nvPr/>
        </p:nvSpPr>
        <p:spPr>
          <a:xfrm>
            <a:off x="914400" y="1371600"/>
            <a:ext cx="201168" cy="201168"/>
          </a:xfrm>
          <a:prstGeom prst="ellipse">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1371600"/>
            <a:ext cx="201168" cy="201168"/>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54480" y="1371600"/>
            <a:ext cx="201168" cy="201168"/>
          </a:xfrm>
          <a:prstGeom prst="ellipse">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457200"/>
          </a:xfrm>
          <a:prstGeom prst="rect">
            <a:avLst/>
          </a:prstGeom>
          <a:noFill/>
        </p:spPr>
        <p:txBody>
          <a:bodyPr wrap="square" anchor="t" lIns="45720" rIns="45720">
            <a:spAutoFit/>
          </a:bodyPr>
          <a:lstStyle/>
          <a:p>
            <a:pPr algn="l"/>
            <a:r>
              <a:rPr sz="2000" b="1" i="0">
                <a:solidFill>
                  <a:srgbClr val="EE0000"/>
                </a:solidFill>
                <a:latin typeface="Red Hat Display"/>
              </a:rPr>
              <a:t>LOW-LATENCY &amp; HIGH-THROUGHPUT C++ — THE 201 DEEP DIVE</a:t>
            </a:r>
          </a:p>
        </p:txBody>
      </p:sp>
      <p:sp>
        <p:nvSpPr>
          <p:cNvPr id="6" name="TextBox 5"/>
          <p:cNvSpPr txBox="1"/>
          <p:nvPr/>
        </p:nvSpPr>
        <p:spPr>
          <a:xfrm>
            <a:off x="914400" y="2286000"/>
            <a:ext cx="10332720" cy="1371600"/>
          </a:xfrm>
          <a:prstGeom prst="rect">
            <a:avLst/>
          </a:prstGeom>
          <a:noFill/>
        </p:spPr>
        <p:txBody>
          <a:bodyPr wrap="square" anchor="t" lIns="45720" rIns="45720">
            <a:spAutoFit/>
          </a:bodyPr>
          <a:lstStyle/>
          <a:p>
            <a:pPr algn="l"/>
            <a:r>
              <a:rPr sz="4400" b="1" i="0">
                <a:solidFill>
                  <a:srgbClr val="FFFFFF"/>
                </a:solidFill>
                <a:latin typeface="Red Hat Display"/>
              </a:rPr>
              <a:t>Mechanical Sympathy, Lock-Free Messaging,
and the Pipeline That Ties Them Together</a:t>
            </a:r>
          </a:p>
        </p:txBody>
      </p:sp>
      <p:sp>
        <p:nvSpPr>
          <p:cNvPr id="7" name="TextBox 6"/>
          <p:cNvSpPr txBox="1"/>
          <p:nvPr/>
        </p:nvSpPr>
        <p:spPr>
          <a:xfrm>
            <a:off x="914400" y="4114800"/>
            <a:ext cx="10332720" cy="457200"/>
          </a:xfrm>
          <a:prstGeom prst="rect">
            <a:avLst/>
          </a:prstGeom>
          <a:noFill/>
        </p:spPr>
        <p:txBody>
          <a:bodyPr wrap="square" anchor="t" lIns="45720" rIns="45720">
            <a:spAutoFit/>
          </a:bodyPr>
          <a:lstStyle/>
          <a:p>
            <a:pPr algn="l"/>
            <a:r>
              <a:rPr sz="1600" b="0" i="0">
                <a:solidFill>
                  <a:srgbClr val="F4F4F4"/>
                </a:solidFill>
                <a:latin typeface="Red Hat Text"/>
              </a:rPr>
              <a:t>NUMA and SIMD  •  benchmarking without deception  •  false sharing  •  the Disruptor  •  observability  •  the full pipeline</a:t>
            </a:r>
          </a:p>
        </p:txBody>
      </p:sp>
      <p:sp>
        <p:nvSpPr>
          <p:cNvPr id="8" name="TextBox 7"/>
          <p:cNvSpPr txBox="1"/>
          <p:nvPr/>
        </p:nvSpPr>
        <p:spPr>
          <a:xfrm>
            <a:off x="914400" y="4754880"/>
            <a:ext cx="10332720" cy="365760"/>
          </a:xfrm>
          <a:prstGeom prst="rect">
            <a:avLst/>
          </a:prstGeom>
          <a:noFill/>
        </p:spPr>
        <p:txBody>
          <a:bodyPr wrap="square" anchor="t" lIns="45720" rIns="45720">
            <a:spAutoFit/>
          </a:bodyPr>
          <a:lstStyle/>
          <a:p>
            <a:pPr algn="l"/>
            <a:r>
              <a:rPr sz="1400" b="0" i="1">
                <a:solidFill>
                  <a:srgbClr val="8A8A8A"/>
                </a:solidFill>
                <a:latin typeface="Red Hat Text"/>
              </a:rPr>
              <a:t>Companion deck to cpp-concurrency-and-parallelism  —  Docs 16–33</a:t>
            </a:r>
          </a:p>
        </p:txBody>
      </p:sp>
      <p:sp>
        <p:nvSpPr>
          <p:cNvPr id="9" name="TextBox 8"/>
          <p:cNvSpPr txBox="1"/>
          <p:nvPr/>
        </p:nvSpPr>
        <p:spPr>
          <a:xfrm>
            <a:off x="914400" y="5394960"/>
            <a:ext cx="10332720" cy="365760"/>
          </a:xfrm>
          <a:prstGeom prst="rect">
            <a:avLst/>
          </a:prstGeom>
          <a:noFill/>
        </p:spPr>
        <p:txBody>
          <a:bodyPr wrap="square" anchor="t" lIns="45720" rIns="45720">
            <a:spAutoFit/>
          </a:bodyPr>
          <a:lstStyle/>
          <a:p>
            <a:pPr algn="l"/>
            <a:r>
              <a:rPr sz="1400" b="0" i="0">
                <a:solidFill>
                  <a:srgbClr val="EE0000"/>
                </a:solidFill>
                <a:latin typeface="Red Hat Text"/>
              </a:rPr>
              <a:t>Every pattern here has a runnable demo under examples/concurrency/</a:t>
            </a:r>
          </a:p>
        </p:txBody>
      </p:sp>
      <p:sp>
        <p:nvSpPr>
          <p:cNvPr id="10" name="TextBox 9"/>
          <p:cNvSpPr txBox="1"/>
          <p:nvPr/>
        </p:nvSpPr>
        <p:spPr>
          <a:xfrm>
            <a:off x="914400" y="5943600"/>
            <a:ext cx="10332720" cy="365760"/>
          </a:xfrm>
          <a:prstGeom prst="rect">
            <a:avLst/>
          </a:prstGeom>
          <a:noFill/>
        </p:spPr>
        <p:txBody>
          <a:bodyPr wrap="square" anchor="t" lIns="45720" rIns="45720">
            <a:spAutoFit/>
          </a:bodyPr>
          <a:lstStyle/>
          <a:p>
            <a:pPr algn="l"/>
            <a:r>
              <a:rPr sz="1100" b="0" i="0">
                <a:solidFill>
                  <a:srgbClr val="8A8A8A"/>
                </a:solidFill>
                <a:latin typeface="Red Hat Mono"/>
              </a:rPr>
              <a:t>github.com/patterncatalyst/cpp-concurrency-and-parallelism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Agenda — fourteen sections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Overview</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Agenda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 / 62</a:t>
            </a:r>
          </a:p>
        </p:txBody>
      </p:sp>
      <p:sp>
        <p:nvSpPr>
          <p:cNvPr id="8" name="Oval 7"/>
          <p:cNvSpPr/>
          <p:nvPr/>
        </p:nvSpPr>
        <p:spPr>
          <a:xfrm>
            <a:off x="457200" y="1005840"/>
            <a:ext cx="457200" cy="457200"/>
          </a:xfrm>
          <a:prstGeom prst="ellipse">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0584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a:t>
            </a:r>
          </a:p>
        </p:txBody>
      </p:sp>
      <p:sp>
        <p:nvSpPr>
          <p:cNvPr id="10" name="TextBox 9"/>
          <p:cNvSpPr txBox="1"/>
          <p:nvPr/>
        </p:nvSpPr>
        <p:spPr>
          <a:xfrm>
            <a:off x="1051560" y="1005840"/>
            <a:ext cx="4754880" cy="457200"/>
          </a:xfrm>
          <a:prstGeom prst="rect">
            <a:avLst/>
          </a:prstGeom>
          <a:noFill/>
        </p:spPr>
        <p:txBody>
          <a:bodyPr wrap="square" anchor="ctr" lIns="45720" rIns="45720">
            <a:spAutoFit/>
          </a:bodyPr>
          <a:lstStyle/>
          <a:p>
            <a:pPr algn="l"/>
            <a:r>
              <a:rPr sz="1400" b="0" i="0">
                <a:solidFill>
                  <a:srgbClr val="151515"/>
                </a:solidFill>
                <a:latin typeface="Red Hat Text"/>
              </a:rPr>
              <a:t>NUMA, affinity, and data locality</a:t>
            </a:r>
          </a:p>
        </p:txBody>
      </p:sp>
      <p:sp>
        <p:nvSpPr>
          <p:cNvPr id="11" name="Oval 10"/>
          <p:cNvSpPr/>
          <p:nvPr/>
        </p:nvSpPr>
        <p:spPr>
          <a:xfrm>
            <a:off x="457200" y="1572768"/>
            <a:ext cx="457200" cy="457200"/>
          </a:xfrm>
          <a:prstGeom prst="ellipse">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72768"/>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2</a:t>
            </a:r>
          </a:p>
        </p:txBody>
      </p:sp>
      <p:sp>
        <p:nvSpPr>
          <p:cNvPr id="13" name="TextBox 12"/>
          <p:cNvSpPr txBox="1"/>
          <p:nvPr/>
        </p:nvSpPr>
        <p:spPr>
          <a:xfrm>
            <a:off x="1051560" y="1572768"/>
            <a:ext cx="4754880" cy="457200"/>
          </a:xfrm>
          <a:prstGeom prst="rect">
            <a:avLst/>
          </a:prstGeom>
          <a:noFill/>
        </p:spPr>
        <p:txBody>
          <a:bodyPr wrap="square" anchor="ctr" lIns="45720" rIns="45720">
            <a:spAutoFit/>
          </a:bodyPr>
          <a:lstStyle/>
          <a:p>
            <a:pPr algn="l"/>
            <a:r>
              <a:rPr sz="1400" b="0" i="0">
                <a:solidFill>
                  <a:srgbClr val="151515"/>
                </a:solidFill>
                <a:latin typeface="Red Hat Text"/>
              </a:rPr>
              <a:t>SIMD and data parallelism</a:t>
            </a:r>
          </a:p>
        </p:txBody>
      </p:sp>
      <p:sp>
        <p:nvSpPr>
          <p:cNvPr id="14" name="Oval 13"/>
          <p:cNvSpPr/>
          <p:nvPr/>
        </p:nvSpPr>
        <p:spPr>
          <a:xfrm>
            <a:off x="457200" y="2139696"/>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139696"/>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3</a:t>
            </a:r>
          </a:p>
        </p:txBody>
      </p:sp>
      <p:sp>
        <p:nvSpPr>
          <p:cNvPr id="16" name="TextBox 15"/>
          <p:cNvSpPr txBox="1"/>
          <p:nvPr/>
        </p:nvSpPr>
        <p:spPr>
          <a:xfrm>
            <a:off x="1051560" y="2139696"/>
            <a:ext cx="4754880" cy="457200"/>
          </a:xfrm>
          <a:prstGeom prst="rect">
            <a:avLst/>
          </a:prstGeom>
          <a:noFill/>
        </p:spPr>
        <p:txBody>
          <a:bodyPr wrap="square" anchor="ctr" lIns="45720" rIns="45720">
            <a:spAutoFit/>
          </a:bodyPr>
          <a:lstStyle/>
          <a:p>
            <a:pPr algn="l"/>
            <a:r>
              <a:rPr sz="1400" b="0" i="0">
                <a:solidFill>
                  <a:srgbClr val="151515"/>
                </a:solidFill>
                <a:latin typeface="Red Hat Text"/>
              </a:rPr>
              <a:t>Benchmarking without deception</a:t>
            </a:r>
          </a:p>
        </p:txBody>
      </p:sp>
      <p:sp>
        <p:nvSpPr>
          <p:cNvPr id="17" name="Oval 16"/>
          <p:cNvSpPr/>
          <p:nvPr/>
        </p:nvSpPr>
        <p:spPr>
          <a:xfrm>
            <a:off x="457200" y="2706624"/>
            <a:ext cx="457200" cy="457200"/>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706624"/>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4</a:t>
            </a:r>
          </a:p>
        </p:txBody>
      </p:sp>
      <p:sp>
        <p:nvSpPr>
          <p:cNvPr id="19" name="TextBox 18"/>
          <p:cNvSpPr txBox="1"/>
          <p:nvPr/>
        </p:nvSpPr>
        <p:spPr>
          <a:xfrm>
            <a:off x="1051560" y="2706624"/>
            <a:ext cx="4754880" cy="457200"/>
          </a:xfrm>
          <a:prstGeom prst="rect">
            <a:avLst/>
          </a:prstGeom>
          <a:noFill/>
        </p:spPr>
        <p:txBody>
          <a:bodyPr wrap="square" anchor="ctr" lIns="45720" rIns="45720">
            <a:spAutoFit/>
          </a:bodyPr>
          <a:lstStyle/>
          <a:p>
            <a:pPr algn="l"/>
            <a:r>
              <a:rPr sz="1400" b="0" i="0">
                <a:solidFill>
                  <a:srgbClr val="151515"/>
                </a:solidFill>
                <a:latin typeface="Red Hat Text"/>
              </a:rPr>
              <a:t>The low-latency fast path</a:t>
            </a:r>
          </a:p>
        </p:txBody>
      </p:sp>
      <p:sp>
        <p:nvSpPr>
          <p:cNvPr id="20" name="Oval 19"/>
          <p:cNvSpPr/>
          <p:nvPr/>
        </p:nvSpPr>
        <p:spPr>
          <a:xfrm>
            <a:off x="457200" y="3273552"/>
            <a:ext cx="457200" cy="457200"/>
          </a:xfrm>
          <a:prstGeom prst="ellipse">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73552"/>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5</a:t>
            </a:r>
          </a:p>
        </p:txBody>
      </p:sp>
      <p:sp>
        <p:nvSpPr>
          <p:cNvPr id="22" name="TextBox 21"/>
          <p:cNvSpPr txBox="1"/>
          <p:nvPr/>
        </p:nvSpPr>
        <p:spPr>
          <a:xfrm>
            <a:off x="1051560" y="3273552"/>
            <a:ext cx="4754880" cy="457200"/>
          </a:xfrm>
          <a:prstGeom prst="rect">
            <a:avLst/>
          </a:prstGeom>
          <a:noFill/>
        </p:spPr>
        <p:txBody>
          <a:bodyPr wrap="square" anchor="ctr" lIns="45720" rIns="45720">
            <a:spAutoFit/>
          </a:bodyPr>
          <a:lstStyle/>
          <a:p>
            <a:pPr algn="l"/>
            <a:r>
              <a:rPr sz="1400" b="0" i="0">
                <a:solidFill>
                  <a:srgbClr val="151515"/>
                </a:solidFill>
                <a:latin typeface="Red Hat Text"/>
              </a:rPr>
              <a:t>Mechanical sympathy</a:t>
            </a:r>
          </a:p>
        </p:txBody>
      </p:sp>
      <p:sp>
        <p:nvSpPr>
          <p:cNvPr id="23" name="Oval 22"/>
          <p:cNvSpPr/>
          <p:nvPr/>
        </p:nvSpPr>
        <p:spPr>
          <a:xfrm>
            <a:off x="457200" y="3840480"/>
            <a:ext cx="457200" cy="45720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84048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6</a:t>
            </a:r>
          </a:p>
        </p:txBody>
      </p:sp>
      <p:sp>
        <p:nvSpPr>
          <p:cNvPr id="25" name="TextBox 24"/>
          <p:cNvSpPr txBox="1"/>
          <p:nvPr/>
        </p:nvSpPr>
        <p:spPr>
          <a:xfrm>
            <a:off x="1051560" y="3840480"/>
            <a:ext cx="4754880" cy="457200"/>
          </a:xfrm>
          <a:prstGeom prst="rect">
            <a:avLst/>
          </a:prstGeom>
          <a:noFill/>
        </p:spPr>
        <p:txBody>
          <a:bodyPr wrap="square" anchor="ctr" lIns="45720" rIns="45720">
            <a:spAutoFit/>
          </a:bodyPr>
          <a:lstStyle/>
          <a:p>
            <a:pPr algn="l"/>
            <a:r>
              <a:rPr sz="1400" b="0" i="0">
                <a:solidFill>
                  <a:srgbClr val="151515"/>
                </a:solidFill>
                <a:latin typeface="Red Hat Text"/>
              </a:rPr>
              <a:t>Lock-free messaging and the Disruptor</a:t>
            </a:r>
          </a:p>
        </p:txBody>
      </p:sp>
      <p:sp>
        <p:nvSpPr>
          <p:cNvPr id="26" name="Oval 25"/>
          <p:cNvSpPr/>
          <p:nvPr/>
        </p:nvSpPr>
        <p:spPr>
          <a:xfrm>
            <a:off x="457200" y="4407408"/>
            <a:ext cx="457200" cy="457200"/>
          </a:xfrm>
          <a:prstGeom prst="ellipse">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407408"/>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7</a:t>
            </a:r>
          </a:p>
        </p:txBody>
      </p:sp>
      <p:sp>
        <p:nvSpPr>
          <p:cNvPr id="28" name="TextBox 27"/>
          <p:cNvSpPr txBox="1"/>
          <p:nvPr/>
        </p:nvSpPr>
        <p:spPr>
          <a:xfrm>
            <a:off x="1051560" y="4407408"/>
            <a:ext cx="4754880" cy="457200"/>
          </a:xfrm>
          <a:prstGeom prst="rect">
            <a:avLst/>
          </a:prstGeom>
          <a:noFill/>
        </p:spPr>
        <p:txBody>
          <a:bodyPr wrap="square" anchor="ctr" lIns="45720" rIns="45720">
            <a:spAutoFit/>
          </a:bodyPr>
          <a:lstStyle/>
          <a:p>
            <a:pPr algn="l"/>
            <a:r>
              <a:rPr sz="1400" b="0" i="0">
                <a:solidFill>
                  <a:srgbClr val="151515"/>
                </a:solidFill>
                <a:latin typeface="Red Hat Text"/>
              </a:rPr>
              <a:t>Communication models, actors, and channels</a:t>
            </a:r>
          </a:p>
        </p:txBody>
      </p:sp>
      <p:sp>
        <p:nvSpPr>
          <p:cNvPr id="29" name="Oval 28"/>
          <p:cNvSpPr/>
          <p:nvPr/>
        </p:nvSpPr>
        <p:spPr>
          <a:xfrm>
            <a:off x="6217920" y="1005840"/>
            <a:ext cx="457200" cy="457200"/>
          </a:xfrm>
          <a:prstGeom prst="ellipse">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100584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8</a:t>
            </a:r>
          </a:p>
        </p:txBody>
      </p:sp>
      <p:sp>
        <p:nvSpPr>
          <p:cNvPr id="31" name="TextBox 30"/>
          <p:cNvSpPr txBox="1"/>
          <p:nvPr/>
        </p:nvSpPr>
        <p:spPr>
          <a:xfrm>
            <a:off x="6812280" y="1005840"/>
            <a:ext cx="4754880" cy="457200"/>
          </a:xfrm>
          <a:prstGeom prst="rect">
            <a:avLst/>
          </a:prstGeom>
          <a:noFill/>
        </p:spPr>
        <p:txBody>
          <a:bodyPr wrap="square" anchor="ctr" lIns="45720" rIns="45720">
            <a:spAutoFit/>
          </a:bodyPr>
          <a:lstStyle/>
          <a:p>
            <a:pPr algn="l"/>
            <a:r>
              <a:rPr sz="1400" b="0" i="0">
                <a:solidFill>
                  <a:srgbClr val="151515"/>
                </a:solidFill>
                <a:latin typeface="Red Hat Text"/>
              </a:rPr>
              <a:t>Concurrent REST and gRPC services</a:t>
            </a:r>
          </a:p>
        </p:txBody>
      </p:sp>
      <p:sp>
        <p:nvSpPr>
          <p:cNvPr id="32" name="Oval 31"/>
          <p:cNvSpPr/>
          <p:nvPr/>
        </p:nvSpPr>
        <p:spPr>
          <a:xfrm>
            <a:off x="6217920" y="1572768"/>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1572768"/>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9</a:t>
            </a:r>
          </a:p>
        </p:txBody>
      </p:sp>
      <p:sp>
        <p:nvSpPr>
          <p:cNvPr id="34" name="TextBox 33"/>
          <p:cNvSpPr txBox="1"/>
          <p:nvPr/>
        </p:nvSpPr>
        <p:spPr>
          <a:xfrm>
            <a:off x="6812280" y="1572768"/>
            <a:ext cx="4754880" cy="457200"/>
          </a:xfrm>
          <a:prstGeom prst="rect">
            <a:avLst/>
          </a:prstGeom>
          <a:noFill/>
        </p:spPr>
        <p:txBody>
          <a:bodyPr wrap="square" anchor="ctr" lIns="45720" rIns="45720">
            <a:spAutoFit/>
          </a:bodyPr>
          <a:lstStyle/>
          <a:p>
            <a:pPr algn="l"/>
            <a:r>
              <a:rPr sz="1400" b="0" i="0">
                <a:solidFill>
                  <a:srgbClr val="151515"/>
                </a:solidFill>
                <a:latin typeface="Red Hat Text"/>
              </a:rPr>
              <a:t>Error handling vs exception handling</a:t>
            </a:r>
          </a:p>
        </p:txBody>
      </p:sp>
      <p:sp>
        <p:nvSpPr>
          <p:cNvPr id="35" name="Oval 34"/>
          <p:cNvSpPr/>
          <p:nvPr/>
        </p:nvSpPr>
        <p:spPr>
          <a:xfrm>
            <a:off x="6217920" y="2139696"/>
            <a:ext cx="457200" cy="457200"/>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2139696"/>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10</a:t>
            </a:r>
          </a:p>
        </p:txBody>
      </p:sp>
      <p:sp>
        <p:nvSpPr>
          <p:cNvPr id="37" name="TextBox 36"/>
          <p:cNvSpPr txBox="1"/>
          <p:nvPr/>
        </p:nvSpPr>
        <p:spPr>
          <a:xfrm>
            <a:off x="6812280" y="2139696"/>
            <a:ext cx="4754880" cy="457200"/>
          </a:xfrm>
          <a:prstGeom prst="rect">
            <a:avLst/>
          </a:prstGeom>
          <a:noFill/>
        </p:spPr>
        <p:txBody>
          <a:bodyPr wrap="square" anchor="ctr" lIns="45720" rIns="45720">
            <a:spAutoFit/>
          </a:bodyPr>
          <a:lstStyle/>
          <a:p>
            <a:pPr algn="l"/>
            <a:r>
              <a:rPr sz="1400" b="0" i="0">
                <a:solidFill>
                  <a:srgbClr val="151515"/>
                </a:solidFill>
                <a:latin typeface="Red Hat Text"/>
              </a:rPr>
              <a:t>Debugging races, deadlocks, and sanitizers</a:t>
            </a:r>
          </a:p>
        </p:txBody>
      </p:sp>
      <p:sp>
        <p:nvSpPr>
          <p:cNvPr id="38" name="Oval 37"/>
          <p:cNvSpPr/>
          <p:nvPr/>
        </p:nvSpPr>
        <p:spPr>
          <a:xfrm>
            <a:off x="6217920" y="2706624"/>
            <a:ext cx="457200" cy="457200"/>
          </a:xfrm>
          <a:prstGeom prst="ellipse">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2706624"/>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11</a:t>
            </a:r>
          </a:p>
        </p:txBody>
      </p:sp>
      <p:sp>
        <p:nvSpPr>
          <p:cNvPr id="40" name="TextBox 39"/>
          <p:cNvSpPr txBox="1"/>
          <p:nvPr/>
        </p:nvSpPr>
        <p:spPr>
          <a:xfrm>
            <a:off x="6812280" y="2706624"/>
            <a:ext cx="4754880" cy="457200"/>
          </a:xfrm>
          <a:prstGeom prst="rect">
            <a:avLst/>
          </a:prstGeom>
          <a:noFill/>
        </p:spPr>
        <p:txBody>
          <a:bodyPr wrap="square" anchor="ctr" lIns="45720" rIns="45720">
            <a:spAutoFit/>
          </a:bodyPr>
          <a:lstStyle/>
          <a:p>
            <a:pPr algn="l"/>
            <a:r>
              <a:rPr sz="1400" b="0" i="0">
                <a:solidFill>
                  <a:srgbClr val="151515"/>
                </a:solidFill>
                <a:latin typeface="Red Hat Text"/>
              </a:rPr>
              <a:t>Observing concurrency</a:t>
            </a:r>
          </a:p>
        </p:txBody>
      </p:sp>
      <p:sp>
        <p:nvSpPr>
          <p:cNvPr id="41" name="Oval 40"/>
          <p:cNvSpPr/>
          <p:nvPr/>
        </p:nvSpPr>
        <p:spPr>
          <a:xfrm>
            <a:off x="6217920" y="3273552"/>
            <a:ext cx="457200" cy="45720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3273552"/>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12</a:t>
            </a:r>
          </a:p>
        </p:txBody>
      </p:sp>
      <p:sp>
        <p:nvSpPr>
          <p:cNvPr id="43" name="TextBox 42"/>
          <p:cNvSpPr txBox="1"/>
          <p:nvPr/>
        </p:nvSpPr>
        <p:spPr>
          <a:xfrm>
            <a:off x="6812280" y="3273552"/>
            <a:ext cx="4754880" cy="457200"/>
          </a:xfrm>
          <a:prstGeom prst="rect">
            <a:avLst/>
          </a:prstGeom>
          <a:noFill/>
        </p:spPr>
        <p:txBody>
          <a:bodyPr wrap="square" anchor="ctr" lIns="45720" rIns="45720">
            <a:spAutoFit/>
          </a:bodyPr>
          <a:lstStyle/>
          <a:p>
            <a:pPr algn="l"/>
            <a:r>
              <a:rPr sz="1400" b="0" i="0">
                <a:solidFill>
                  <a:srgbClr val="151515"/>
                </a:solidFill>
                <a:latin typeface="Red Hat Text"/>
              </a:rPr>
              <a:t>Coding practices and design patterns</a:t>
            </a:r>
          </a:p>
        </p:txBody>
      </p:sp>
      <p:sp>
        <p:nvSpPr>
          <p:cNvPr id="44" name="Oval 43"/>
          <p:cNvSpPr/>
          <p:nvPr/>
        </p:nvSpPr>
        <p:spPr>
          <a:xfrm>
            <a:off x="6217920" y="3840480"/>
            <a:ext cx="457200" cy="457200"/>
          </a:xfrm>
          <a:prstGeom prst="ellipse">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17920" y="384048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13</a:t>
            </a:r>
          </a:p>
        </p:txBody>
      </p:sp>
      <p:sp>
        <p:nvSpPr>
          <p:cNvPr id="46" name="TextBox 45"/>
          <p:cNvSpPr txBox="1"/>
          <p:nvPr/>
        </p:nvSpPr>
        <p:spPr>
          <a:xfrm>
            <a:off x="6812280" y="3840480"/>
            <a:ext cx="4754880" cy="457200"/>
          </a:xfrm>
          <a:prstGeom prst="rect">
            <a:avLst/>
          </a:prstGeom>
          <a:noFill/>
        </p:spPr>
        <p:txBody>
          <a:bodyPr wrap="square" anchor="ctr" lIns="45720" rIns="45720">
            <a:spAutoFit/>
          </a:bodyPr>
          <a:lstStyle/>
          <a:p>
            <a:pPr algn="l"/>
            <a:r>
              <a:rPr sz="1400" b="0" i="0">
                <a:solidFill>
                  <a:srgbClr val="151515"/>
                </a:solidFill>
                <a:latin typeface="Red Hat Text"/>
              </a:rPr>
              <a:t>Concurrency in containers</a:t>
            </a:r>
          </a:p>
        </p:txBody>
      </p:sp>
      <p:sp>
        <p:nvSpPr>
          <p:cNvPr id="47" name="Oval 46"/>
          <p:cNvSpPr/>
          <p:nvPr/>
        </p:nvSpPr>
        <p:spPr>
          <a:xfrm>
            <a:off x="6217920" y="4407408"/>
            <a:ext cx="457200" cy="457200"/>
          </a:xfrm>
          <a:prstGeom prst="ellipse">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0" y="4407408"/>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14</a:t>
            </a:r>
          </a:p>
        </p:txBody>
      </p:sp>
      <p:sp>
        <p:nvSpPr>
          <p:cNvPr id="49" name="TextBox 48"/>
          <p:cNvSpPr txBox="1"/>
          <p:nvPr/>
        </p:nvSpPr>
        <p:spPr>
          <a:xfrm>
            <a:off x="6812280" y="4407408"/>
            <a:ext cx="4754880" cy="457200"/>
          </a:xfrm>
          <a:prstGeom prst="rect">
            <a:avLst/>
          </a:prstGeom>
          <a:noFill/>
        </p:spPr>
        <p:txBody>
          <a:bodyPr wrap="square" anchor="ctr" lIns="45720" rIns="45720">
            <a:spAutoFit/>
          </a:bodyPr>
          <a:lstStyle/>
          <a:p>
            <a:pPr algn="l"/>
            <a:r>
              <a:rPr sz="1400" b="0" i="0">
                <a:solidFill>
                  <a:srgbClr val="151515"/>
                </a:solidFill>
                <a:latin typeface="Red Hat Text"/>
              </a:rPr>
              <a:t>Full example: ingest, match, publish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NUMA, affinity, and data locality</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Pinning a thread solves half the locality problem; first-touch decides the other half.</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3 / 62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NUMA, affinity, and data locality</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NUMA, affinity, and data locality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First-touch: the bug with no allocation call</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Linux binds a page to a node on first write</a:t>
            </a:r>
          </a:p>
          <a:p>
            <a:pPr algn="l">
              <a:lnSpc>
                <a:spcPct val="115000"/>
              </a:lnSpc>
            </a:pPr>
            <a:r>
              <a:rPr sz="1500" b="0" i="0">
                <a:solidFill>
                  <a:srgbClr val="1A2B3C"/>
                </a:solidFill>
                <a:latin typeface="Red Hat Text"/>
              </a:rPr>
              <a:t>•  malloc reserves address space; the kernel binds a physical page to a node only when it's first written</a:t>
            </a:r>
          </a:p>
          <a:p>
            <a:pPr algn="l">
              <a:lnSpc>
                <a:spcPct val="115000"/>
              </a:lnSpc>
            </a:pPr>
            <a:r>
              <a:rPr sz="1500" b="0" i="0">
                <a:solidFill>
                  <a:srgbClr val="1A2B3C"/>
                </a:solidFill>
                <a:latin typeface="Red Hat Text"/>
              </a:rPr>
              <a:t>•  a startup loop that zero-initializes a buffer on the main thread binds every page to that thread's node</a:t>
            </a:r>
          </a:p>
          <a:p>
            <a:pPr algn="l">
              <a:lnSpc>
                <a:spcPct val="115000"/>
              </a:lnSpc>
            </a:pPr>
            <a:r>
              <a:rPr sz="1500" b="0" i="0">
                <a:solidFill>
                  <a:srgbClr val="1A2B3C"/>
                </a:solidFill>
                <a:latin typeface="Red Hat Text"/>
              </a:rPr>
              <a:t>•  workers on other nodes then pay the remote penalty on every touch, for the buffer's entire lifetime</a:t>
            </a:r>
          </a:p>
          <a:p>
            <a:pPr algn="l">
              <a:lnSpc>
                <a:spcPct val="115000"/>
              </a:lnSpc>
            </a:pPr>
            <a:r>
              <a:rPr sz="1400" b="0" i="1">
                <a:solidFill>
                  <a:srgbClr val="90A4AE"/>
                </a:solidFill>
                <a:latin typeface="Red Hat Text"/>
              </a:rPr>
              <a:t>Fix: numa_alloc_onnode when the target node is known up front, or let each worker first-touch its own slice.</a:t>
            </a:r>
          </a:p>
        </p:txBody>
      </p:sp>
      <p:pic>
        <p:nvPicPr>
          <p:cNvPr id="10" name="Picture 9" descr="16-first-touch-misplacement.jpg"/>
          <p:cNvPicPr>
            <a:picLocks noChangeAspect="1"/>
          </p:cNvPicPr>
          <p:nvPr/>
        </p:nvPicPr>
        <p:blipFill>
          <a:blip r:embed="rId2"/>
          <a:stretch>
            <a:fillRect/>
          </a:stretch>
        </p:blipFill>
        <p:spPr>
          <a:xfrm>
            <a:off x="6217920" y="1554480"/>
            <a:ext cx="5486400" cy="293554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NUMA, affinity, and data locality</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NUMA, affinity, and data locality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The cost of getting locality wrong</a:t>
            </a:r>
          </a:p>
        </p:txBody>
      </p:sp>
      <p:sp>
        <p:nvSpPr>
          <p:cNvPr id="9" name="Rectangle 8"/>
          <p:cNvSpPr/>
          <p:nvPr/>
        </p:nvSpPr>
        <p:spPr>
          <a:xfrm>
            <a:off x="4572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1E6FC8"/>
                </a:solidFill>
                <a:latin typeface="Red Hat Display"/>
              </a:rPr>
              <a:t>10</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a node's relative distance to itself, by numactl --hardware convention</a:t>
            </a:r>
          </a:p>
        </p:txBody>
      </p:sp>
      <p:sp>
        <p:nvSpPr>
          <p:cNvPr id="12" name="Rectangle 11"/>
          <p:cNvSpPr/>
          <p:nvPr/>
        </p:nvSpPr>
        <p:spPr>
          <a:xfrm>
            <a:off x="33147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F5A623"/>
                </a:solidFill>
                <a:latin typeface="Red Hat Display"/>
              </a:rPr>
              <a:t>20s</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typical relative distance to a remote socket on current platforms</a:t>
            </a:r>
          </a:p>
        </p:txBody>
      </p:sp>
      <p:sp>
        <p:nvSpPr>
          <p:cNvPr id="15" name="Rectangle 14"/>
          <p:cNvSpPr/>
          <p:nvPr/>
        </p:nvSpPr>
        <p:spPr>
          <a:xfrm>
            <a:off x="61722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E84855"/>
                </a:solidFill>
                <a:latin typeface="Red Hat Display"/>
              </a:rPr>
              <a:t>30-60%</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remote access latency premium over a local one, platform-dependent</a:t>
            </a:r>
          </a:p>
        </p:txBody>
      </p:sp>
      <p:sp>
        <p:nvSpPr>
          <p:cNvPr id="18" name="Rectangle 17"/>
          <p:cNvSpPr/>
          <p:nvPr/>
        </p:nvSpPr>
        <p:spPr>
          <a:xfrm>
            <a:off x="90297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9B59B6"/>
                </a:solidFill>
                <a:latin typeface="Red Hat Display"/>
              </a:rPr>
              <a:t>64B</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the cache line both false sharing and NUMA cost compound across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NUMA, affinity, and data locality</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NUMA, affinity, and data locality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6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Pinning reaches through native_handle()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No standard affinity API exists at C++20, 23, or 26</a:t>
            </a:r>
          </a:p>
          <a:p>
            <a:pPr algn="l">
              <a:lnSpc>
                <a:spcPct val="115000"/>
              </a:lnSpc>
            </a:pPr>
            <a:r>
              <a:rPr sz="1500" b="0" i="0">
                <a:solidFill>
                  <a:srgbClr val="1A2B3C"/>
                </a:solidFill>
                <a:latin typeface="Red Hat Text"/>
              </a:rPr>
              <a:t>•  jthread::native_handle() is the only portable path to pthread_setaffinity_np</a:t>
            </a:r>
          </a:p>
          <a:p>
            <a:pPr algn="l">
              <a:lnSpc>
                <a:spcPct val="115000"/>
              </a:lnSpc>
            </a:pPr>
            <a:r>
              <a:rPr sz="1500" b="0" i="0">
                <a:solidFill>
                  <a:srgbClr val="1A2B3C"/>
                </a:solidFill>
                <a:latin typeface="Red Hat Text"/>
              </a:rPr>
              <a:t>•  sysconf(_SC_NPROCESSORS_ONLN) counts cores system-wide, ignoring any affinity mask already in place</a:t>
            </a:r>
          </a:p>
          <a:p>
            <a:pPr algn="l">
              <a:lnSpc>
                <a:spcPct val="115000"/>
              </a:lnSpc>
            </a:pPr>
            <a:r>
              <a:rPr sz="1500" b="0" i="0">
                <a:solidFill>
                  <a:srgbClr val="1A2B3C"/>
                </a:solidFill>
                <a:latin typeface="Red Hat Text"/>
              </a:rPr>
              <a:t>•  a cpuset.cpus and cpuset.mems pair have to agree: one constrains cores, the other constrains memory nodes</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void pin_to_node0(std::jthread&amp; t, int core_in_node0) {</a:t>
            </a:r>
          </a:p>
          <a:p>
            <a:r>
              <a:rPr sz="1200">
                <a:solidFill>
                  <a:srgbClr val="F4F4F4"/>
                </a:solidFill>
                <a:latin typeface="Red Hat Mono"/>
              </a:rPr>
              <a:t>    cpu_set_t set;</a:t>
            </a:r>
          </a:p>
          <a:p>
            <a:r>
              <a:rPr sz="1200">
                <a:solidFill>
                  <a:srgbClr val="F4F4F4"/>
                </a:solidFill>
                <a:latin typeface="Red Hat Mono"/>
              </a:rPr>
              <a:t>    CPU_ZERO(&amp;set);</a:t>
            </a:r>
          </a:p>
          <a:p>
            <a:r>
              <a:rPr sz="1200">
                <a:solidFill>
                  <a:srgbClr val="F4F4F4"/>
                </a:solidFill>
                <a:latin typeface="Red Hat Mono"/>
              </a:rPr>
              <a:t>    CPU_SET(core_in_node0, &amp;set);</a:t>
            </a:r>
          </a:p>
          <a:p>
            <a:r>
              <a:rPr sz="1200">
                <a:solidFill>
                  <a:srgbClr val="F4F4F4"/>
                </a:solidFill>
                <a:latin typeface="Red Hat Mono"/>
              </a:rPr>
              <a:t>    ::pthread_setaffinity_np(t.native_handle(),</a:t>
            </a:r>
          </a:p>
          <a:p>
            <a:r>
              <a:rPr sz="1200">
                <a:solidFill>
                  <a:srgbClr val="F4F4F4"/>
                </a:solidFill>
                <a:latin typeface="Red Hat Mono"/>
              </a:rPr>
              <a:t>                              sizeof(set), &amp;set);</a:t>
            </a:r>
          </a:p>
          <a:p>
            <a:r>
              <a:rPr sz="1200">
                <a:solidFill>
                  <a:srgbClr val="F4F4F4"/>
                </a:solidFill>
                <a:latin typeface="Red Hat Mono"/>
              </a:rPr>
              <a:t>}</a:t>
            </a:r>
          </a:p>
          <a:p>
            <a:r>
              <a:rPr sz="1200">
                <a:solidFill>
                  <a:srgbClr val="F4F4F4"/>
                </a:solidFill>
                <a:latin typeface="Red Hat Mono"/>
              </a:rPr>
              <a:t> </a:t>
            </a:r>
          </a:p>
          <a:p>
            <a:r>
              <a:rPr sz="1200">
                <a:solidFill>
                  <a:srgbClr val="F4F4F4"/>
                </a:solidFill>
                <a:latin typeface="Red Hat Mono"/>
              </a:rPr>
              <a:t>void* alloc_local(std::size_t bytes, int node) {</a:t>
            </a:r>
          </a:p>
          <a:p>
            <a:r>
              <a:rPr sz="1200">
                <a:solidFill>
                  <a:srgbClr val="F4F4F4"/>
                </a:solidFill>
                <a:latin typeface="Red Hat Mono"/>
              </a:rPr>
              <a:t>    // libnuma, not the standard library</a:t>
            </a:r>
          </a:p>
          <a:p>
            <a:r>
              <a:rPr sz="1200">
                <a:solidFill>
                  <a:srgbClr val="F4F4F4"/>
                </a:solidFill>
                <a:latin typeface="Red Hat Mono"/>
              </a:rPr>
              <a:t>    return numa_alloc_onnode(bytes, node);</a:t>
            </a:r>
          </a:p>
          <a:p>
            <a:r>
              <a:rPr sz="1200">
                <a:solidFill>
                  <a:srgbClr val="F4F4F4"/>
                </a:solidFill>
                <a:latin typeface="Red Hat Mono"/>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Red Hat Display"/>
              </a:rPr>
              <a:t>▶ DEMO 16</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Red Hat Display"/>
              </a:rPr>
              <a:t>First-touch placement and cpuset fallback</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F4F4F4"/>
                </a:solidFill>
                <a:latin typeface="Red Hat Text"/>
              </a:rPr>
              <a:t>Provisions a disposable KVM guest with a real two-NUMA-node topology and runs a benchmark there: numa_alloc_onnode placing pages on a requested node, first-touch binding a plain allocation to the thread that writes it first, and — confined to a cpuset whose cpuset.mems excludes the requested node — numa_alloc_onnode silently falling back to an allowed node.</a:t>
            </a:r>
          </a:p>
        </p:txBody>
      </p:sp>
      <p:sp>
        <p:nvSpPr>
          <p:cNvPr id="6" name="Rectangle 5"/>
          <p:cNvSpPr/>
          <p:nvPr/>
        </p:nvSpPr>
        <p:spPr>
          <a:xfrm>
            <a:off x="548640" y="4297680"/>
            <a:ext cx="11064240" cy="109728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EE0000"/>
                </a:solidFill>
                <a:latin typeface="Red Hat Mono"/>
              </a:rPr>
              <a:t>$ cd examples/concurrency/16-numa-affinity-and-data-locality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8A8A8A"/>
                </a:solidFill>
                <a:latin typeface="Red Hat Mono"/>
              </a:rPr>
              <a:t>  source on site: github.com/patterncatalyst/cpp-concurrency-and-parallelism/tree/main/examples/concurrency/16-numa-affinity-and-data-locality</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7 / 62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SIMD and data parallelism</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One instruction, several lanes, inside a single core — with none of a thread's coordination cost.</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8 / 62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SIMD and data parallelism</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SIMD and data parallelism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9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Layout decides whether vectorization is even possible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Array-of-structs vs struct-of-arrays</a:t>
            </a:r>
          </a:p>
          <a:p>
            <a:pPr algn="l">
              <a:lnSpc>
                <a:spcPct val="115000"/>
              </a:lnSpc>
            </a:pPr>
            <a:r>
              <a:rPr sz="1500" b="0" i="0">
                <a:solidFill>
                  <a:srgbClr val="1A2B3C"/>
                </a:solidFill>
                <a:latin typeface="Red Hat Text"/>
              </a:rPr>
              <a:t>•  AoS: one particle's fields contiguous, then the next — a stride-16-read-4 pattern that defeats a vector load</a:t>
            </a:r>
          </a:p>
          <a:p>
            <a:pPr algn="l">
              <a:lnSpc>
                <a:spcPct val="115000"/>
              </a:lnSpc>
            </a:pPr>
            <a:r>
              <a:rPr sz="1500" b="0" i="0">
                <a:solidFill>
                  <a:srgbClr val="1A2B3C"/>
                </a:solidFill>
                <a:latin typeface="Red Hat Text"/>
              </a:rPr>
              <a:t>•  SoA: every particle's x contiguous in its own array — exactly the contiguous run a vector load wants</a:t>
            </a:r>
          </a:p>
          <a:p>
            <a:pPr algn="l">
              <a:lnSpc>
                <a:spcPct val="115000"/>
              </a:lnSpc>
            </a:pPr>
            <a:r>
              <a:rPr sz="1500" b="0" i="0">
                <a:solidFill>
                  <a:srgbClr val="1A2B3C"/>
                </a:solidFill>
                <a:latin typeface="Red Hat Text"/>
              </a:rPr>
              <a:t>•  three source patterns reliably block autovectorization: aliasing, data-dependent branches, gather/scatter access</a:t>
            </a:r>
          </a:p>
          <a:p>
            <a:pPr algn="l">
              <a:lnSpc>
                <a:spcPct val="115000"/>
              </a:lnSpc>
            </a:pPr>
            <a:r>
              <a:rPr sz="1400" b="0" i="1">
                <a:solidFill>
                  <a:srgbClr val="90A4AE"/>
                </a:solidFill>
                <a:latin typeface="Red Hat Text"/>
              </a:rPr>
              <a:t>restrict (or __restrict) is a promise the compiler trusts without verifying — violate it and the result is undefined.</a:t>
            </a:r>
          </a:p>
        </p:txBody>
      </p:sp>
      <p:pic>
        <p:nvPicPr>
          <p:cNvPr id="10" name="Picture 9" descr="17-aos-vs-soa.jpg"/>
          <p:cNvPicPr>
            <a:picLocks noChangeAspect="1"/>
          </p:cNvPicPr>
          <p:nvPr/>
        </p:nvPicPr>
        <p:blipFill>
          <a:blip r:embed="rId2"/>
          <a:stretch>
            <a:fillRect/>
          </a:stretch>
        </p:blipFill>
        <p:spPr>
          <a:xfrm>
            <a:off x="6217920" y="1554480"/>
            <a:ext cx="5486400" cy="181137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SIMD and data parallelism</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SIMD and data parallelism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10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std::experimental::simd is the production option today</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C++26's std::simd is accepted, not yet shipping</a:t>
            </a:r>
          </a:p>
          <a:p>
            <a:pPr algn="l">
              <a:lnSpc>
                <a:spcPct val="115000"/>
              </a:lnSpc>
            </a:pPr>
            <a:r>
              <a:rPr sz="1500" b="0" i="0">
                <a:solidFill>
                  <a:srgbClr val="1A2B3C"/>
                </a:solidFill>
                <a:latin typeface="Red Hat Text"/>
              </a:rPr>
              <a:t>•  hand-written intrinsics give full control, tied to one instruction-set extension</a:t>
            </a:r>
          </a:p>
          <a:p>
            <a:pPr algn="l">
              <a:lnSpc>
                <a:spcPct val="115000"/>
              </a:lnSpc>
            </a:pPr>
            <a:r>
              <a:rPr sz="1500" b="0" i="0">
                <a:solidFill>
                  <a:srgbClr val="1A2B3C"/>
                </a:solidFill>
                <a:latin typeface="Red Hat Text"/>
              </a:rPr>
              <a:t>•  std::experimental::simd (Parallelism TS v2) maps the same source onto the target's native width</a:t>
            </a:r>
          </a:p>
          <a:p>
            <a:pPr algn="l">
              <a:lnSpc>
                <a:spcPct val="115000"/>
              </a:lnSpc>
            </a:pPr>
            <a:r>
              <a:rPr sz="1500" b="0" i="0">
                <a:solidFill>
                  <a:srgbClr val="1A2B3C"/>
                </a:solidFill>
                <a:latin typeface="Red Hat Text"/>
              </a:rPr>
              <a:t>•  std::simd, proposed via P1928 for C++26, is the eventual replacement — treat it as not yet shippable</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#include &lt;experimental/simd&gt;</a:t>
            </a:r>
          </a:p>
          <a:p>
            <a:r>
              <a:rPr sz="1200">
                <a:solidFill>
                  <a:srgbClr val="F4F4F4"/>
                </a:solidFill>
                <a:latin typeface="Red Hat Mono"/>
              </a:rPr>
              <a:t>namespace stdx = std::experimental;</a:t>
            </a:r>
          </a:p>
          <a:p>
            <a:r>
              <a:rPr sz="1200">
                <a:solidFill>
                  <a:srgbClr val="F4F4F4"/>
                </a:solidFill>
                <a:latin typeface="Red Hat Mono"/>
              </a:rPr>
              <a:t> </a:t>
            </a:r>
          </a:p>
          <a:p>
            <a:r>
              <a:rPr sz="1200">
                <a:solidFill>
                  <a:srgbClr val="F4F4F4"/>
                </a:solidFill>
                <a:latin typeface="Red Hat Mono"/>
              </a:rPr>
              <a:t>void add(const float* __restrict a,</a:t>
            </a:r>
          </a:p>
          <a:p>
            <a:r>
              <a:rPr sz="1200">
                <a:solidFill>
                  <a:srgbClr val="F4F4F4"/>
                </a:solidFill>
                <a:latin typeface="Red Hat Mono"/>
              </a:rPr>
              <a:t>         const float* __restrict b,</a:t>
            </a:r>
          </a:p>
          <a:p>
            <a:r>
              <a:rPr sz="1200">
                <a:solidFill>
                  <a:srgbClr val="F4F4F4"/>
                </a:solidFill>
                <a:latin typeface="Red Hat Mono"/>
              </a:rPr>
              <a:t>         float* __restrict out, int n) {</a:t>
            </a:r>
          </a:p>
          <a:p>
            <a:r>
              <a:rPr sz="1200">
                <a:solidFill>
                  <a:srgbClr val="F4F4F4"/>
                </a:solidFill>
                <a:latin typeface="Red Hat Mono"/>
              </a:rPr>
              <a:t>    using V = stdx::native_simd&lt;float&gt;;</a:t>
            </a:r>
          </a:p>
          <a:p>
            <a:r>
              <a:rPr sz="1200">
                <a:solidFill>
                  <a:srgbClr val="F4F4F4"/>
                </a:solidFill>
                <a:latin typeface="Red Hat Mono"/>
              </a:rPr>
              <a:t>    int width = V::size();</a:t>
            </a:r>
          </a:p>
          <a:p>
            <a:r>
              <a:rPr sz="1200">
                <a:solidFill>
                  <a:srgbClr val="F4F4F4"/>
                </a:solidFill>
                <a:latin typeface="Red Hat Mono"/>
              </a:rPr>
              <a:t>    int i = 0;</a:t>
            </a:r>
          </a:p>
          <a:p>
            <a:r>
              <a:rPr sz="1200">
                <a:solidFill>
                  <a:srgbClr val="F4F4F4"/>
                </a:solidFill>
                <a:latin typeface="Red Hat Mono"/>
              </a:rPr>
              <a:t>    for (; i + width &lt;= n; i += width) {</a:t>
            </a:r>
          </a:p>
          <a:p>
            <a:r>
              <a:rPr sz="1200">
                <a:solidFill>
                  <a:srgbClr val="F4F4F4"/>
                </a:solidFill>
                <a:latin typeface="Red Hat Mono"/>
              </a:rPr>
              <a:t>        V va(a + i, stdx::element_aligned);</a:t>
            </a:r>
          </a:p>
          <a:p>
            <a:r>
              <a:rPr sz="1200">
                <a:solidFill>
                  <a:srgbClr val="F4F4F4"/>
                </a:solidFill>
                <a:latin typeface="Red Hat Mono"/>
              </a:rPr>
              <a:t>        V vb(b + i, stdx::element_aligned);</a:t>
            </a:r>
          </a:p>
          <a:p>
            <a:r>
              <a:rPr sz="1200">
                <a:solidFill>
                  <a:srgbClr val="F4F4F4"/>
                </a:solidFill>
                <a:latin typeface="Red Hat Mono"/>
              </a:rPr>
              <a:t>        (va + vb).copy_to(out + i,</a:t>
            </a:r>
          </a:p>
          <a:p>
            <a:r>
              <a:rPr sz="1200">
                <a:solidFill>
                  <a:srgbClr val="F4F4F4"/>
                </a:solidFill>
                <a:latin typeface="Red Hat Mono"/>
              </a:rPr>
              <a:t>                           stdx::element_aligned);</a:t>
            </a:r>
          </a:p>
          <a:p>
            <a:r>
              <a:rPr sz="1200">
                <a:solidFill>
                  <a:srgbClr val="F4F4F4"/>
                </a:solidFill>
                <a:latin typeface="Red Hat Mono"/>
              </a:rPr>
              <a:t>    }</a:t>
            </a:r>
          </a:p>
          <a:p>
            <a:r>
              <a:rPr sz="1200">
                <a:solidFill>
                  <a:srgbClr val="F4F4F4"/>
                </a:solidFill>
                <a:latin typeface="Red Hat Mono"/>
              </a:rPr>
              <a:t>    for (; i &lt; n; ++i) out[i] = a[i] + b[i];</a:t>
            </a:r>
          </a:p>
          <a:p>
            <a:r>
              <a:rPr sz="1200">
                <a:solidFill>
                  <a:srgbClr val="F4F4F4"/>
                </a:solidFill>
                <a:latin typeface="Red Hat Mono"/>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Red Hat Display"/>
              </a:rPr>
              <a:t>▶ DEMO 17</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Red Hat Display"/>
              </a:rPr>
              <a:t>Scalar, intrinsics, and std::experimental::simd</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F4F4F4"/>
                </a:solidFill>
                <a:latin typeface="Red Hat Text"/>
              </a:rPr>
              <a:t>Drives a particle-update kernel through three variants — array-of-structs scalar, struct-of-arrays scalar, and struct-of-arrays std::experimental::simd — and asserts the three produce bit-identical final positions, then reports (as a soft signal) whether the explicit SIMD path ran faster.</a:t>
            </a:r>
          </a:p>
        </p:txBody>
      </p:sp>
      <p:sp>
        <p:nvSpPr>
          <p:cNvPr id="6" name="Rectangle 5"/>
          <p:cNvSpPr/>
          <p:nvPr/>
        </p:nvSpPr>
        <p:spPr>
          <a:xfrm>
            <a:off x="548640" y="4297680"/>
            <a:ext cx="11064240" cy="109728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EE0000"/>
                </a:solidFill>
                <a:latin typeface="Red Hat Mono"/>
              </a:rPr>
              <a:t>$ cd examples/concurrency/17-simd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8A8A8A"/>
                </a:solidFill>
                <a:latin typeface="Red Hat Mono"/>
              </a:rPr>
              <a:t>  source on site: github.com/patterncatalyst/cpp-concurrency-and-parallelism/tree/main/examples/concurrency/17-simd</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11 / 62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§3</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Benchmarking without deception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Every performance claim later in this deck defers to this chapter's methodology.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12 / 62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Benchmarking without deception</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Benchmarking without deception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13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Coordinated omission erases the tail it exists to describe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Red Hat Text"/>
              </a:rPr>
              <a:t>A closed-loop timer hides queued requests behind a stall</a:t>
            </a:r>
          </a:p>
          <a:p>
            <a:pPr algn="l">
              <a:lnSpc>
                <a:spcPct val="115000"/>
              </a:lnSpc>
            </a:pPr>
            <a:r>
              <a:rPr sz="1500" b="0" i="0">
                <a:solidFill>
                  <a:srgbClr val="1A2B3C"/>
                </a:solidFill>
                <a:latin typeface="Red Hat Text"/>
              </a:rPr>
              <a:t>•  iteration N+1 doesn't start its clock until iteration N returns — the natural, and deceptive, loop shape</a:t>
            </a:r>
          </a:p>
          <a:p>
            <a:pPr algn="l">
              <a:lnSpc>
                <a:spcPct val="115000"/>
              </a:lnSpc>
            </a:pPr>
            <a:r>
              <a:rPr sz="1500" b="0" i="0">
                <a:solidFill>
                  <a:srgbClr val="1A2B3C"/>
                </a:solidFill>
                <a:latin typeface="Red Hat Text"/>
              </a:rPr>
              <a:t>•  a single stalled iteration records one sample; a fixed-rate caller actually experiences several queued behind it</a:t>
            </a:r>
          </a:p>
          <a:p>
            <a:pPr algn="l">
              <a:lnSpc>
                <a:spcPct val="115000"/>
              </a:lnSpc>
            </a:pPr>
            <a:r>
              <a:rPr sz="1500" b="0" i="0">
                <a:solidFill>
                  <a:srgbClr val="1A2B3C"/>
                </a:solidFill>
                <a:latin typeface="Red Hat Text"/>
              </a:rPr>
              <a:t>•  the fix: backfill synthetic samples down to the expected interval for every raw sample that exceeds it</a:t>
            </a:r>
          </a:p>
          <a:p>
            <a:pPr algn="l">
              <a:lnSpc>
                <a:spcPct val="115000"/>
              </a:lnSpc>
            </a:pPr>
            <a:r>
              <a:rPr sz="1400" b="0" i="1">
                <a:solidFill>
                  <a:srgbClr val="90A4AE"/>
                </a:solidFill>
                <a:latin typeface="Red Hat Text"/>
              </a:rPr>
              <a:t>co_p99 is always &gt;= the raw p99 from the same run — the cheapest sanity check a harness can assert on itself.</a:t>
            </a:r>
          </a:p>
        </p:txBody>
      </p:sp>
      <p:pic>
        <p:nvPicPr>
          <p:cNvPr id="10" name="Picture 9" descr="18-coordinated-omission.jpg"/>
          <p:cNvPicPr>
            <a:picLocks noChangeAspect="1"/>
          </p:cNvPicPr>
          <p:nvPr/>
        </p:nvPicPr>
        <p:blipFill>
          <a:blip r:embed="rId2"/>
          <a:stretch>
            <a:fillRect/>
          </a:stretch>
        </p:blipFill>
        <p:spPr>
          <a:xfrm>
            <a:off x="6217920" y="1554480"/>
            <a:ext cx="5486400" cy="238651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Benchmarking without deception</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Benchmarking without deception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14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Percentiles over the mean, and a clock that can't lie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A mean of 200ns describes two very different systems</a:t>
            </a:r>
          </a:p>
          <a:p>
            <a:pPr algn="l">
              <a:lnSpc>
                <a:spcPct val="115000"/>
              </a:lnSpc>
            </a:pPr>
            <a:r>
              <a:rPr sz="1500" b="0" i="0">
                <a:solidFill>
                  <a:srgbClr val="1A2B3C"/>
                </a:solidFill>
                <a:latin typeface="Red Hat Text"/>
              </a:rPr>
              <a:t>•  999 calls at 40ns and one at 160,200ns average to the same 200ns as every call taking 200ns flat</a:t>
            </a:r>
          </a:p>
          <a:p>
            <a:pPr algn="l">
              <a:lnSpc>
                <a:spcPct val="115000"/>
              </a:lnSpc>
            </a:pPr>
            <a:r>
              <a:rPr sz="1500" b="0" i="0">
                <a:solidFill>
                  <a:srgbClr val="1A2B3C"/>
                </a:solidFill>
                <a:latin typeface="Red Hat Text"/>
              </a:rPr>
              <a:t>•  std::chrono::steady_clock is the right clock — monotonic, immune to NTP jumps, counts blocked time too</a:t>
            </a:r>
          </a:p>
          <a:p>
            <a:pPr algn="l">
              <a:lnSpc>
                <a:spcPct val="115000"/>
              </a:lnSpc>
            </a:pPr>
            <a:r>
              <a:rPr sz="1500" b="0" i="0">
                <a:solidFill>
                  <a:srgbClr val="1A2B3C"/>
                </a:solidFill>
                <a:latin typeface="Red Hat Text"/>
              </a:rPr>
              <a:t>•  the CPU frequency governor has to be pinned for a run's duration, or variance in clock rate lands in the tail</a:t>
            </a:r>
          </a:p>
          <a:p>
            <a:pPr algn="l">
              <a:lnSpc>
                <a:spcPct val="115000"/>
              </a:lnSpc>
            </a:pPr>
            <a:r>
              <a:rPr sz="1500" b="0" i="0">
                <a:solidFill>
                  <a:srgbClr val="1A2B3C"/>
                </a:solidFill>
                <a:latin typeface="Red Hat Text"/>
              </a:rPr>
              <a:t>•  the compiler will delete a loop whose result is never observed — accumulate into a checksum the program reads 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Red Hat Display"/>
              </a:rPr>
              <a:t>▶ DEMO 18</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Red Hat Display"/>
              </a:rPr>
              <a:t>The chapter's benchmarking harness</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F4F4F4"/>
                </a:solidFill>
                <a:latin typeface="Red Hat Text"/>
              </a:rPr>
              <a:t>Runs an atomic fetch_add workload through the full harness — warmup, percentile reporting, coordinated-omission correction, checksum — and asserts co_p99_ns &gt;= p99_ns and checksum correctness, then drives a --naive mode that skips warmup and prints no percentile field at all.</a:t>
            </a:r>
          </a:p>
        </p:txBody>
      </p:sp>
      <p:sp>
        <p:nvSpPr>
          <p:cNvPr id="6" name="Rectangle 5"/>
          <p:cNvSpPr/>
          <p:nvPr/>
        </p:nvSpPr>
        <p:spPr>
          <a:xfrm>
            <a:off x="548640" y="4297680"/>
            <a:ext cx="11064240" cy="109728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EE0000"/>
                </a:solidFill>
                <a:latin typeface="Red Hat Mono"/>
              </a:rPr>
              <a:t>$ cd examples/concurrency/18-benchmarking-without-deception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8A8A8A"/>
                </a:solidFill>
                <a:latin typeface="Red Hat Mono"/>
              </a:rPr>
              <a:t>  source on site: github.com/patterncatalyst/cpp-concurrency-and-parallelism/tree/main/examples/concurrency/18-benchmarking-without-deception</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15 / 62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§4</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The low-latency fast path</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Three moves shrink the tail; none of them is free, and applying them without a reason is worse than skipping them.</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16 / 62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The low-latency fast path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The low-latency fast path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17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Three moves that shrink the tail</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Pin, reuse, busy-poll — each removes one jitter source</a:t>
            </a:r>
          </a:p>
          <a:p>
            <a:pPr algn="l">
              <a:lnSpc>
                <a:spcPct val="115000"/>
              </a:lnSpc>
            </a:pPr>
            <a:r>
              <a:rPr sz="1500" b="0" i="0">
                <a:solidFill>
                  <a:srgbClr val="1A2B3C"/>
                </a:solidFill>
                <a:latin typeface="Red Hat Text"/>
              </a:rPr>
              <a:t>•  pin to one CPU: a migrated thread loses its warm cache and, across a NUMA boundary, local memory access</a:t>
            </a:r>
          </a:p>
          <a:p>
            <a:pPr algn="l">
              <a:lnSpc>
                <a:spcPct val="115000"/>
              </a:lnSpc>
            </a:pPr>
            <a:r>
              <a:rPr sz="1500" b="0" i="0">
                <a:solidFill>
                  <a:srgbClr val="1A2B3C"/>
                </a:solidFill>
                <a:latin typeface="Red Hat Text"/>
              </a:rPr>
              <a:t>•  reuse one buffer: a freshly allocated read buffer pays an allocator cost that's small on average, variable in the tail</a:t>
            </a:r>
          </a:p>
          <a:p>
            <a:pPr algn="l">
              <a:lnSpc>
                <a:spcPct val="115000"/>
              </a:lnSpc>
            </a:pPr>
            <a:r>
              <a:rPr sz="1500" b="0" i="0">
                <a:solidFill>
                  <a:srgbClr val="1A2B3C"/>
                </a:solidFill>
                <a:latin typeface="Red Hat Text"/>
              </a:rPr>
              <a:t>•  busy-poll: spins on a non-blocking read instead of sleeping, trading a whole core for eliminating the wakeup round trip</a:t>
            </a:r>
          </a:p>
          <a:p>
            <a:pPr algn="l">
              <a:lnSpc>
                <a:spcPct val="115000"/>
              </a:lnSpc>
            </a:pPr>
            <a:r>
              <a:rPr sz="1400" b="0" i="1">
                <a:solidFill>
                  <a:srgbClr val="90A4AE"/>
                </a:solidFill>
                <a:latin typeface="Red Hat Text"/>
              </a:rPr>
              <a:t>Right for a dedicated latency-critical thread; wrong for a general worker pool that benefits from load balancing.</a:t>
            </a:r>
          </a:p>
        </p:txBody>
      </p:sp>
      <p:pic>
        <p:nvPicPr>
          <p:cNvPr id="10" name="Picture 9" descr="19-fastpath-datapath.jpg"/>
          <p:cNvPicPr>
            <a:picLocks noChangeAspect="1"/>
          </p:cNvPicPr>
          <p:nvPr/>
        </p:nvPicPr>
        <p:blipFill>
          <a:blip r:embed="rId2"/>
          <a:stretch>
            <a:fillRect/>
          </a:stretch>
        </p:blipFill>
        <p:spPr>
          <a:xfrm>
            <a:off x="6217920" y="1554480"/>
            <a:ext cx="5486400" cy="249857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The low-latency fast path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The low-latency fast path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18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Pinning and an efficient (not a busy) wait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atomic wait/notify is a blocking wait, not a spin substitute</a:t>
            </a:r>
          </a:p>
          <a:p>
            <a:pPr algn="l">
              <a:lnSpc>
                <a:spcPct val="115000"/>
              </a:lnSpc>
            </a:pPr>
            <a:r>
              <a:rPr sz="1500" b="0" i="0">
                <a:solidFill>
                  <a:srgbClr val="1A2B3C"/>
                </a:solidFill>
                <a:latin typeface="Red Hat Text"/>
              </a:rPr>
              <a:t>•  sysconf(_SC_NPROCESSORS_ONLN) is the right call to validate a pin target — it ignores any affinity mask already in place</a:t>
            </a:r>
          </a:p>
          <a:p>
            <a:pPr algn="l">
              <a:lnSpc>
                <a:spcPct val="115000"/>
              </a:lnSpc>
            </a:pPr>
            <a:r>
              <a:rPr sz="1500" b="0" i="0">
                <a:solidFill>
                  <a:srgbClr val="1A2B3C"/>
                </a:solidFill>
                <a:latin typeface="Red Hat Text"/>
              </a:rPr>
              <a:t>•  wait/notify parks on a futex without a condvar's mutex pairing, but it's still a kernel wakeup</a:t>
            </a:r>
          </a:p>
          <a:p>
            <a:pPr algn="l">
              <a:lnSpc>
                <a:spcPct val="115000"/>
              </a:lnSpc>
            </a:pPr>
            <a:r>
              <a:rPr sz="1500" b="0" i="0">
                <a:solidFill>
                  <a:srgbClr val="1A2B3C"/>
                </a:solidFill>
                <a:latin typeface="Red Hat Text"/>
              </a:rPr>
              <a:t>•  a hybrid is common in practice: spin for a short window after the last message, then fall back to blocking</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void pin_to_cpu(std::jthread&amp; t, int cpu) {</a:t>
            </a:r>
          </a:p>
          <a:p>
            <a:r>
              <a:rPr sz="1200">
                <a:solidFill>
                  <a:srgbClr val="F4F4F4"/>
                </a:solidFill>
                <a:latin typeface="Red Hat Mono"/>
              </a:rPr>
              <a:t>    cpu_set_t set;</a:t>
            </a:r>
          </a:p>
          <a:p>
            <a:r>
              <a:rPr sz="1200">
                <a:solidFill>
                  <a:srgbClr val="F4F4F4"/>
                </a:solidFill>
                <a:latin typeface="Red Hat Mono"/>
              </a:rPr>
              <a:t>    CPU_ZERO(&amp;set);</a:t>
            </a:r>
          </a:p>
          <a:p>
            <a:r>
              <a:rPr sz="1200">
                <a:solidFill>
                  <a:srgbClr val="F4F4F4"/>
                </a:solidFill>
                <a:latin typeface="Red Hat Mono"/>
              </a:rPr>
              <a:t>    CPU_SET(cpu, &amp;set);</a:t>
            </a:r>
          </a:p>
          <a:p>
            <a:r>
              <a:rPr sz="1200">
                <a:solidFill>
                  <a:srgbClr val="F4F4F4"/>
                </a:solidFill>
                <a:latin typeface="Red Hat Mono"/>
              </a:rPr>
              <a:t>    ::pthread_setaffinity_np(t.native_handle(),</a:t>
            </a:r>
          </a:p>
          <a:p>
            <a:r>
              <a:rPr sz="1200">
                <a:solidFill>
                  <a:srgbClr val="F4F4F4"/>
                </a:solidFill>
                <a:latin typeface="Red Hat Mono"/>
              </a:rPr>
              <a:t>                              sizeof(set), &amp;set);</a:t>
            </a:r>
          </a:p>
          <a:p>
            <a:r>
              <a:rPr sz="1200">
                <a:solidFill>
                  <a:srgbClr val="F4F4F4"/>
                </a:solidFill>
                <a:latin typeface="Red Hat Mono"/>
              </a:rPr>
              <a:t>}</a:t>
            </a:r>
          </a:p>
          <a:p>
            <a:r>
              <a:rPr sz="1200">
                <a:solidFill>
                  <a:srgbClr val="F4F4F4"/>
                </a:solidFill>
                <a:latin typeface="Red Hat Mono"/>
              </a:rPr>
              <a:t> </a:t>
            </a:r>
          </a:p>
          <a:p>
            <a:r>
              <a:rPr sz="1200">
                <a:solidFill>
                  <a:srgbClr val="F4F4F4"/>
                </a:solidFill>
                <a:latin typeface="Red Hat Mono"/>
              </a:rPr>
              <a:t>// efficient blocking wait -- NOT a busy-poll substitute</a:t>
            </a:r>
          </a:p>
          <a:p>
            <a:r>
              <a:rPr sz="1200">
                <a:solidFill>
                  <a:srgbClr val="F4F4F4"/>
                </a:solidFill>
                <a:latin typeface="Red Hat Mono"/>
              </a:rPr>
              <a:t>std::atomic&lt;bool&gt; data_ready{false};</a:t>
            </a:r>
          </a:p>
          <a:p>
            <a:r>
              <a:rPr sz="1200">
                <a:solidFill>
                  <a:srgbClr val="F4F4F4"/>
                </a:solidFill>
                <a:latin typeface="Red Hat Mono"/>
              </a:rPr>
              <a:t>void waiting_consumer() {</a:t>
            </a:r>
          </a:p>
          <a:p>
            <a:r>
              <a:rPr sz="1200">
                <a:solidFill>
                  <a:srgbClr val="F4F4F4"/>
                </a:solidFill>
                <a:latin typeface="Red Hat Mono"/>
              </a:rPr>
              <a:t>    data_ready.wait(false);   // parks on a futex</a:t>
            </a:r>
          </a:p>
          <a:p>
            <a:r>
              <a:rPr sz="1200">
                <a:solidFill>
                  <a:srgbClr val="F4F4F4"/>
                </a:solidFill>
                <a:latin typeface="Red Hat Mono"/>
              </a:rPr>
              <a:t>    process_message();</a:t>
            </a:r>
          </a:p>
          <a:p>
            <a:r>
              <a:rPr sz="1200">
                <a:solidFill>
                  <a:srgbClr val="F4F4F4"/>
                </a:solidFill>
                <a:latin typeface="Red Hat Mono"/>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The low-latency fast path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The low-latency fast path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19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What's left once the big three are settled</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Red Hat Text"/>
              </a:rPr>
              <a:t>Syscalls, locks, branches — then kernel bypass</a:t>
            </a:r>
          </a:p>
          <a:p>
            <a:pPr algn="l">
              <a:lnSpc>
                <a:spcPct val="115000"/>
              </a:lnSpc>
            </a:pPr>
            <a:r>
              <a:rPr sz="1500" b="0" i="0">
                <a:solidFill>
                  <a:srgbClr val="1A2B3C"/>
                </a:solidFill>
                <a:latin typeface="Red Hat Text"/>
              </a:rPr>
              <a:t>•  a syscall's mode-transition cost is smaller than a scheduler round trip but still non-zero and not fully predictable</a:t>
            </a:r>
          </a:p>
          <a:p>
            <a:pPr algn="l">
              <a:lnSpc>
                <a:spcPct val="115000"/>
              </a:lnSpc>
            </a:pPr>
            <a:r>
              <a:rPr sz="1500" b="0" i="0">
                <a:solidFill>
                  <a:srgbClr val="1A2B3C"/>
                </a:solidFill>
                <a:latin typeface="Red Hat Text"/>
              </a:rPr>
              <a:t>•  a lock's danger isn't acquisition cost — it's the possibility of blocking on another thread's schedule</a:t>
            </a:r>
          </a:p>
          <a:p>
            <a:pPr algn="l">
              <a:lnSpc>
                <a:spcPct val="115000"/>
              </a:lnSpc>
            </a:pPr>
            <a:r>
              <a:rPr sz="1500" b="0" i="0">
                <a:solidFill>
                  <a:srgbClr val="1A2B3C"/>
                </a:solidFill>
                <a:latin typeface="Red Hat Text"/>
              </a:rPr>
              <a:t>•  a mispredicted branch costs a pipeline flush; put the common case first once the bigger costs are addressed</a:t>
            </a:r>
          </a:p>
          <a:p>
            <a:pPr algn="l">
              <a:lnSpc>
                <a:spcPct val="115000"/>
              </a:lnSpc>
            </a:pPr>
            <a:r>
              <a:rPr sz="1500" b="0" i="0">
                <a:solidFill>
                  <a:srgbClr val="1A2B3C"/>
                </a:solidFill>
                <a:latin typeface="Red Hat Text"/>
              </a:rPr>
              <a:t>•  kernel bypass removes the kernel crossing entirely — the next tier past a busy-poll loop, at a real operational cost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§5</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Mechanical sympathy</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Two threads that share no data still serialize, because the cache invalidates whole lines, not bytes.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20 / 62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Mechanical sympathy</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Mechanical sympathy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21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False sharing looks like contention with no shared data</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Red Hat Text"/>
              </a:rPr>
              <a:t>Two atomics eight bytes apart, same cache line</a:t>
            </a:r>
          </a:p>
          <a:p>
            <a:pPr algn="l">
              <a:lnSpc>
                <a:spcPct val="115000"/>
              </a:lnSpc>
            </a:pPr>
            <a:r>
              <a:rPr sz="1500" b="0" i="0">
                <a:solidFill>
                  <a:srgbClr val="1A2B3C"/>
                </a:solidFill>
                <a:latin typeface="Red Hat Text"/>
              </a:rPr>
              <a:t>•  each thread's fetch_add is uncontended in the sense a programmer means — no other thread touches that value</a:t>
            </a:r>
          </a:p>
          <a:p>
            <a:pPr algn="l">
              <a:lnSpc>
                <a:spcPct val="115000"/>
              </a:lnSpc>
            </a:pPr>
            <a:r>
              <a:rPr sz="1500" b="0" i="0">
                <a:solidFill>
                  <a:srgbClr val="1A2B3C"/>
                </a:solidFill>
                <a:latin typeface="Red Hat Text"/>
              </a:rPr>
              <a:t>•  and yet each write invalidates the line the other thread just cached, forcing a fresh fetch on the very next access</a:t>
            </a:r>
          </a:p>
          <a:p>
            <a:pPr algn="l">
              <a:lnSpc>
                <a:spcPct val="115000"/>
              </a:lnSpc>
            </a:pPr>
            <a:r>
              <a:rPr sz="1500" b="0" i="0">
                <a:solidFill>
                  <a:srgbClr val="1A2B3C"/>
                </a:solidFill>
                <a:latin typeface="Red Hat Text"/>
              </a:rPr>
              <a:t>•  alignas(std::hardware_destructive_interference_size) is the portable fix — padding to a reported line size, not a guess</a:t>
            </a:r>
          </a:p>
          <a:p>
            <a:pPr algn="l">
              <a:lnSpc>
                <a:spcPct val="115000"/>
              </a:lnSpc>
            </a:pPr>
            <a:r>
              <a:rPr sz="1400" b="0" i="1">
                <a:solidFill>
                  <a:srgbClr val="90A4AE"/>
                </a:solidFill>
                <a:latin typeface="Red Hat Text"/>
              </a:rPr>
              <a:t>hardware_constructive_interference_size names the opposite goal: packing together data that is used together onto one line on purpose.</a:t>
            </a:r>
          </a:p>
        </p:txBody>
      </p:sp>
      <p:pic>
        <p:nvPicPr>
          <p:cNvPr id="10" name="Picture 9" descr="20-false-sharing.jpg"/>
          <p:cNvPicPr>
            <a:picLocks noChangeAspect="1"/>
          </p:cNvPicPr>
          <p:nvPr/>
        </p:nvPicPr>
        <p:blipFill>
          <a:blip r:embed="rId2"/>
          <a:stretch>
            <a:fillRect/>
          </a:stretch>
        </p:blipFill>
        <p:spPr>
          <a:xfrm>
            <a:off x="6217920" y="1554480"/>
            <a:ext cx="5486400" cy="261797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Mechanical sympathy</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Mechanical sympathy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22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 hot atomic never wins once contention is real</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9B59B6"/>
                </a:solidFill>
                <a:latin typeface="Red Hat Text"/>
              </a:rPr>
              <a:t>Per-thread shards, summed only on read</a:t>
            </a:r>
          </a:p>
          <a:p>
            <a:pPr algn="l">
              <a:lnSpc>
                <a:spcPct val="115000"/>
              </a:lnSpc>
            </a:pPr>
            <a:r>
              <a:rPr sz="1500" b="0" i="0">
                <a:solidFill>
                  <a:srgbClr val="1A2B3C"/>
                </a:solidFill>
                <a:latin typeface="Red Hat Text"/>
              </a:rPr>
              <a:t>•  padding separates independent atomics from each other — it does nothing when multiple threads write the same logical counter</a:t>
            </a:r>
          </a:p>
          <a:p>
            <a:pPr algn="l">
              <a:lnSpc>
                <a:spcPct val="115000"/>
              </a:lnSpc>
            </a:pPr>
            <a:r>
              <a:rPr sz="1500" b="0" i="0">
                <a:solidFill>
                  <a:srgbClr val="1A2B3C"/>
                </a:solidFill>
                <a:latin typeface="Red Hat Text"/>
              </a:rPr>
              <a:t>•  the fix is architectural: each thread writes a plain, uncontended local; the aggregate is computed only when needed</a:t>
            </a:r>
          </a:p>
          <a:p>
            <a:pPr algn="l">
              <a:lnSpc>
                <a:spcPct val="115000"/>
              </a:lnSpc>
            </a:pPr>
            <a:r>
              <a:rPr sz="1500" b="0" i="0">
                <a:solidFill>
                  <a:srgbClr val="1A2B3C"/>
                </a:solidFill>
                <a:latin typeface="Red Hat Text"/>
              </a:rPr>
              <a:t>•  the right trade whenever writes vastly outnumber reads — millions of increments a second, one read per metrics scrape</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struct alignas(std::hardware_destructive_interference_size)</a:t>
            </a:r>
          </a:p>
          <a:p>
            <a:r>
              <a:rPr sz="1200">
                <a:solidFill>
                  <a:srgbClr val="F4F4F4"/>
                </a:solidFill>
                <a:latin typeface="Red Hat Mono"/>
              </a:rPr>
              <a:t>PaddedCounter {</a:t>
            </a:r>
          </a:p>
          <a:p>
            <a:r>
              <a:rPr sz="1200">
                <a:solidFill>
                  <a:srgbClr val="F4F4F4"/>
                </a:solidFill>
                <a:latin typeface="Red Hat Mono"/>
              </a:rPr>
              <a:t>    std::uint64_t value{0};  // owned by one thread only</a:t>
            </a:r>
          </a:p>
          <a:p>
            <a:r>
              <a:rPr sz="1200">
                <a:solidFill>
                  <a:srgbClr val="F4F4F4"/>
                </a:solidFill>
                <a:latin typeface="Red Hat Mono"/>
              </a:rPr>
              <a:t>};</a:t>
            </a:r>
          </a:p>
          <a:p>
            <a:r>
              <a:rPr sz="1200">
                <a:solidFill>
                  <a:srgbClr val="F4F4F4"/>
                </a:solidFill>
                <a:latin typeface="Red Hat Mono"/>
              </a:rPr>
              <a:t> </a:t>
            </a:r>
          </a:p>
          <a:p>
            <a:r>
              <a:rPr sz="1200">
                <a:solidFill>
                  <a:srgbClr val="F4F4F4"/>
                </a:solidFill>
                <a:latin typeface="Red Hat Mono"/>
              </a:rPr>
              <a:t>class ShardedCounter {</a:t>
            </a:r>
          </a:p>
          <a:p>
            <a:r>
              <a:rPr sz="1200">
                <a:solidFill>
                  <a:srgbClr val="F4F4F4"/>
                </a:solidFill>
                <a:latin typeface="Red Hat Mono"/>
              </a:rPr>
              <a:t>public:</a:t>
            </a:r>
          </a:p>
          <a:p>
            <a:r>
              <a:rPr sz="1200">
                <a:solidFill>
                  <a:srgbClr val="F4F4F4"/>
                </a:solidFill>
                <a:latin typeface="Red Hat Mono"/>
              </a:rPr>
              <a:t>    explicit ShardedCounter(std::size_t n) : shards_(n) {}</a:t>
            </a:r>
          </a:p>
          <a:p>
            <a:r>
              <a:rPr sz="1200">
                <a:solidFill>
                  <a:srgbClr val="F4F4F4"/>
                </a:solidFill>
                <a:latin typeface="Red Hat Mono"/>
              </a:rPr>
              <a:t> </a:t>
            </a:r>
          </a:p>
          <a:p>
            <a:r>
              <a:rPr sz="1200">
                <a:solidFill>
                  <a:srgbClr val="F4F4F4"/>
                </a:solidFill>
                <a:latin typeface="Red Hat Mono"/>
              </a:rPr>
              <a:t>    void increment(std::size_t i) {</a:t>
            </a:r>
          </a:p>
          <a:p>
            <a:r>
              <a:rPr sz="1200">
                <a:solidFill>
                  <a:srgbClr val="F4F4F4"/>
                </a:solidFill>
                <a:latin typeface="Red Hat Mono"/>
              </a:rPr>
              <a:t>        ++shards_[i].value;  // no atomic, no contention</a:t>
            </a:r>
          </a:p>
          <a:p>
            <a:r>
              <a:rPr sz="1200">
                <a:solidFill>
                  <a:srgbClr val="F4F4F4"/>
                </a:solidFill>
                <a:latin typeface="Red Hat Mono"/>
              </a:rPr>
              <a:t>    }</a:t>
            </a:r>
          </a:p>
          <a:p>
            <a:r>
              <a:rPr sz="1200">
                <a:solidFill>
                  <a:srgbClr val="F4F4F4"/>
                </a:solidFill>
                <a:latin typeface="Red Hat Mono"/>
              </a:rPr>
              <a:t> </a:t>
            </a:r>
          </a:p>
          <a:p>
            <a:r>
              <a:rPr sz="1200">
                <a:solidFill>
                  <a:srgbClr val="F4F4F4"/>
                </a:solidFill>
                <a:latin typeface="Red Hat Mono"/>
              </a:rPr>
              <a:t>    std::uint64_t total() const {</a:t>
            </a:r>
          </a:p>
          <a:p>
            <a:r>
              <a:rPr sz="1200">
                <a:solidFill>
                  <a:srgbClr val="F4F4F4"/>
                </a:solidFill>
                <a:latin typeface="Red Hat Mono"/>
              </a:rPr>
              <a:t>        std::uint64_t sum = 0;</a:t>
            </a:r>
          </a:p>
          <a:p>
            <a:r>
              <a:rPr sz="1200">
                <a:solidFill>
                  <a:srgbClr val="F4F4F4"/>
                </a:solidFill>
                <a:latin typeface="Red Hat Mono"/>
              </a:rPr>
              <a:t>        for (const auto&amp; s : shards_) sum += s.value;</a:t>
            </a:r>
          </a:p>
          <a:p>
            <a:r>
              <a:rPr sz="1200">
                <a:solidFill>
                  <a:srgbClr val="F4F4F4"/>
                </a:solidFill>
                <a:latin typeface="Red Hat Mono"/>
              </a:rPr>
              <a:t>        return sum;</a:t>
            </a:r>
          </a:p>
          <a:p>
            <a:r>
              <a:rPr sz="1200">
                <a:solidFill>
                  <a:srgbClr val="F4F4F4"/>
                </a:solidFill>
                <a:latin typeface="Red Hat Mono"/>
              </a:rPr>
              <a:t>    }</a:t>
            </a:r>
          </a:p>
          <a:p>
            <a:r>
              <a:rPr sz="1200">
                <a:solidFill>
                  <a:srgbClr val="F4F4F4"/>
                </a:solidFill>
                <a:latin typeface="Red Hat Mono"/>
              </a:rPr>
              <a:t> </a:t>
            </a:r>
          </a:p>
          <a:p>
            <a:r>
              <a:rPr sz="1200">
                <a:solidFill>
                  <a:srgbClr val="F4F4F4"/>
                </a:solidFill>
                <a:latin typeface="Red Hat Mono"/>
              </a:rPr>
              <a:t>private:</a:t>
            </a:r>
          </a:p>
          <a:p>
            <a:r>
              <a:rPr sz="1200">
                <a:solidFill>
                  <a:srgbClr val="F4F4F4"/>
                </a:solidFill>
                <a:latin typeface="Red Hat Mono"/>
              </a:rPr>
              <a:t>    std::vector&lt;PaddedCounter&gt; shards_;</a:t>
            </a:r>
          </a:p>
          <a:p>
            <a:r>
              <a:rPr sz="1200">
                <a:solidFill>
                  <a:srgbClr val="F4F4F4"/>
                </a:solidFill>
                <a:latin typeface="Red Hat Mono"/>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Red Hat Display"/>
              </a:rPr>
              <a:t>▶ DEMO 20</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Red Hat Display"/>
              </a:rPr>
              <a:t>Padded vs unpadded counters, pinned apart</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F4F4F4"/>
                </a:solidFill>
                <a:latin typeface="Red Hat Text"/>
              </a:rPr>
              <a:t>Two pinned threads each fetch_add their own counter through several trials of --pad off and --pad on. Correctness holds in every trial regardless of padding; the padded run's average elapsed time comes in measurably lower, which is the signal that false sharing is real, not hypothetical.</a:t>
            </a:r>
          </a:p>
        </p:txBody>
      </p:sp>
      <p:sp>
        <p:nvSpPr>
          <p:cNvPr id="6" name="Rectangle 5"/>
          <p:cNvSpPr/>
          <p:nvPr/>
        </p:nvSpPr>
        <p:spPr>
          <a:xfrm>
            <a:off x="548640" y="4297680"/>
            <a:ext cx="11064240" cy="109728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EE0000"/>
                </a:solidFill>
                <a:latin typeface="Red Hat Mono"/>
              </a:rPr>
              <a:t>$ cd examples/concurrency/20-mechanical-sympathy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8A8A8A"/>
                </a:solidFill>
                <a:latin typeface="Red Hat Mono"/>
              </a:rPr>
              <a:t>  source on site: github.com/patterncatalyst/cpp-concurrency-and-parallelism/tree/main/examples/concurrency/20-mechanical-sympathy</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23 / 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§6</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Lock-free messaging and the Disruptor</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Every mutable location has exactly one writer — that single property removes the lock entirely.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24 / 62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Lock-free messaging and the Disruptor</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Lock-free messaging and the Disruptor</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25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Sequence barriers coordinate fan-out without a lock</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A published sequence, and consumers that trail it</a:t>
            </a:r>
          </a:p>
          <a:p>
            <a:pPr algn="l">
              <a:lnSpc>
                <a:spcPct val="115000"/>
              </a:lnSpc>
            </a:pPr>
            <a:r>
              <a:rPr sz="1500" b="0" i="0">
                <a:solidFill>
                  <a:srgbClr val="1A2B3C"/>
                </a:solidFill>
                <a:latin typeface="Red Hat Text"/>
              </a:rPr>
              <a:t>•  each consumer owns an atomic sequence counter recording the last slot it has fully processed</a:t>
            </a:r>
          </a:p>
          <a:p>
            <a:pPr algn="l">
              <a:lnSpc>
                <a:spcPct val="115000"/>
              </a:lnSpc>
            </a:pPr>
            <a:r>
              <a:rPr sz="1500" b="0" i="0">
                <a:solidFill>
                  <a:srgbClr val="1A2B3C"/>
                </a:solidFill>
                <a:latin typeface="Red Hat Text"/>
              </a:rPr>
              <a:t>•  a consumer never coordinates with its peers directly — it compares its own sequence against the published one</a:t>
            </a:r>
          </a:p>
          <a:p>
            <a:pPr algn="l">
              <a:lnSpc>
                <a:spcPct val="115000"/>
              </a:lnSpc>
            </a:pPr>
            <a:r>
              <a:rPr sz="1500" b="0" i="0">
                <a:solidFill>
                  <a:srgbClr val="1A2B3C"/>
                </a:solidFill>
                <a:latin typeface="Red Hat Text"/>
              </a:rPr>
              <a:t>•  a dependent stage gates on both the producer's sequence and an upstream consumer's — ordering with no lock at all</a:t>
            </a:r>
          </a:p>
          <a:p>
            <a:pPr algn="l">
              <a:lnSpc>
                <a:spcPct val="115000"/>
              </a:lnSpc>
            </a:pPr>
            <a:r>
              <a:rPr sz="1400" b="0" i="1">
                <a:solidFill>
                  <a:srgbClr val="90A4AE"/>
                </a:solidFill>
                <a:latin typeface="Red Hat Text"/>
              </a:rPr>
              <a:t>Back-pressure falls out of the same gating sequence: the producer can't overwrite a slot the slowest consumer hasn't read.</a:t>
            </a:r>
          </a:p>
        </p:txBody>
      </p:sp>
      <p:pic>
        <p:nvPicPr>
          <p:cNvPr id="10" name="Picture 9" descr="21-disruptor-ring.jpg"/>
          <p:cNvPicPr>
            <a:picLocks noChangeAspect="1"/>
          </p:cNvPicPr>
          <p:nvPr/>
        </p:nvPicPr>
        <p:blipFill>
          <a:blip r:embed="rId2"/>
          <a:stretch>
            <a:fillRect/>
          </a:stretch>
        </p:blipFill>
        <p:spPr>
          <a:xfrm>
            <a:off x="6217920" y="1554480"/>
            <a:ext cx="5486400" cy="224834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Lock-free messaging and the Disruptor</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Lock-free messaging and the Disruptor</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26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Batching amortizes the synchronization cost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Read the published sequence once, process every slot between</a:t>
            </a:r>
          </a:p>
          <a:p>
            <a:pPr algn="l">
              <a:lnSpc>
                <a:spcPct val="115000"/>
              </a:lnSpc>
            </a:pPr>
            <a:r>
              <a:rPr sz="1500" b="0" i="0">
                <a:solidFill>
                  <a:srgbClr val="1A2B3C"/>
                </a:solidFill>
                <a:latin typeface="Red Hat Text"/>
              </a:rPr>
              <a:t>•  one sequence-barrier read picks up ten queued events instead of ten separate reads</a:t>
            </a:r>
          </a:p>
          <a:p>
            <a:pPr algn="l">
              <a:lnSpc>
                <a:spcPct val="115000"/>
              </a:lnSpc>
            </a:pPr>
            <a:r>
              <a:rPr sz="1500" b="0" i="0">
                <a:solidFill>
                  <a:srgbClr val="1A2B3C"/>
                </a:solidFill>
                <a:latin typeface="Red Hat Text"/>
              </a:rPr>
              <a:t>•  the busier the producer, the larger the batches — the mechanism costs nothing extra at light load</a:t>
            </a:r>
          </a:p>
          <a:p>
            <a:pPr algn="l">
              <a:lnSpc>
                <a:spcPct val="115000"/>
              </a:lnSpc>
            </a:pPr>
            <a:r>
              <a:rPr sz="1500" b="0" i="0">
                <a:solidFill>
                  <a:srgbClr val="1A2B3C"/>
                </a:solidFill>
                <a:latin typeface="Red Hat Text"/>
              </a:rPr>
              <a:t>•  atomic wait/notify gives a cheap blocking fallback with no condition variable or futex wrapper to hand-roll</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std::atomic&lt;std::uint64_t&gt; published{0};</a:t>
            </a:r>
          </a:p>
          <a:p>
            <a:r>
              <a:rPr sz="1200">
                <a:solidFill>
                  <a:srgbClr val="F4F4F4"/>
                </a:solidFill>
                <a:latin typeface="Red Hat Mono"/>
              </a:rPr>
              <a:t> </a:t>
            </a:r>
          </a:p>
          <a:p>
            <a:r>
              <a:rPr sz="1200">
                <a:solidFill>
                  <a:srgbClr val="F4F4F4"/>
                </a:solidFill>
                <a:latin typeface="Red Hat Mono"/>
              </a:rPr>
              <a:t>// Consumer: spin briefly, then block cheaply if</a:t>
            </a:r>
          </a:p>
          <a:p>
            <a:r>
              <a:rPr sz="1200">
                <a:solidFill>
                  <a:srgbClr val="F4F4F4"/>
                </a:solidFill>
                <a:latin typeface="Red Hat Mono"/>
              </a:rPr>
              <a:t>// nothing new has arrived.</a:t>
            </a:r>
          </a:p>
          <a:p>
            <a:r>
              <a:rPr sz="1200">
                <a:solidFill>
                  <a:srgbClr val="F4F4F4"/>
                </a:solidFill>
                <a:latin typeface="Red Hat Mono"/>
              </a:rPr>
              <a:t>std::uint64_t seen =</a:t>
            </a:r>
          </a:p>
          <a:p>
            <a:r>
              <a:rPr sz="1200">
                <a:solidFill>
                  <a:srgbClr val="F4F4F4"/>
                </a:solidFill>
                <a:latin typeface="Red Hat Mono"/>
              </a:rPr>
              <a:t>    published.load(std::memory_order_acquire);</a:t>
            </a:r>
          </a:p>
          <a:p>
            <a:r>
              <a:rPr sz="1200">
                <a:solidFill>
                  <a:srgbClr val="F4F4F4"/>
                </a:solidFill>
                <a:latin typeface="Red Hat Mono"/>
              </a:rPr>
              <a:t>published.wait(seen, std::memory_order_acquire);</a:t>
            </a:r>
          </a:p>
          <a:p>
            <a:r>
              <a:rPr sz="1200">
                <a:solidFill>
                  <a:srgbClr val="F4F4F4"/>
                </a:solidFill>
                <a:latin typeface="Red Hat Mono"/>
              </a:rPr>
              <a:t>// returns when value != seen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Red Hat Display"/>
              </a:rPr>
              <a:t>▶ DEMO 21</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Red Hat Display"/>
              </a:rPr>
              <a:t>A journal stage and a dependent business-logic stage</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F4F4F4"/>
                </a:solidFill>
                <a:latin typeface="Red Hat Text"/>
              </a:rPr>
              <a:t>A single-producer ring feeds two independent consumers, with the second gated on the first's sequence. Asserts every published event is consumed exactly once, in order, by both stages, that the dependent stage never reads past the journal's sequence, and that back-pressure actually engages.</a:t>
            </a:r>
          </a:p>
        </p:txBody>
      </p:sp>
      <p:sp>
        <p:nvSpPr>
          <p:cNvPr id="6" name="Rectangle 5"/>
          <p:cNvSpPr/>
          <p:nvPr/>
        </p:nvSpPr>
        <p:spPr>
          <a:xfrm>
            <a:off x="548640" y="4297680"/>
            <a:ext cx="11064240" cy="109728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EE0000"/>
                </a:solidFill>
                <a:latin typeface="Red Hat Mono"/>
              </a:rPr>
              <a:t>$ cd examples/concurrency/21-lock-free-messaging-and-the-disruptor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8A8A8A"/>
                </a:solidFill>
                <a:latin typeface="Red Hat Mono"/>
              </a:rPr>
              <a:t>  source on site: github.com/patterncatalyst/cpp-concurrency-and-parallelism/tree/main/examples/concurrency/21-lock-free-messaging-and-the-disruptor</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27 / 62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§7</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Communication models, actors, and channels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Shared memory buys throughput and pays in coupling; message passing buys isolation and pays in copies.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28 / 62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Communication models, actors, and channels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Communication models, actors, and channels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29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Choosing a mechanism is a coupling decision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Shared memory: zero-copy, tightest coupling, DIY sync</a:t>
            </a:r>
          </a:p>
          <a:p>
            <a:pPr algn="l">
              <a:lnSpc>
                <a:spcPct val="115000"/>
              </a:lnSpc>
            </a:pPr>
            <a:r>
              <a:rPr sz="1500" b="0" i="0">
                <a:solidFill>
                  <a:srgbClr val="1A2B3C"/>
                </a:solidFill>
                <a:latin typeface="Red Hat Text"/>
              </a:rPr>
              <a:t>•  shared memory maps the same pages into two address spaces — no copy, but no delivery guarantee at all without a futex and seqlock</a:t>
            </a:r>
          </a:p>
          <a:p>
            <a:pPr algn="l">
              <a:lnSpc>
                <a:spcPct val="115000"/>
              </a:lnSpc>
            </a:pPr>
            <a:r>
              <a:rPr sz="1500" b="0" i="0">
                <a:solidFill>
                  <a:srgbClr val="1A2B3C"/>
                </a:solidFill>
                <a:latin typeface="Red Hat Text"/>
              </a:rPr>
              <a:t>•  message passing moves discrete messages through a kernel-mediated channel — at least one copy, but loose coupling and built-in back-pressure</a:t>
            </a:r>
          </a:p>
          <a:p>
            <a:pPr algn="l">
              <a:lnSpc>
                <a:spcPct val="115000"/>
              </a:lnSpc>
            </a:pPr>
            <a:r>
              <a:rPr sz="1500" b="0" i="0">
                <a:solidFill>
                  <a:srgbClr val="1A2B3C"/>
                </a:solidFill>
                <a:latin typeface="Red Hat Text"/>
              </a:rPr>
              <a:t>•  UNIX sockets add SO_PEERCRED (kernel-verified credentials) and SCM_RIGHTS (open file descriptor transfer) that no network socket has</a:t>
            </a:r>
          </a:p>
          <a:p>
            <a:pPr algn="l">
              <a:lnSpc>
                <a:spcPct val="115000"/>
              </a:lnSpc>
            </a:pPr>
            <a:r>
              <a:rPr sz="1500" b="0" i="0">
                <a:solidFill>
                  <a:srgbClr val="1A2B3C"/>
                </a:solidFill>
                <a:latin typeface="Red Hat Text"/>
              </a:rPr>
              <a:t>•  length-prefix framing is close to universal for binary protocols — the reader's job is mechanical: read the length, read exactly that many bytes</a:t>
            </a:r>
          </a:p>
        </p:txBody>
      </p:sp>
      <p:pic>
        <p:nvPicPr>
          <p:cNvPr id="10" name="Picture 9" descr="22-communication-families.jpg"/>
          <p:cNvPicPr>
            <a:picLocks noChangeAspect="1"/>
          </p:cNvPicPr>
          <p:nvPr/>
        </p:nvPicPr>
        <p:blipFill>
          <a:blip r:embed="rId2"/>
          <a:stretch>
            <a:fillRect/>
          </a:stretch>
        </p:blipFill>
        <p:spPr>
          <a:xfrm>
            <a:off x="6217920" y="1554480"/>
            <a:ext cx="5486400" cy="256421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Communication models, actors, and channels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Communication models, actors, and channels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30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Confinement: stronger than a lock, enforced by the compiler</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An actor's state isn't locked — it's unreachable</a:t>
            </a:r>
          </a:p>
          <a:p>
            <a:pPr algn="l">
              <a:lnSpc>
                <a:spcPct val="115000"/>
              </a:lnSpc>
            </a:pPr>
            <a:r>
              <a:rPr sz="1500" b="0" i="0">
                <a:solidFill>
                  <a:srgbClr val="1A2B3C"/>
                </a:solidFill>
                <a:latin typeface="Red Hat Text"/>
              </a:rPr>
              <a:t>•  an actor owns private state nothing outside it can touch, communicating only through a mailbox it alone reads</a:t>
            </a:r>
          </a:p>
          <a:p>
            <a:pPr algn="l">
              <a:lnSpc>
                <a:spcPct val="115000"/>
              </a:lnSpc>
            </a:pPr>
            <a:r>
              <a:rPr sz="1500" b="0" i="0">
                <a:solidFill>
                  <a:srgbClr val="1A2B3C"/>
                </a:solidFill>
                <a:latin typeface="Red Hat Text"/>
              </a:rPr>
              <a:t>•  a CSP channel is anonymous — neither sender nor receiver needs to know who, or how many, is on the other end</a:t>
            </a:r>
          </a:p>
          <a:p>
            <a:pPr algn="l">
              <a:lnSpc>
                <a:spcPct val="115000"/>
              </a:lnSpc>
            </a:pPr>
            <a:r>
              <a:rPr sz="1500" b="0" i="0">
                <a:solidFill>
                  <a:srgbClr val="1A2B3C"/>
                </a:solidFill>
                <a:latin typeface="Red Hat Text"/>
              </a:rPr>
              <a:t>•  a bounded mailbox is the actor-model analog of the Disruptor's back-pressure: an unbounded one hides the exact failure mode bounding makes visible</a:t>
            </a:r>
          </a:p>
          <a:p>
            <a:pPr algn="l">
              <a:lnSpc>
                <a:spcPct val="115000"/>
              </a:lnSpc>
            </a:pPr>
            <a:r>
              <a:rPr sz="1500" b="0" i="0">
                <a:solidFill>
                  <a:srgbClr val="1A2B3C"/>
                </a:solidFill>
                <a:latin typeface="Red Hat Text"/>
              </a:rPr>
              <a:t>•  move-only message types enforce confinement at compile time — a moved unique_ptr's sender can't dereference it without a visible compiler error</a:t>
            </a:r>
          </a:p>
        </p:txBody>
      </p:sp>
      <p:pic>
        <p:nvPicPr>
          <p:cNvPr id="10" name="Picture 9" descr="23-actors-vs-channels.jpg"/>
          <p:cNvPicPr>
            <a:picLocks noChangeAspect="1"/>
          </p:cNvPicPr>
          <p:nvPr/>
        </p:nvPicPr>
        <p:blipFill>
          <a:blip r:embed="rId2"/>
          <a:stretch>
            <a:fillRect/>
          </a:stretch>
        </p:blipFill>
        <p:spPr>
          <a:xfrm>
            <a:off x="6217920" y="1554480"/>
            <a:ext cx="5486400" cy="256421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Communication models, actors, and channels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Communication models, actors, and channels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31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No framework needed: jthread, mailbox, move semantics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9B59B6"/>
                </a:solidFill>
                <a:latin typeface="Red Hat Text"/>
              </a:rPr>
              <a:t>The queue is the only state shared across the boundary</a:t>
            </a:r>
          </a:p>
          <a:p>
            <a:pPr algn="l">
              <a:lnSpc>
                <a:spcPct val="115000"/>
              </a:lnSpc>
            </a:pPr>
            <a:r>
              <a:rPr sz="1500" b="0" i="0">
                <a:solidFill>
                  <a:srgbClr val="1A2B3C"/>
                </a:solidFill>
                <a:latin typeface="Red Hat Text"/>
              </a:rPr>
              <a:t>•  every message is moved in and moved out exactly once; a move-only payload makes the type refuse to compile if copied</a:t>
            </a:r>
          </a:p>
          <a:p>
            <a:pPr algn="l">
              <a:lnSpc>
                <a:spcPct val="115000"/>
              </a:lnSpc>
            </a:pPr>
            <a:r>
              <a:rPr sz="1500" b="0" i="0">
                <a:solidFill>
                  <a:srgbClr val="1A2B3C"/>
                </a:solidFill>
                <a:latin typeface="Red Hat Text"/>
              </a:rPr>
              <a:t>•  the actor's own total is a plain local variable inside run() — the only way to read it is to send a message and wait on the reply</a:t>
            </a:r>
          </a:p>
          <a:p>
            <a:pPr algn="l">
              <a:lnSpc>
                <a:spcPct val="115000"/>
              </a:lnSpc>
            </a:pPr>
            <a:r>
              <a:rPr sz="1500" b="0" i="0">
                <a:solidFill>
                  <a:srgbClr val="1A2B3C"/>
                </a:solidFill>
                <a:latin typeface="Red Hat Text"/>
              </a:rPr>
              <a:t>•  jthread's destructor requests a stop and joins automatically — exception-safe, leak-free shutdown with no separate call site</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template &lt;typename Msg&gt;</a:t>
            </a:r>
          </a:p>
          <a:p>
            <a:r>
              <a:rPr sz="1100">
                <a:solidFill>
                  <a:srgbClr val="F4F4F4"/>
                </a:solidFill>
                <a:latin typeface="Red Hat Mono"/>
              </a:rPr>
              <a:t>class Mailbox {</a:t>
            </a:r>
          </a:p>
          <a:p>
            <a:r>
              <a:rPr sz="1100">
                <a:solidFill>
                  <a:srgbClr val="F4F4F4"/>
                </a:solidFill>
                <a:latin typeface="Red Hat Mono"/>
              </a:rPr>
              <a:t>public:</a:t>
            </a:r>
          </a:p>
          <a:p>
            <a:r>
              <a:rPr sz="1100">
                <a:solidFill>
                  <a:srgbClr val="F4F4F4"/>
                </a:solidFill>
                <a:latin typeface="Red Hat Mono"/>
              </a:rPr>
              <a:t>    explicit Mailbox(std::size_t cap) : cap_(cap) {}</a:t>
            </a:r>
          </a:p>
          <a:p>
            <a:r>
              <a:rPr sz="1100">
                <a:solidFill>
                  <a:srgbClr val="F4F4F4"/>
                </a:solidFill>
                <a:latin typeface="Red Hat Mono"/>
              </a:rPr>
              <a:t>    void send(Msg msg) {</a:t>
            </a:r>
          </a:p>
          <a:p>
            <a:r>
              <a:rPr sz="1100">
                <a:solidFill>
                  <a:srgbClr val="F4F4F4"/>
                </a:solidFill>
                <a:latin typeface="Red Hat Mono"/>
              </a:rPr>
              <a:t>        std::unique_lock lock(mu_);</a:t>
            </a:r>
          </a:p>
          <a:p>
            <a:r>
              <a:rPr sz="1100">
                <a:solidFill>
                  <a:srgbClr val="F4F4F4"/>
                </a:solidFill>
                <a:latin typeface="Red Hat Mono"/>
              </a:rPr>
              <a:t>        not_full_.wait(lock, [&amp;] { return q_.size() &lt; cap_; });</a:t>
            </a:r>
          </a:p>
          <a:p>
            <a:r>
              <a:rPr sz="1100">
                <a:solidFill>
                  <a:srgbClr val="F4F4F4"/>
                </a:solidFill>
                <a:latin typeface="Red Hat Mono"/>
              </a:rPr>
              <a:t>        q_.push(std::move(msg));</a:t>
            </a:r>
          </a:p>
          <a:p>
            <a:r>
              <a:rPr sz="1100">
                <a:solidFill>
                  <a:srgbClr val="F4F4F4"/>
                </a:solidFill>
                <a:latin typeface="Red Hat Mono"/>
              </a:rPr>
              <a:t>        not_empty_.notify_one();</a:t>
            </a:r>
          </a:p>
          <a:p>
            <a:r>
              <a:rPr sz="1100">
                <a:solidFill>
                  <a:srgbClr val="F4F4F4"/>
                </a:solidFill>
                <a:latin typeface="Red Hat Mono"/>
              </a:rPr>
              <a:t>    }</a:t>
            </a:r>
          </a:p>
          <a:p>
            <a:r>
              <a:rPr sz="1100">
                <a:solidFill>
                  <a:srgbClr val="F4F4F4"/>
                </a:solidFill>
                <a:latin typeface="Red Hat Mono"/>
              </a:rPr>
              <a:t>    std::optional&lt;Msg&gt; receive(std::stop_token st) {</a:t>
            </a:r>
          </a:p>
          <a:p>
            <a:r>
              <a:rPr sz="1100">
                <a:solidFill>
                  <a:srgbClr val="F4F4F4"/>
                </a:solidFill>
                <a:latin typeface="Red Hat Mono"/>
              </a:rPr>
              <a:t>        std::unique_lock lock(mu_);</a:t>
            </a:r>
          </a:p>
          <a:p>
            <a:r>
              <a:rPr sz="1100">
                <a:solidFill>
                  <a:srgbClr val="F4F4F4"/>
                </a:solidFill>
                <a:latin typeface="Red Hat Mono"/>
              </a:rPr>
              <a:t>        not_empty_.wait(lock, st, [&amp;] { return !q_.empty(); });</a:t>
            </a:r>
          </a:p>
          <a:p>
            <a:r>
              <a:rPr sz="1100">
                <a:solidFill>
                  <a:srgbClr val="F4F4F4"/>
                </a:solidFill>
                <a:latin typeface="Red Hat Mono"/>
              </a:rPr>
              <a:t>        if (q_.empty()) return std::nullopt;  // stop requested</a:t>
            </a:r>
          </a:p>
          <a:p>
            <a:r>
              <a:rPr sz="1100">
                <a:solidFill>
                  <a:srgbClr val="F4F4F4"/>
                </a:solidFill>
                <a:latin typeface="Red Hat Mono"/>
              </a:rPr>
              <a:t>        Msg msg = std::move(q_.front());</a:t>
            </a:r>
          </a:p>
          <a:p>
            <a:r>
              <a:rPr sz="1100">
                <a:solidFill>
                  <a:srgbClr val="F4F4F4"/>
                </a:solidFill>
                <a:latin typeface="Red Hat Mono"/>
              </a:rPr>
              <a:t>        q_.pop();</a:t>
            </a:r>
          </a:p>
          <a:p>
            <a:r>
              <a:rPr sz="1100">
                <a:solidFill>
                  <a:srgbClr val="F4F4F4"/>
                </a:solidFill>
                <a:latin typeface="Red Hat Mono"/>
              </a:rPr>
              <a:t>        not_full_.notify_one();</a:t>
            </a:r>
          </a:p>
          <a:p>
            <a:r>
              <a:rPr sz="1100">
                <a:solidFill>
                  <a:srgbClr val="F4F4F4"/>
                </a:solidFill>
                <a:latin typeface="Red Hat Mono"/>
              </a:rPr>
              <a:t>        return msg;</a:t>
            </a:r>
          </a:p>
          <a:p>
            <a:r>
              <a:rPr sz="1100">
                <a:solidFill>
                  <a:srgbClr val="F4F4F4"/>
                </a:solidFill>
                <a:latin typeface="Red Hat Mono"/>
              </a:rPr>
              <a:t>    }</a:t>
            </a:r>
          </a:p>
          <a:p>
            <a:r>
              <a:rPr sz="1100">
                <a:solidFill>
                  <a:srgbClr val="F4F4F4"/>
                </a:solidFill>
                <a:latin typeface="Red Hat Mono"/>
              </a:rPr>
              <a:t>private:</a:t>
            </a:r>
          </a:p>
          <a:p>
            <a:r>
              <a:rPr sz="1100">
                <a:solidFill>
                  <a:srgbClr val="F4F4F4"/>
                </a:solidFill>
                <a:latin typeface="Red Hat Mono"/>
              </a:rPr>
              <a:t>    std::size_t cap_;</a:t>
            </a:r>
          </a:p>
          <a:p>
            <a:r>
              <a:rPr sz="1100">
                <a:solidFill>
                  <a:srgbClr val="F4F4F4"/>
                </a:solidFill>
                <a:latin typeface="Red Hat Mono"/>
              </a:rPr>
              <a:t>    std::mutex mu_;</a:t>
            </a:r>
          </a:p>
          <a:p>
            <a:r>
              <a:rPr sz="1100">
                <a:solidFill>
                  <a:srgbClr val="F4F4F4"/>
                </a:solidFill>
                <a:latin typeface="Red Hat Mono"/>
              </a:rPr>
              <a:t>    std::condition_variable_any not_empty_, not_full_;</a:t>
            </a:r>
          </a:p>
          <a:p>
            <a:r>
              <a:rPr sz="1100">
                <a:solidFill>
                  <a:srgbClr val="F4F4F4"/>
                </a:solidFill>
                <a:latin typeface="Red Hat Mono"/>
              </a:rPr>
              <a:t>    std::queue&lt;Msg&gt; q_;</a:t>
            </a:r>
          </a:p>
          <a:p>
            <a:r>
              <a:rPr sz="1100">
                <a:solidFill>
                  <a:srgbClr val="F4F4F4"/>
                </a:solidFill>
                <a:latin typeface="Red Hat Mono"/>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§8</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Concurrent REST and gRPC services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REST or gRPC endpoint under real load is a concurrency problem wearing a protocol costume.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32 / 62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Concurrent REST and gRPC services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Concurrent REST and gRPC services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33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Thread-per-request ties cost to connections, not work</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The async model decouples waiting on I/O from holding a thread</a:t>
            </a:r>
          </a:p>
          <a:p>
            <a:pPr algn="l">
              <a:lnSpc>
                <a:spcPct val="115000"/>
              </a:lnSpc>
            </a:pPr>
            <a:r>
              <a:rPr sz="1500" b="0" i="0">
                <a:solidFill>
                  <a:srgbClr val="1A2B3C"/>
                </a:solidFill>
                <a:latin typeface="Red Hat Text"/>
              </a:rPr>
              <a:t>•  thread-per-request's cost scales with concurrent connections, not request rate — ten thousand idle keep-alives need ten thousand threads</a:t>
            </a:r>
          </a:p>
          <a:p>
            <a:pPr algn="l">
              <a:lnSpc>
                <a:spcPct val="115000"/>
              </a:lnSpc>
            </a:pPr>
            <a:r>
              <a:rPr sz="1500" b="0" i="0">
                <a:solidFill>
                  <a:srgbClr val="1A2B3C"/>
                </a:solidFill>
                <a:latin typeface="Red Hat Text"/>
              </a:rPr>
              <a:t>•  an async event loop polls readiness across every open socket at once and dispatches a handler only when data is ready</a:t>
            </a:r>
          </a:p>
          <a:p>
            <a:pPr algn="l">
              <a:lnSpc>
                <a:spcPct val="115000"/>
              </a:lnSpc>
            </a:pPr>
            <a:r>
              <a:rPr sz="1500" b="0" i="0">
                <a:solidFill>
                  <a:srgbClr val="1A2B3C"/>
                </a:solidFill>
                <a:latin typeface="Red Hat Text"/>
              </a:rPr>
              <a:t>•  the price: handler code as asynchronous initiations and callbacks, and a callback firing after its captured object died is the model's signature bug</a:t>
            </a:r>
          </a:p>
          <a:p>
            <a:pPr algn="l">
              <a:lnSpc>
                <a:spcPct val="115000"/>
              </a:lnSpc>
            </a:pPr>
            <a:r>
              <a:rPr sz="1500" b="0" i="0">
                <a:solidFill>
                  <a:srgbClr val="1A2B3C"/>
                </a:solidFill>
                <a:latin typeface="Red Hat Text"/>
              </a:rPr>
              <a:t>•  back-pressure should reject, not block, for a deadline-bound endpoint — blocking just defers the same latency problem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Concurrent REST and gRPC services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Concurrent REST and gRPC services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34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 Beast session outlives every operation it has in flight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shared_from_this() inside every completion handler</a:t>
            </a:r>
          </a:p>
          <a:p>
            <a:pPr algn="l">
              <a:lnSpc>
                <a:spcPct val="115000"/>
              </a:lnSpc>
            </a:pPr>
            <a:r>
              <a:rPr sz="1500" b="0" i="0">
                <a:solidFill>
                  <a:srgbClr val="1A2B3C"/>
                </a:solidFill>
                <a:latin typeface="Red Hat Text"/>
              </a:rPr>
              <a:t>•  the session's lifetime is the detail easiest to get wrong — it has to survive until Beast's own internally issued operations finish too</a:t>
            </a:r>
          </a:p>
          <a:p>
            <a:pPr algn="l">
              <a:lnSpc>
                <a:spcPct val="115000"/>
              </a:lnSpc>
            </a:pPr>
            <a:r>
              <a:rPr sz="1500" b="0" i="0">
                <a:solidFill>
                  <a:srgbClr val="1A2B3C"/>
                </a:solidFill>
                <a:latin typeface="Red Hat Text"/>
              </a:rPr>
              <a:t>•  stream_.expires_after() sets a rolling per-operation deadline directly on the stream</a:t>
            </a:r>
          </a:p>
          <a:p>
            <a:pPr algn="l">
              <a:lnSpc>
                <a:spcPct val="115000"/>
              </a:lnSpc>
            </a:pPr>
            <a:r>
              <a:rPr sz="1500" b="0" i="0">
                <a:solidFill>
                  <a:srgbClr val="1A2B3C"/>
                </a:solidFill>
                <a:latin typeface="Red Hat Text"/>
              </a:rPr>
              <a:t>•  where a request actually runs is decided by which worker thread's io_context::run() call happens to be free</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void do_read() {</a:t>
            </a:r>
          </a:p>
          <a:p>
            <a:r>
              <a:rPr sz="1200">
                <a:solidFill>
                  <a:srgbClr val="F4F4F4"/>
                </a:solidFill>
                <a:latin typeface="Red Hat Mono"/>
              </a:rPr>
              <a:t>    req_ = {};</a:t>
            </a:r>
          </a:p>
          <a:p>
            <a:r>
              <a:rPr sz="1200">
                <a:solidFill>
                  <a:srgbClr val="F4F4F4"/>
                </a:solidFill>
                <a:latin typeface="Red Hat Mono"/>
              </a:rPr>
              <a:t>    stream_.expires_after(std::chrono::seconds(10));</a:t>
            </a:r>
          </a:p>
          <a:p>
            <a:r>
              <a:rPr sz="1200">
                <a:solidFill>
                  <a:srgbClr val="F4F4F4"/>
                </a:solidFill>
                <a:latin typeface="Red Hat Mono"/>
              </a:rPr>
              <a:t>    boost::beast::http::async_read(</a:t>
            </a:r>
          </a:p>
          <a:p>
            <a:r>
              <a:rPr sz="1200">
                <a:solidFill>
                  <a:srgbClr val="F4F4F4"/>
                </a:solidFill>
                <a:latin typeface="Red Hat Mono"/>
              </a:rPr>
              <a:t>        stream_, buffer_, req_,</a:t>
            </a:r>
          </a:p>
          <a:p>
            <a:r>
              <a:rPr sz="1200">
                <a:solidFill>
                  <a:srgbClr val="F4F4F4"/>
                </a:solidFill>
                <a:latin typeface="Red Hat Mono"/>
              </a:rPr>
              <a:t>        [self = shared_from_this()]</a:t>
            </a:r>
          </a:p>
          <a:p>
            <a:r>
              <a:rPr sz="1200">
                <a:solidFill>
                  <a:srgbClr val="F4F4F4"/>
                </a:solidFill>
                <a:latin typeface="Red Hat Mono"/>
              </a:rPr>
              <a:t>        (boost::beast::error_code ec, std::size_t) {</a:t>
            </a:r>
          </a:p>
          <a:p>
            <a:r>
              <a:rPr sz="1200">
                <a:solidFill>
                  <a:srgbClr val="F4F4F4"/>
                </a:solidFill>
                <a:latin typeface="Red Hat Mono"/>
              </a:rPr>
              <a:t>            if (!ec) self-&gt;handle_request();</a:t>
            </a:r>
          </a:p>
          <a:p>
            <a:r>
              <a:rPr sz="1200">
                <a:solidFill>
                  <a:srgbClr val="F4F4F4"/>
                </a:solidFill>
                <a:latin typeface="Red Hat Mono"/>
              </a:rPr>
              <a:t>        });</a:t>
            </a:r>
          </a:p>
          <a:p>
            <a:r>
              <a:rPr sz="1200">
                <a:solidFill>
                  <a:srgbClr val="F4F4F4"/>
                </a:solidFill>
                <a:latin typeface="Red Hat Mono"/>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Concurrent REST and gRPC services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Concurrent REST and gRPC services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35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Completion queues: the one model under all three gRPC APIs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Red Hat Text"/>
              </a:rPr>
              <a:t>Tag-based dispatch — a void* out, the same tag back</a:t>
            </a:r>
          </a:p>
          <a:p>
            <a:pPr algn="l">
              <a:lnSpc>
                <a:spcPct val="115000"/>
              </a:lnSpc>
            </a:pPr>
            <a:r>
              <a:rPr sz="1500" b="0" i="0">
                <a:solidFill>
                  <a:srgbClr val="1A2B3C"/>
                </a:solidFill>
                <a:latin typeface="Red Hat Text"/>
              </a:rPr>
              <a:t>•  sync spends a thread blocked per call so application code never sees the queue; callback hides it behind gRPC's own managed pool</a:t>
            </a:r>
          </a:p>
          <a:p>
            <a:pPr algn="l">
              <a:lnSpc>
                <a:spcPct val="115000"/>
              </a:lnSpc>
            </a:pPr>
            <a:r>
              <a:rPr sz="1500" b="0" i="0">
                <a:solidFill>
                  <a:srgbClr val="1A2B3C"/>
                </a:solidFill>
                <a:latin typeface="Red Hat Text"/>
              </a:rPr>
              <a:t>•  every asynchronous operation is tagged on initiation; cq-&gt;Next() returns the tag unchanged, purely opaque to the queue itself</a:t>
            </a:r>
          </a:p>
          <a:p>
            <a:pPr algn="l">
              <a:lnSpc>
                <a:spcPct val="115000"/>
              </a:lnSpc>
            </a:pPr>
            <a:r>
              <a:rPr sz="1500" b="0" i="0">
                <a:solidFill>
                  <a:srgbClr val="1A2B3C"/>
                </a:solidFill>
                <a:latin typeface="Red Hat Text"/>
              </a:rPr>
              <a:t>•  a bidirectional stream owns multiple live tags at once — read and write completions can interleave in either order</a:t>
            </a:r>
          </a:p>
          <a:p>
            <a:pPr algn="l">
              <a:lnSpc>
                <a:spcPct val="115000"/>
              </a:lnSpc>
            </a:pPr>
            <a:r>
              <a:rPr sz="1500" b="0" i="0">
                <a:solidFill>
                  <a:srgbClr val="1A2B3C"/>
                </a:solidFill>
                <a:latin typeface="Red Hat Text"/>
              </a:rPr>
              <a:t>•  RESOURCE_EXHAUSTED is gRPC's 503 — an explicit, cheap rejection once in-flight calls exceed a configured cap</a:t>
            </a:r>
          </a:p>
        </p:txBody>
      </p:sp>
      <p:pic>
        <p:nvPicPr>
          <p:cNvPr id="10" name="Picture 9" descr="25-grpc-completion-queue.jpg"/>
          <p:cNvPicPr>
            <a:picLocks noChangeAspect="1"/>
          </p:cNvPicPr>
          <p:nvPr/>
        </p:nvPicPr>
        <p:blipFill>
          <a:blip r:embed="rId2"/>
          <a:stretch>
            <a:fillRect/>
          </a:stretch>
        </p:blipFill>
        <p:spPr>
          <a:xfrm>
            <a:off x="6217920" y="1554480"/>
            <a:ext cx="5486400" cy="2929489"/>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Concurrent REST and gRPC services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Concurrent REST and gRPC services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36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cpu.max, not hardware_concurrency(), sizes the pool</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Red Hat Text"/>
              </a:rPr>
              <a:t>The same oversubscription trap, both protocols</a:t>
            </a:r>
          </a:p>
          <a:p>
            <a:pPr algn="l">
              <a:lnSpc>
                <a:spcPct val="115000"/>
              </a:lnSpc>
            </a:pPr>
            <a:r>
              <a:rPr sz="1500" b="0" i="0">
                <a:solidFill>
                  <a:srgbClr val="1A2B3C"/>
                </a:solidFill>
                <a:latin typeface="Red Hat Text"/>
              </a:rPr>
              <a:t>•  hardware_concurrency() reflects a cpuset restriction but is blind to a CFS cpu.max quota — a container capped to two cores can still report sixty-four</a:t>
            </a:r>
          </a:p>
          <a:p>
            <a:pPr algn="l">
              <a:lnSpc>
                <a:spcPct val="115000"/>
              </a:lnSpc>
            </a:pPr>
            <a:r>
              <a:rPr sz="1500" b="0" i="0">
                <a:solidFill>
                  <a:srgbClr val="1A2B3C"/>
                </a:solidFill>
                <a:latin typeface="Red Hat Text"/>
              </a:rPr>
              <a:t>•  a pool sized from the host's full core count inside a throttled container doesn't get more capacity — it gets more threads taking turns on the same budget</a:t>
            </a:r>
          </a:p>
          <a:p>
            <a:pPr algn="l">
              <a:lnSpc>
                <a:spcPct val="115000"/>
              </a:lnSpc>
            </a:pPr>
            <a:r>
              <a:rPr sz="1500" b="0" i="0">
                <a:solidFill>
                  <a:srgbClr val="1A2B3C"/>
                </a:solidFill>
                <a:latin typeface="Red Hat Text"/>
              </a:rPr>
              <a:t>•  a channel cache (one long-lived channel per downstream target) keeps file-descriptor and keepalive cost bounded by topology rather than by traffic</a:t>
            </a:r>
          </a:p>
          <a:p>
            <a:pPr algn="l">
              <a:lnSpc>
                <a:spcPct val="115000"/>
              </a:lnSpc>
            </a:pPr>
            <a:r>
              <a:rPr sz="1500" b="0" i="0">
                <a:solidFill>
                  <a:srgbClr val="1A2B3C"/>
                </a:solidFill>
                <a:latin typeface="Red Hat Text"/>
              </a:rPr>
              <a:t>•  a gRPC server's graceful shutdown drains every completion queue before exit, or outstanding tags are simply abandoned rather than completed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§9</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Error handling vs exception handling</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thread has no caller to return to. A future's producer and consumer run on different stacks.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37 / 62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Error handling vs exception handling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Error handling vs exception handling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38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Who pays, and when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Error codes: fixed cost every call. Exceptions: zero until thrown.</a:t>
            </a:r>
          </a:p>
          <a:p>
            <a:pPr algn="l">
              <a:lnSpc>
                <a:spcPct val="115000"/>
              </a:lnSpc>
            </a:pPr>
            <a:r>
              <a:rPr sz="1500" b="0" i="0">
                <a:solidFill>
                  <a:srgbClr val="1A2B3C"/>
                </a:solidFill>
                <a:latin typeface="Red Hat Text"/>
              </a:rPr>
              <a:t>•  the Itanium ABI's table-based unwinding means a function that never throws pays nothing extra for the possibility</a:t>
            </a:r>
          </a:p>
          <a:p>
            <a:pPr algn="l">
              <a:lnSpc>
                <a:spcPct val="115000"/>
              </a:lnSpc>
            </a:pPr>
            <a:r>
              <a:rPr sz="1500" b="0" i="0">
                <a:solidFill>
                  <a:srgbClr val="1A2B3C"/>
                </a:solidFill>
                <a:latin typeface="Red Hat Text"/>
              </a:rPr>
              <a:t>•  a std::thread's entry function has no caller frame to unwind into — an uncaught exception there calls std::terminate, no exceptions</a:t>
            </a:r>
          </a:p>
          <a:p>
            <a:pPr algn="l">
              <a:lnSpc>
                <a:spcPct val="115000"/>
              </a:lnSpc>
            </a:pPr>
            <a:r>
              <a:rPr sz="1500" b="0" i="0">
                <a:solidFill>
                  <a:srgbClr val="1A2B3C"/>
                </a:solidFill>
                <a:latin typeface="Red Hat Text"/>
              </a:rPr>
              <a:t>•  a coroutine's default promise makes the identical decision for the identical reason: no destination exists on the stack to catch it</a:t>
            </a:r>
          </a:p>
          <a:p>
            <a:pPr algn="l">
              <a:lnSpc>
                <a:spcPct val="115000"/>
              </a:lnSpc>
            </a:pPr>
            <a:r>
              <a:rPr sz="1500" b="0" i="0">
                <a:solidFill>
                  <a:srgbClr val="1A2B3C"/>
                </a:solidFill>
                <a:latin typeface="Red Hat Text"/>
              </a:rPr>
              <a:t>•  std::future is the one boundary with built-in store-and-rethrow — get() rethrows the exact exception object on the consumer's own thread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Error handling vs exception handling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Error handling vs exception handling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39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std::expected chains fallible steps with no exception in flight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A real payload optional&lt;T&gt; never carried</a:t>
            </a:r>
          </a:p>
          <a:p>
            <a:pPr algn="l">
              <a:lnSpc>
                <a:spcPct val="115000"/>
              </a:lnSpc>
            </a:pPr>
            <a:r>
              <a:rPr sz="1500" b="0" i="0">
                <a:solidFill>
                  <a:srgbClr val="1A2B3C"/>
                </a:solidFill>
                <a:latin typeface="Red Hat Text"/>
              </a:rPr>
              <a:t>•  and_then, transform, or_else, transform_error — a flat sequence of transformations, no nested if (!result) guards</a:t>
            </a:r>
          </a:p>
          <a:p>
            <a:pPr algn="l">
              <a:lnSpc>
                <a:spcPct val="115000"/>
              </a:lnSpc>
            </a:pPr>
            <a:r>
              <a:rPr sz="1500" b="0" i="0">
                <a:solidFill>
                  <a:srgbClr val="1A2B3C"/>
                </a:solidFill>
                <a:latin typeface="Red Hat Text"/>
              </a:rPr>
              <a:t>•  every step is a branch on a tag bit, not a stack walk — the hot-path cost model error codes already had</a:t>
            </a:r>
          </a:p>
          <a:p>
            <a:pPr algn="l">
              <a:lnSpc>
                <a:spcPct val="115000"/>
              </a:lnSpc>
            </a:pPr>
            <a:r>
              <a:rPr sz="1500" b="0" i="0">
                <a:solidFill>
                  <a:srgbClr val="1A2B3C"/>
                </a:solidFill>
                <a:latin typeface="Red Hat Text"/>
              </a:rPr>
              <a:t>•  the strong exception-safety guarantee under a lock prevents a mid-update throw from handing the next thread a half-updated object</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std::expected&lt;Connection, ConnectError&gt;</a:t>
            </a:r>
          </a:p>
          <a:p>
            <a:r>
              <a:rPr sz="1200">
                <a:solidFill>
                  <a:srgbClr val="F4F4F4"/>
                </a:solidFill>
                <a:latin typeface="Red Hat Mono"/>
              </a:rPr>
              <a:t>connect(const Endpoint&amp; ep) {</a:t>
            </a:r>
          </a:p>
          <a:p>
            <a:r>
              <a:rPr sz="1200">
                <a:solidFill>
                  <a:srgbClr val="F4F4F4"/>
                </a:solidFill>
                <a:latin typeface="Red Hat Mono"/>
              </a:rPr>
              <a:t>    return resolve_dns(ep)</a:t>
            </a:r>
          </a:p>
          <a:p>
            <a:r>
              <a:rPr sz="1200">
                <a:solidFill>
                  <a:srgbClr val="F4F4F4"/>
                </a:solidFill>
                <a:latin typeface="Red Hat Mono"/>
              </a:rPr>
              <a:t>        .and_then([](const Address&amp; a) {</a:t>
            </a:r>
          </a:p>
          <a:p>
            <a:r>
              <a:rPr sz="1200">
                <a:solidFill>
                  <a:srgbClr val="F4F4F4"/>
                </a:solidFill>
                <a:latin typeface="Red Hat Mono"/>
              </a:rPr>
              <a:t>            return tcp_connect(a); })</a:t>
            </a:r>
          </a:p>
          <a:p>
            <a:r>
              <a:rPr sz="1200">
                <a:solidFill>
                  <a:srgbClr val="F4F4F4"/>
                </a:solidFill>
                <a:latin typeface="Red Hat Mono"/>
              </a:rPr>
              <a:t>        .and_then([](RawSocket s) {</a:t>
            </a:r>
          </a:p>
          <a:p>
            <a:r>
              <a:rPr sz="1200">
                <a:solidFill>
                  <a:srgbClr val="F4F4F4"/>
                </a:solidFill>
                <a:latin typeface="Red Hat Mono"/>
              </a:rPr>
              <a:t>            return tls_handshake(s); })</a:t>
            </a:r>
          </a:p>
          <a:p>
            <a:r>
              <a:rPr sz="1200">
                <a:solidFill>
                  <a:srgbClr val="F4F4F4"/>
                </a:solidFill>
                <a:latin typeface="Red Hat Mono"/>
              </a:rPr>
              <a:t>        .transform([](TlsSession s) {</a:t>
            </a:r>
          </a:p>
          <a:p>
            <a:r>
              <a:rPr sz="1200">
                <a:solidFill>
                  <a:srgbClr val="F4F4F4"/>
                </a:solidFill>
                <a:latin typeface="Red Hat Mono"/>
              </a:rPr>
              <a:t>            return Connection{std::move(s)}; });</a:t>
            </a:r>
          </a:p>
          <a:p>
            <a:r>
              <a:rPr sz="1200">
                <a:solidFill>
                  <a:srgbClr val="F4F4F4"/>
                </a:solidFill>
                <a:latin typeface="Red Hat Mono"/>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§10</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Debugging races, deadlocks, and sanitizers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correct-looking result this run is evidence of nothing — races are scheduling-dependent by nature.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40 / 62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Debugging races, deadlocks, and sanitizers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Debugging races, deadlocks, and sanitizers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41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Forcing a deadlock open rather than hoping for it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Red Hat Text"/>
              </a:rPr>
              <a:t>A std::latch turns 'sometimes' into 'every run'</a:t>
            </a:r>
          </a:p>
          <a:p>
            <a:pPr algn="l">
              <a:lnSpc>
                <a:spcPct val="115000"/>
              </a:lnSpc>
            </a:pPr>
            <a:r>
              <a:rPr sz="1500" b="0" i="0">
                <a:solidFill>
                  <a:srgbClr val="1A2B3C"/>
                </a:solidFill>
                <a:latin typeface="Red Hat Text"/>
              </a:rPr>
              <a:t>•  the textbook AB/BA deadlock can appear to work nine times out of ten on an idle, fast machine</a:t>
            </a:r>
          </a:p>
          <a:p>
            <a:pPr algn="l">
              <a:lnSpc>
                <a:spcPct val="115000"/>
              </a:lnSpc>
            </a:pPr>
            <a:r>
              <a:rPr sz="1500" b="0" i="0">
                <a:solidFill>
                  <a:srgbClr val="1A2B3C"/>
                </a:solidFill>
                <a:latin typeface="Red Hat Text"/>
              </a:rPr>
              <a:t>•  a latch initialized to the thread count, counted down right after each thread's first lock, guarantees both threads reach their second acquisition together</a:t>
            </a:r>
          </a:p>
          <a:p>
            <a:pPr algn="l">
              <a:lnSpc>
                <a:spcPct val="115000"/>
              </a:lnSpc>
            </a:pPr>
            <a:r>
              <a:rPr sz="1500" b="0" i="0">
                <a:solidFill>
                  <a:srgbClr val="1A2B3C"/>
                </a:solidFill>
                <a:latin typeface="Red Hat Text"/>
              </a:rPr>
              <a:t>•  thread apply all bt catches the cycle directly — one thread blocked in pthread_mutex_lock on the mutex the other already holds</a:t>
            </a:r>
          </a:p>
          <a:p>
            <a:pPr algn="l">
              <a:lnSpc>
                <a:spcPct val="115000"/>
              </a:lnSpc>
            </a:pPr>
            <a:r>
              <a:rPr sz="1500" b="0" i="0">
                <a:solidFill>
                  <a:srgbClr val="1A2B3C"/>
                </a:solidFill>
                <a:latin typeface="Red Hat Text"/>
              </a:rPr>
              <a:t>•  printing a mutex's own __data.__owner field names the owning thread id directly — read off live state, not inferred from source</a:t>
            </a:r>
          </a:p>
        </p:txBody>
      </p:sp>
      <p:pic>
        <p:nvPicPr>
          <p:cNvPr id="10" name="Picture 9" descr="27-gdb-lock-cycle-backtrace.jpg"/>
          <p:cNvPicPr>
            <a:picLocks noChangeAspect="1"/>
          </p:cNvPicPr>
          <p:nvPr/>
        </p:nvPicPr>
        <p:blipFill>
          <a:blip r:embed="rId2"/>
          <a:stretch>
            <a:fillRect/>
          </a:stretch>
        </p:blipFill>
        <p:spPr>
          <a:xfrm>
            <a:off x="6217920" y="1554480"/>
            <a:ext cx="5486400" cy="2848708"/>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Debugging races, deadlocks, and sanitizers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Debugging races, deadlocks, and sanitizers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42 / 62</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Reading a ThreadSanitizer report</a:t>
            </a:r>
          </a:p>
        </p:txBody>
      </p:sp>
      <p:pic>
        <p:nvPicPr>
          <p:cNvPr id="9" name="Picture 8" descr="27-tsan-report-anatomy.jpg"/>
          <p:cNvPicPr>
            <a:picLocks noChangeAspect="1"/>
          </p:cNvPicPr>
          <p:nvPr/>
        </p:nvPicPr>
        <p:blipFill>
          <a:blip r:embed="rId2"/>
          <a:stretch>
            <a:fillRect/>
          </a:stretch>
        </p:blipFill>
        <p:spPr>
          <a:xfrm>
            <a:off x="2539556" y="1463040"/>
            <a:ext cx="7082407"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Five sections, each mapped to a fact TSan's per-thread vector clock actually observed on this one execution.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Debugging races, deadlocks, and sanitizers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Debugging races, deadlocks, and sanitizers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43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Two detection strategies, one answer</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9B59B6"/>
                </a:solidFill>
                <a:latin typeface="Red Hat Text"/>
              </a:rPr>
              <a:t>TSan's vector clocks vs Helgrind's lockset-and-happens-before hybrid</a:t>
            </a:r>
          </a:p>
          <a:p>
            <a:pPr algn="l">
              <a:lnSpc>
                <a:spcPct val="115000"/>
              </a:lnSpc>
            </a:pPr>
            <a:r>
              <a:rPr sz="1500" b="0" i="0">
                <a:solidFill>
                  <a:srgbClr val="1A2B3C"/>
                </a:solidFill>
                <a:latin typeface="Red Hat Text"/>
              </a:rPr>
              <a:t>•  compile-time instrumentation (TSan, ASan, UBSan) rebuilds the binary — cheap enough for every CI run, at 2-15x overhead depending on tool</a:t>
            </a:r>
          </a:p>
          <a:p>
            <a:pPr algn="l">
              <a:lnSpc>
                <a:spcPct val="115000"/>
              </a:lnSpc>
            </a:pPr>
            <a:r>
              <a:rPr sz="1500" b="0" i="0">
                <a:solidFill>
                  <a:srgbClr val="1A2B3C"/>
                </a:solidFill>
                <a:latin typeface="Red Hat Text"/>
              </a:rPr>
              <a:t>•  binary instrumentation (Helgrind, DRD) needs no rebuild at all — an order of magnitude slower, the trade worth making only when recompiling isn't an option</a:t>
            </a:r>
          </a:p>
          <a:p>
            <a:pPr algn="l">
              <a:lnSpc>
                <a:spcPct val="115000"/>
              </a:lnSpc>
            </a:pPr>
            <a:r>
              <a:rPr sz="1500" b="0" i="0">
                <a:solidFill>
                  <a:srgbClr val="1A2B3C"/>
                </a:solidFill>
                <a:latin typeface="Red Hat Text"/>
              </a:rPr>
              <a:t>•  Helgrind can flag a lock-order risk that hasn't manifested in any single run yet — a different signal from TSan's stricter 'only report what happened'</a:t>
            </a:r>
          </a:p>
          <a:p>
            <a:pPr algn="l">
              <a:lnSpc>
                <a:spcPct val="115000"/>
              </a:lnSpc>
            </a:pPr>
            <a:r>
              <a:rPr sz="1500" b="0" i="0">
                <a:solidFill>
                  <a:srgbClr val="1A2B3C"/>
                </a:solidFill>
                <a:latin typeface="Red Hat Text"/>
              </a:rPr>
              <a:t>•  ASan and TSan usually can't link into the same binary — two separate instrumented builds, not one combined one</a:t>
            </a:r>
          </a:p>
        </p:txBody>
      </p:sp>
      <p:pic>
        <p:nvPicPr>
          <p:cNvPr id="10" name="Picture 9" descr="28-tsan-vs-helgrind-mechanism.jpg"/>
          <p:cNvPicPr>
            <a:picLocks noChangeAspect="1"/>
          </p:cNvPicPr>
          <p:nvPr/>
        </p:nvPicPr>
        <p:blipFill>
          <a:blip r:embed="rId2"/>
          <a:stretch>
            <a:fillRect/>
          </a:stretch>
        </p:blipFill>
        <p:spPr>
          <a:xfrm>
            <a:off x="6217920" y="1554480"/>
            <a:ext cx="5486400" cy="261712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Observing concurrency</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The pool clogging under a burst happens once, on a host with no debugger attached, and is gone by the time it's reported.</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44 / 62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Observing concurrency</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Observing concurrency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45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Context does not cross a thread boundary on its own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Thread-safe to call concurrently is not the same as correctly nested</a:t>
            </a:r>
          </a:p>
          <a:p>
            <a:pPr algn="l">
              <a:lnSpc>
                <a:spcPct val="115000"/>
              </a:lnSpc>
            </a:pPr>
            <a:r>
              <a:rPr sz="1500" b="0" i="0">
                <a:solidFill>
                  <a:srgbClr val="1A2B3C"/>
                </a:solidFill>
                <a:latin typeface="Red Hat Text"/>
              </a:rPr>
              <a:t>•  a span created on a pool's worker thread doesn't know it belongs to the request that submitted the work — nothing tells it</a:t>
            </a:r>
          </a:p>
          <a:p>
            <a:pPr algn="l">
              <a:lnSpc>
                <a:spcPct val="115000"/>
              </a:lnSpc>
            </a:pPr>
            <a:r>
              <a:rPr sz="1500" b="0" i="0">
                <a:solidFill>
                  <a:srgbClr val="1A2B3C"/>
                </a:solidFill>
                <a:latin typeface="Red Hat Text"/>
              </a:rPr>
              <a:t>•  the fix: capture the parent Context at submission, install a Scope as the first thing the worker's handler does</a:t>
            </a:r>
          </a:p>
          <a:p>
            <a:pPr algn="l">
              <a:lnSpc>
                <a:spcPct val="115000"/>
              </a:lnSpc>
            </a:pPr>
            <a:r>
              <a:rPr sz="1500" b="0" i="0">
                <a:solidFill>
                  <a:srgbClr val="1A2B3C"/>
                </a:solidFill>
                <a:latin typeface="Red Hat Text"/>
              </a:rPr>
              <a:t>•  a coroutine's suspend/resume pair has the identical problem — the Scope lived on a stack that's gone the moment it unwinds past suspension</a:t>
            </a:r>
          </a:p>
          <a:p>
            <a:pPr algn="l">
              <a:lnSpc>
                <a:spcPct val="115000"/>
              </a:lnSpc>
            </a:pPr>
            <a:r>
              <a:rPr sz="1500" b="0" i="0">
                <a:solidFill>
                  <a:srgbClr val="1A2B3C"/>
                </a:solidFill>
                <a:latin typeface="Red Hat Text"/>
              </a:rPr>
              <a:t>•  the frame carries its own copy of the Context, stored in the promise type, reinstalled on resume before any user code runs</a:t>
            </a:r>
          </a:p>
        </p:txBody>
      </p:sp>
      <p:pic>
        <p:nvPicPr>
          <p:cNvPr id="10" name="Picture 9" descr="29-context-propagation.jpg"/>
          <p:cNvPicPr>
            <a:picLocks noChangeAspect="1"/>
          </p:cNvPicPr>
          <p:nvPr/>
        </p:nvPicPr>
        <p:blipFill>
          <a:blip r:embed="rId2"/>
          <a:stretch>
            <a:fillRect/>
          </a:stretch>
        </p:blipFill>
        <p:spPr>
          <a:xfrm>
            <a:off x="6217920" y="1554480"/>
            <a:ext cx="5486400" cy="286651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Observing concurrency</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Observing concurrency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46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Flush before shutdown is a property of the type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jthread + stop_token guarantee the last batch actually leaves</a:t>
            </a:r>
          </a:p>
          <a:p>
            <a:pPr algn="l">
              <a:lnSpc>
                <a:spcPct val="115000"/>
              </a:lnSpc>
            </a:pPr>
            <a:r>
              <a:rPr sz="1500" b="0" i="0">
                <a:solidFill>
                  <a:srgbClr val="1A2B3C"/>
                </a:solidFill>
                <a:latin typeface="Red Hat Text"/>
              </a:rPr>
              <a:t>•  starting a span isn't free — allocates, reads a clock, copies attributes — so instrument at request or batch grain, not per sub-microsecond iteration</a:t>
            </a:r>
          </a:p>
          <a:p>
            <a:pPr algn="l">
              <a:lnSpc>
                <a:spcPct val="115000"/>
              </a:lnSpc>
            </a:pPr>
            <a:r>
              <a:rPr sz="1500" b="0" i="0">
                <a:solidFill>
                  <a:srgbClr val="1A2B3C"/>
                </a:solidFill>
                <a:latin typeface="Red Hat Text"/>
              </a:rPr>
              <a:t>•  four metrics cover most of concurrency health: queue depth, lock wait time, task latency percentiles, contention counters</a:t>
            </a:r>
          </a:p>
          <a:p>
            <a:pPr algn="l">
              <a:lnSpc>
                <a:spcPct val="115000"/>
              </a:lnSpc>
            </a:pPr>
            <a:r>
              <a:rPr sz="1500" b="0" i="0">
                <a:solidFill>
                  <a:srgbClr val="1A2B3C"/>
                </a:solidFill>
                <a:latin typeface="Red Hat Text"/>
              </a:rPr>
              <a:t>•  label by pool or stage name — a small, bounded set known at compile time, never by anything unbounded like a request id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class InstrumentedWorker {</a:t>
            </a:r>
          </a:p>
          <a:p>
            <a:r>
              <a:rPr sz="1100">
                <a:solidFill>
                  <a:srgbClr val="F4F4F4"/>
                </a:solidFill>
                <a:latin typeface="Red Hat Mono"/>
              </a:rPr>
              <a:t>public:</a:t>
            </a:r>
          </a:p>
          <a:p>
            <a:r>
              <a:rPr sz="1100">
                <a:solidFill>
                  <a:srgbClr val="F4F4F4"/>
                </a:solidFill>
                <a:latin typeface="Red Hat Mono"/>
              </a:rPr>
              <a:t>    explicit InstrumentedWorker(telemetry::Handle t)</a:t>
            </a:r>
          </a:p>
          <a:p>
            <a:r>
              <a:rPr sz="1100">
                <a:solidFill>
                  <a:srgbClr val="F4F4F4"/>
                </a:solidFill>
                <a:latin typeface="Red Hat Mono"/>
              </a:rPr>
              <a:t>        : t_(std::move(t)),</a:t>
            </a:r>
          </a:p>
          <a:p>
            <a:r>
              <a:rPr sz="1100">
                <a:solidFill>
                  <a:srgbClr val="F4F4F4"/>
                </a:solidFill>
                <a:latin typeface="Red Hat Mono"/>
              </a:rPr>
              <a:t>          thread_([this](std::stop_token st) { run(st); }) {}</a:t>
            </a:r>
          </a:p>
          <a:p>
            <a:r>
              <a:rPr sz="1100">
                <a:solidFill>
                  <a:srgbClr val="F4F4F4"/>
                </a:solidFill>
                <a:latin typeface="Red Hat Mono"/>
              </a:rPr>
              <a:t>    // destructor is implicit: jthread stops + joins</a:t>
            </a:r>
          </a:p>
          <a:p>
            <a:r>
              <a:rPr sz="1100">
                <a:solidFill>
                  <a:srgbClr val="F4F4F4"/>
                </a:solidFill>
                <a:latin typeface="Red Hat Mono"/>
              </a:rPr>
              <a:t> </a:t>
            </a:r>
          </a:p>
          <a:p>
            <a:r>
              <a:rPr sz="1100">
                <a:solidFill>
                  <a:srgbClr val="F4F4F4"/>
                </a:solidFill>
                <a:latin typeface="Red Hat Mono"/>
              </a:rPr>
              <a:t>private:</a:t>
            </a:r>
          </a:p>
          <a:p>
            <a:r>
              <a:rPr sz="1100">
                <a:solidFill>
                  <a:srgbClr val="F4F4F4"/>
                </a:solidFill>
                <a:latin typeface="Red Hat Mono"/>
              </a:rPr>
              <a:t>    void run(std::stop_token st) {</a:t>
            </a:r>
          </a:p>
          <a:p>
            <a:r>
              <a:rPr sz="1100">
                <a:solidFill>
                  <a:srgbClr val="F4F4F4"/>
                </a:solidFill>
                <a:latin typeface="Red Hat Mono"/>
              </a:rPr>
              <a:t>        while (!st.stop_requested()) process_next();</a:t>
            </a:r>
          </a:p>
          <a:p>
            <a:r>
              <a:rPr sz="1100">
                <a:solidFill>
                  <a:srgbClr val="F4F4F4"/>
                </a:solidFill>
                <a:latin typeface="Red Hat Mono"/>
              </a:rPr>
              <a:t>        t_.flush_and_shutdown(std::chrono::seconds(5));</a:t>
            </a:r>
          </a:p>
          <a:p>
            <a:r>
              <a:rPr sz="1100">
                <a:solidFill>
                  <a:srgbClr val="F4F4F4"/>
                </a:solidFill>
                <a:latin typeface="Red Hat Mono"/>
              </a:rPr>
              <a:t>    }</a:t>
            </a:r>
          </a:p>
          <a:p>
            <a:r>
              <a:rPr sz="1100">
                <a:solidFill>
                  <a:srgbClr val="F4F4F4"/>
                </a:solidFill>
                <a:latin typeface="Red Hat Mono"/>
              </a:rPr>
              <a:t>    telemetry::Handle t_;</a:t>
            </a:r>
          </a:p>
          <a:p>
            <a:r>
              <a:rPr sz="1100">
                <a:solidFill>
                  <a:srgbClr val="F4F4F4"/>
                </a:solidFill>
                <a:latin typeface="Red Hat Mono"/>
              </a:rPr>
              <a:t>    void process_next();</a:t>
            </a:r>
          </a:p>
          <a:p>
            <a:r>
              <a:rPr sz="1100">
                <a:solidFill>
                  <a:srgbClr val="F4F4F4"/>
                </a:solidFill>
                <a:latin typeface="Red Hat Mono"/>
              </a:rPr>
              <a:t>    std::jthread thread_;</a:t>
            </a:r>
          </a:p>
          <a:p>
            <a:r>
              <a:rPr sz="1100">
                <a:solidFill>
                  <a:srgbClr val="F4F4F4"/>
                </a:solidFill>
                <a:latin typeface="Red Hat Mono"/>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Red Hat Display"/>
              </a:rPr>
              <a:t>▶ DEMO 29</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Red Hat Display"/>
              </a:rPr>
              <a:t>An instrumented pool, a burst, and a real LGTM stack</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F4F4F4"/>
                </a:solidFill>
                <a:latin typeface="Red Hat Text"/>
              </a:rPr>
              <a:t>A multi-container compose stack: the instrumented thread-pool service, the grafana/otel-lgtm backend, and a profile-gated verifier that queries Tempo and Mimir, from ingested telemetry rather than the service's own claims about itself.</a:t>
            </a:r>
          </a:p>
        </p:txBody>
      </p:sp>
      <p:sp>
        <p:nvSpPr>
          <p:cNvPr id="6" name="Rectangle 5"/>
          <p:cNvSpPr/>
          <p:nvPr/>
        </p:nvSpPr>
        <p:spPr>
          <a:xfrm>
            <a:off x="548640" y="4297680"/>
            <a:ext cx="11064240" cy="109728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EE0000"/>
                </a:solidFill>
                <a:latin typeface="Red Hat Mono"/>
              </a:rPr>
              <a:t>$ cd examples/concurrency/29-observing-concurrency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8A8A8A"/>
                </a:solidFill>
                <a:latin typeface="Red Hat Mono"/>
              </a:rPr>
              <a:t>  source on site: github.com/patterncatalyst/cpp-concurrency-and-parallelism/tree/main/examples/concurrency/29-observing-concurrency</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47 / 62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Coding practices and design patterns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race that passes code review is a naming problem as often as it's a logic problem.</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48 / 62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Coding practices and design patterns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Coding practices and design patterns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49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 lock the compiler enforces, not a comment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Monitor&lt;T&gt;: there is no path to the data except through here</a:t>
            </a:r>
          </a:p>
          <a:p>
            <a:pPr algn="l">
              <a:lnSpc>
                <a:spcPct val="115000"/>
              </a:lnSpc>
            </a:pPr>
            <a:r>
              <a:rPr sz="1500" b="0" i="0">
                <a:solidFill>
                  <a:srgbClr val="1A2B3C"/>
                </a:solidFill>
                <a:latin typeface="Red Hat Text"/>
              </a:rPr>
              <a:t>•  a data member named data_ next to a comment reading 'protected by mutex_' is not enforced — the compiler cannot read the comment</a:t>
            </a:r>
          </a:p>
          <a:p>
            <a:pPr algn="l">
              <a:lnSpc>
                <a:spcPct val="115000"/>
              </a:lnSpc>
            </a:pPr>
            <a:r>
              <a:rPr sz="1500" b="0" i="0">
                <a:solidFill>
                  <a:srgbClr val="1A2B3C"/>
                </a:solidFill>
                <a:latin typeface="Red Hat Text"/>
              </a:rPr>
              <a:t>•  a const accessor hiding a mutable cache is not thread-safe just because its signature promises not to mutate observable state</a:t>
            </a:r>
          </a:p>
          <a:p>
            <a:pPr algn="l">
              <a:lnSpc>
                <a:spcPct val="115000"/>
              </a:lnSpc>
            </a:pPr>
            <a:r>
              <a:rPr sz="1500" b="0" i="0">
                <a:solidFill>
                  <a:srgbClr val="1A2B3C"/>
                </a:solidFill>
                <a:latin typeface="Red Hat Text"/>
              </a:rPr>
              <a:t>•  a type with no thread-safety annotation should default to confined, never to assumed-shared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template &lt;typename T&gt;</a:t>
            </a:r>
          </a:p>
          <a:p>
            <a:r>
              <a:rPr sz="1200">
                <a:solidFill>
                  <a:srgbClr val="F4F4F4"/>
                </a:solidFill>
                <a:latin typeface="Red Hat Mono"/>
              </a:rPr>
              <a:t>class Monitor {</a:t>
            </a:r>
          </a:p>
          <a:p>
            <a:r>
              <a:rPr sz="1200">
                <a:solidFill>
                  <a:srgbClr val="F4F4F4"/>
                </a:solidFill>
                <a:latin typeface="Red Hat Mono"/>
              </a:rPr>
              <a:t>public:</a:t>
            </a:r>
          </a:p>
          <a:p>
            <a:r>
              <a:rPr sz="1200">
                <a:solidFill>
                  <a:srgbClr val="F4F4F4"/>
                </a:solidFill>
                <a:latin typeface="Red Hat Mono"/>
              </a:rPr>
              <a:t>    explicit Monitor(T value) : value_(std::move(value)) {}</a:t>
            </a:r>
          </a:p>
          <a:p>
            <a:r>
              <a:rPr sz="1200">
                <a:solidFill>
                  <a:srgbClr val="F4F4F4"/>
                </a:solidFill>
                <a:latin typeface="Red Hat Mono"/>
              </a:rPr>
              <a:t> </a:t>
            </a:r>
          </a:p>
          <a:p>
            <a:r>
              <a:rPr sz="1200">
                <a:solidFill>
                  <a:srgbClr val="F4F4F4"/>
                </a:solidFill>
                <a:latin typeface="Red Hat Mono"/>
              </a:rPr>
              <a:t>    // only path to value_: a lock-holding call</a:t>
            </a:r>
          </a:p>
          <a:p>
            <a:r>
              <a:rPr sz="1200">
                <a:solidFill>
                  <a:srgbClr val="F4F4F4"/>
                </a:solidFill>
                <a:latin typeface="Red Hat Mono"/>
              </a:rPr>
              <a:t>    template &lt;typename F&gt;</a:t>
            </a:r>
          </a:p>
          <a:p>
            <a:r>
              <a:rPr sz="1200">
                <a:solidFill>
                  <a:srgbClr val="F4F4F4"/>
                </a:solidFill>
                <a:latin typeface="Red Hat Mono"/>
              </a:rPr>
              <a:t>    auto with_lock(F&amp;&amp; f) {</a:t>
            </a:r>
          </a:p>
          <a:p>
            <a:r>
              <a:rPr sz="1200">
                <a:solidFill>
                  <a:srgbClr val="F4F4F4"/>
                </a:solidFill>
                <a:latin typeface="Red Hat Mono"/>
              </a:rPr>
              <a:t>        std::lock_guard lk(mutex_);</a:t>
            </a:r>
          </a:p>
          <a:p>
            <a:r>
              <a:rPr sz="1200">
                <a:solidFill>
                  <a:srgbClr val="F4F4F4"/>
                </a:solidFill>
                <a:latin typeface="Red Hat Mono"/>
              </a:rPr>
              <a:t>        return std::forward&lt;F&gt;(f)(value_);</a:t>
            </a:r>
          </a:p>
          <a:p>
            <a:r>
              <a:rPr sz="1200">
                <a:solidFill>
                  <a:srgbClr val="F4F4F4"/>
                </a:solidFill>
                <a:latin typeface="Red Hat Mono"/>
              </a:rPr>
              <a:t>    }</a:t>
            </a:r>
          </a:p>
          <a:p>
            <a:r>
              <a:rPr sz="1200">
                <a:solidFill>
                  <a:srgbClr val="F4F4F4"/>
                </a:solidFill>
                <a:latin typeface="Red Hat Mono"/>
              </a:rPr>
              <a:t> </a:t>
            </a:r>
          </a:p>
          <a:p>
            <a:r>
              <a:rPr sz="1200">
                <a:solidFill>
                  <a:srgbClr val="F4F4F4"/>
                </a:solidFill>
                <a:latin typeface="Red Hat Mono"/>
              </a:rPr>
              <a:t>private:</a:t>
            </a:r>
          </a:p>
          <a:p>
            <a:r>
              <a:rPr sz="1200">
                <a:solidFill>
                  <a:srgbClr val="F4F4F4"/>
                </a:solidFill>
                <a:latin typeface="Red Hat Mono"/>
              </a:rPr>
              <a:t>    std::mutex mutex_;</a:t>
            </a:r>
          </a:p>
          <a:p>
            <a:r>
              <a:rPr sz="1200">
                <a:solidFill>
                  <a:srgbClr val="F4F4F4"/>
                </a:solidFill>
                <a:latin typeface="Red Hat Mono"/>
              </a:rPr>
              <a:t>    T value_;</a:t>
            </a:r>
          </a:p>
          <a:p>
            <a:r>
              <a:rPr sz="1200">
                <a:solidFill>
                  <a:srgbClr val="F4F4F4"/>
                </a:solidFill>
                <a:latin typeface="Red Hat Mono"/>
              </a:rP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Coding practices and design patterns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Coding practices and design patterns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50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Pipelines isolate phases; sharding parallelizes data</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Red Hat Text"/>
              </a:rPr>
              <a:t>SEDA stages each get their own pool and bounded queue</a:t>
            </a:r>
          </a:p>
          <a:p>
            <a:pPr algn="l">
              <a:lnSpc>
                <a:spcPct val="115000"/>
              </a:lnSpc>
            </a:pPr>
            <a:r>
              <a:rPr sz="1500" b="0" i="0">
                <a:solidFill>
                  <a:srgbClr val="1A2B3C"/>
                </a:solidFill>
                <a:latin typeface="Red Hat Text"/>
              </a:rPr>
              <a:t>•  a queue boundary decouples each stage's throughput from its neighbors' and gives each one an independent admission-control point</a:t>
            </a:r>
          </a:p>
          <a:p>
            <a:pPr algn="l">
              <a:lnSpc>
                <a:spcPct val="115000"/>
              </a:lnSpc>
            </a:pPr>
            <a:r>
              <a:rPr sz="1500" b="0" i="0">
                <a:solidFill>
                  <a:srgbClr val="1A2B3C"/>
                </a:solidFill>
                <a:latin typeface="Red Hat Text"/>
              </a:rPr>
              <a:t>•  fan-out/fan-in extends the pattern to parallel replicas of one stage, joined with a std::latch set to N</a:t>
            </a:r>
          </a:p>
          <a:p>
            <a:pPr algn="l">
              <a:lnSpc>
                <a:spcPct val="115000"/>
              </a:lnSpc>
            </a:pPr>
            <a:r>
              <a:rPr sz="1500" b="0" i="0">
                <a:solidFill>
                  <a:srgbClr val="1A2B3C"/>
                </a:solidFill>
                <a:latin typeface="Red Hat Text"/>
              </a:rPr>
              <a:t>•  sharding partitions state by key with exactly one writer per shard — the single-writer principle generalized to a whole system</a:t>
            </a:r>
          </a:p>
          <a:p>
            <a:pPr algn="l">
              <a:lnSpc>
                <a:spcPct val="115000"/>
              </a:lnSpc>
            </a:pPr>
            <a:r>
              <a:rPr sz="1500" b="0" i="0">
                <a:solidFill>
                  <a:srgbClr val="1A2B3C"/>
                </a:solidFill>
                <a:latin typeface="Red Hat Text"/>
              </a:rPr>
              <a:t>•  the hard case is any operation spanning more than one shard — coordinate it explicitly, or redesign the key space to avoid it</a:t>
            </a:r>
          </a:p>
        </p:txBody>
      </p:sp>
      <p:pic>
        <p:nvPicPr>
          <p:cNvPr id="10" name="Picture 9" descr="31-seda-pipeline.jpg"/>
          <p:cNvPicPr>
            <a:picLocks noChangeAspect="1"/>
          </p:cNvPicPr>
          <p:nvPr/>
        </p:nvPicPr>
        <p:blipFill>
          <a:blip r:embed="rId2"/>
          <a:stretch>
            <a:fillRect/>
          </a:stretch>
        </p:blipFill>
        <p:spPr>
          <a:xfrm>
            <a:off x="6217920" y="1554480"/>
            <a:ext cx="5486400" cy="2339325"/>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Coding practices and design patterns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Coding practices and design patterns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51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 sharded router: no lock, because no other writer</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9B59B6"/>
                </a:solidFill>
                <a:latin typeface="Red Hat Text"/>
              </a:rPr>
              <a:t>Reached only through its own shard's mailbox</a:t>
            </a:r>
          </a:p>
          <a:p>
            <a:pPr algn="l">
              <a:lnSpc>
                <a:spcPct val="115000"/>
              </a:lnSpc>
            </a:pPr>
            <a:r>
              <a:rPr sz="1500" b="0" i="0">
                <a:solidFill>
                  <a:srgbClr val="1A2B3C"/>
                </a:solidFill>
                <a:latin typeface="Red Hat Text"/>
              </a:rPr>
              <a:t>•  a request for key K routes to the shard owning K — consistent hash or modulo, a mechanical lookup</a:t>
            </a:r>
          </a:p>
          <a:p>
            <a:pPr algn="l">
              <a:lnSpc>
                <a:spcPct val="115000"/>
              </a:lnSpc>
            </a:pPr>
            <a:r>
              <a:rPr sz="1500" b="0" i="0">
                <a:solidFill>
                  <a:srgbClr val="1A2B3C"/>
                </a:solidFill>
                <a:latin typeface="Red Hat Text"/>
              </a:rPr>
              <a:t>•  total write throughput scales with shard count rather than being capped by one shared structure's serialization point</a:t>
            </a:r>
          </a:p>
          <a:p>
            <a:pPr algn="l">
              <a:lnSpc>
                <a:spcPct val="115000"/>
              </a:lnSpc>
            </a:pPr>
            <a:r>
              <a:rPr sz="1500" b="0" i="0">
                <a:solidFill>
                  <a:srgbClr val="1A2B3C"/>
                </a:solidFill>
                <a:latin typeface="Red Hat Text"/>
              </a:rPr>
              <a:t>•  resharding needs a brief quiesce on the migrating range, or a short-lived coordinator — a cost paid occasionally, not on every request</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template &lt;typename Key, typename State&gt;</a:t>
            </a:r>
          </a:p>
          <a:p>
            <a:r>
              <a:rPr sz="1200">
                <a:solidFill>
                  <a:srgbClr val="F4F4F4"/>
                </a:solidFill>
                <a:latin typeface="Red Hat Mono"/>
              </a:rPr>
              <a:t>class ShardedStore {</a:t>
            </a:r>
          </a:p>
          <a:p>
            <a:r>
              <a:rPr sz="1200">
                <a:solidFill>
                  <a:srgbClr val="F4F4F4"/>
                </a:solidFill>
                <a:latin typeface="Red Hat Mono"/>
              </a:rPr>
              <a:t>public:</a:t>
            </a:r>
          </a:p>
          <a:p>
            <a:r>
              <a:rPr sz="1200">
                <a:solidFill>
                  <a:srgbClr val="F4F4F4"/>
                </a:solidFill>
                <a:latin typeface="Red Hat Mono"/>
              </a:rPr>
              <a:t>    explicit ShardedStore(std::size_t n) : shards_(n) {}</a:t>
            </a:r>
          </a:p>
          <a:p>
            <a:r>
              <a:rPr sz="1200">
                <a:solidFill>
                  <a:srgbClr val="F4F4F4"/>
                </a:solidFill>
                <a:latin typeface="Red Hat Mono"/>
              </a:rPr>
              <a:t> </a:t>
            </a:r>
          </a:p>
          <a:p>
            <a:r>
              <a:rPr sz="1200">
                <a:solidFill>
                  <a:srgbClr val="F4F4F4"/>
                </a:solidFill>
                <a:latin typeface="Red Hat Mono"/>
              </a:rPr>
              <a:t>    void dispatch(const Key&amp; key,</a:t>
            </a:r>
          </a:p>
          <a:p>
            <a:r>
              <a:rPr sz="1200">
                <a:solidFill>
                  <a:srgbClr val="F4F4F4"/>
                </a:solidFill>
                <a:latin typeface="Red Hat Mono"/>
              </a:rPr>
              <a:t>        std::move_only_function&lt;void(State&amp;)&gt; op) {</a:t>
            </a:r>
          </a:p>
          <a:p>
            <a:r>
              <a:rPr sz="1200">
                <a:solidFill>
                  <a:srgbClr val="F4F4F4"/>
                </a:solidFill>
                <a:latin typeface="Red Hat Mono"/>
              </a:rPr>
              <a:t>        auto&amp; shard =</a:t>
            </a:r>
          </a:p>
          <a:p>
            <a:r>
              <a:rPr sz="1200">
                <a:solidFill>
                  <a:srgbClr val="F4F4F4"/>
                </a:solidFill>
                <a:latin typeface="Red Hat Mono"/>
              </a:rPr>
              <a:t>            shards_[std::hash&lt;Key&gt;{}(key) % shards_.size()];</a:t>
            </a:r>
          </a:p>
          <a:p>
            <a:r>
              <a:rPr sz="1200">
                <a:solidFill>
                  <a:srgbClr val="F4F4F4"/>
                </a:solidFill>
                <a:latin typeface="Red Hat Mono"/>
              </a:rPr>
              <a:t>        shard.mailbox.send(std::move(op));</a:t>
            </a:r>
          </a:p>
          <a:p>
            <a:r>
              <a:rPr sz="1200">
                <a:solidFill>
                  <a:srgbClr val="F4F4F4"/>
                </a:solidFill>
                <a:latin typeface="Red Hat Mono"/>
              </a:rPr>
              <a:t>    }</a:t>
            </a:r>
          </a:p>
          <a:p>
            <a:r>
              <a:rPr sz="1200">
                <a:solidFill>
                  <a:srgbClr val="F4F4F4"/>
                </a:solidFill>
                <a:latin typeface="Red Hat Mono"/>
              </a:rPr>
              <a:t> </a:t>
            </a:r>
          </a:p>
          <a:p>
            <a:r>
              <a:rPr sz="1200">
                <a:solidFill>
                  <a:srgbClr val="F4F4F4"/>
                </a:solidFill>
                <a:latin typeface="Red Hat Mono"/>
              </a:rPr>
              <a:t>private:</a:t>
            </a:r>
          </a:p>
          <a:p>
            <a:r>
              <a:rPr sz="1200">
                <a:solidFill>
                  <a:srgbClr val="F4F4F4"/>
                </a:solidFill>
                <a:latin typeface="Red Hat Mono"/>
              </a:rPr>
              <a:t>    struct Shard {</a:t>
            </a:r>
          </a:p>
          <a:p>
            <a:r>
              <a:rPr sz="1200">
                <a:solidFill>
                  <a:srgbClr val="F4F4F4"/>
                </a:solidFill>
                <a:latin typeface="Red Hat Mono"/>
              </a:rPr>
              <a:t>        Mailbox&lt;std::move_only_function&lt;void(State&amp;)&gt;&gt;</a:t>
            </a:r>
          </a:p>
          <a:p>
            <a:r>
              <a:rPr sz="1200">
                <a:solidFill>
                  <a:srgbClr val="F4F4F4"/>
                </a:solidFill>
                <a:latin typeface="Red Hat Mono"/>
              </a:rPr>
              <a:t>            mailbox{64};</a:t>
            </a:r>
          </a:p>
          <a:p>
            <a:r>
              <a:rPr sz="1200">
                <a:solidFill>
                  <a:srgbClr val="F4F4F4"/>
                </a:solidFill>
                <a:latin typeface="Red Hat Mono"/>
              </a:rPr>
              <a:t>        std::jthread worker{[](std::stop_token) {}};</a:t>
            </a:r>
          </a:p>
          <a:p>
            <a:r>
              <a:rPr sz="1200">
                <a:solidFill>
                  <a:srgbClr val="F4F4F4"/>
                </a:solidFill>
                <a:latin typeface="Red Hat Mono"/>
              </a:rPr>
              <a:t>    };</a:t>
            </a:r>
          </a:p>
          <a:p>
            <a:r>
              <a:rPr sz="1200">
                <a:solidFill>
                  <a:srgbClr val="F4F4F4"/>
                </a:solidFill>
                <a:latin typeface="Red Hat Mono"/>
              </a:rPr>
              <a:t>    std::vector&lt;Shard&gt; shards_;</a:t>
            </a:r>
          </a:p>
          <a:p>
            <a:r>
              <a:rPr sz="1200">
                <a:solidFill>
                  <a:srgbClr val="F4F4F4"/>
                </a:solidFill>
                <a:latin typeface="Red Hat Mono"/>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§13</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Concurrency in containers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The kernel interface a program queries for CPU count and the limit that actually throttles it are unrelated code paths.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52 / 62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Concurrency in containers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Concurrency in containers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53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Two knobs, two different failure modes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A time budget vs a fixed set of visible cores</a:t>
            </a:r>
          </a:p>
          <a:p>
            <a:pPr algn="l">
              <a:lnSpc>
                <a:spcPct val="115000"/>
              </a:lnSpc>
            </a:pPr>
            <a:r>
              <a:rPr sz="1500" b="0" i="0">
                <a:solidFill>
                  <a:srgbClr val="1A2B3C"/>
                </a:solidFill>
                <a:latin typeface="Red Hat Text"/>
              </a:rPr>
              <a:t>•  cpu.max is a time budget — 200 ms allowed per 100 ms period — enforced across every visible core, with no regard for which ones</a:t>
            </a:r>
          </a:p>
          <a:p>
            <a:pPr algn="l">
              <a:lnSpc>
                <a:spcPct val="115000"/>
              </a:lnSpc>
            </a:pPr>
            <a:r>
              <a:rPr sz="1500" b="0" i="0">
                <a:solidFill>
                  <a:srgbClr val="1A2B3C"/>
                </a:solidFill>
                <a:latin typeface="Red Hat Text"/>
              </a:rPr>
              <a:t>•  cpuset.cpus is a fixed set of CPU IDs — no period, no time accounting, no throttling event, ever</a:t>
            </a:r>
          </a:p>
          <a:p>
            <a:pPr algn="l">
              <a:lnSpc>
                <a:spcPct val="115000"/>
              </a:lnSpc>
            </a:pPr>
            <a:r>
              <a:rPr sz="1500" b="0" i="0">
                <a:solidFill>
                  <a:srgbClr val="1A2B3C"/>
                </a:solidFill>
                <a:latin typeface="Red Hat Text"/>
              </a:rPr>
              <a:t>•  a container can carry both at once, unrelated to each other, and behave completely differently under load depending on which binds</a:t>
            </a:r>
          </a:p>
          <a:p>
            <a:pPr algn="l">
              <a:lnSpc>
                <a:spcPct val="115000"/>
              </a:lnSpc>
            </a:pPr>
            <a:r>
              <a:rPr sz="1500" b="0" i="0">
                <a:solidFill>
                  <a:srgbClr val="1A2B3C"/>
                </a:solidFill>
                <a:latin typeface="Red Hat Text"/>
              </a:rPr>
              <a:t>•  hardware_concurrency() reflects cpuset correctly on glibc 2.36+ — and never reflects cpu.max at all</a:t>
            </a:r>
          </a:p>
        </p:txBody>
      </p:sp>
      <p:pic>
        <p:nvPicPr>
          <p:cNvPr id="10" name="Picture 9" descr="32-quota-vs-cpuset.jpg"/>
          <p:cNvPicPr>
            <a:picLocks noChangeAspect="1"/>
          </p:cNvPicPr>
          <p:nvPr/>
        </p:nvPicPr>
        <p:blipFill>
          <a:blip r:embed="rId2"/>
          <a:stretch>
            <a:fillRect/>
          </a:stretch>
        </p:blipFill>
        <p:spPr>
          <a:xfrm>
            <a:off x="6217920" y="1554480"/>
            <a:ext cx="5486400" cy="195421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Concurrency in containers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Concurrency in containers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54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Two knobs, two different failure modes</a:t>
            </a:r>
          </a:p>
        </p:txBody>
      </p:sp>
      <p:sp>
        <p:nvSpPr>
          <p:cNvPr id="9" name="Rectangle 8"/>
          <p:cNvSpPr/>
          <p:nvPr/>
        </p:nvSpPr>
        <p:spPr>
          <a:xfrm>
            <a:off x="4572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1E6FC8"/>
                </a:solidFill>
                <a:latin typeface="Red Hat Display"/>
              </a:rPr>
              <a:t>200000/100000</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cpu.max: a time budget in microseconds per period</a:t>
            </a:r>
          </a:p>
        </p:txBody>
      </p:sp>
      <p:sp>
        <p:nvSpPr>
          <p:cNvPr id="12" name="Rectangle 11"/>
          <p:cNvSpPr/>
          <p:nvPr/>
        </p:nvSpPr>
        <p:spPr>
          <a:xfrm>
            <a:off x="33147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27AE60"/>
                </a:solidFill>
                <a:latin typeface="Red Hat Display"/>
              </a:rPr>
              <a:t>cpuset.cpus</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a fixed core set, zero time accounting, never throttles</a:t>
            </a:r>
          </a:p>
        </p:txBody>
      </p:sp>
      <p:sp>
        <p:nvSpPr>
          <p:cNvPr id="15" name="Rectangle 14"/>
          <p:cNvSpPr/>
          <p:nvPr/>
        </p:nvSpPr>
        <p:spPr>
          <a:xfrm>
            <a:off x="61722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E84855"/>
                </a:solidFill>
                <a:latin typeface="Red Hat Display"/>
              </a:rPr>
              <a:t>16</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hardware_concurrency() on a host, even inside a 2-core quota</a:t>
            </a:r>
          </a:p>
        </p:txBody>
      </p:sp>
      <p:sp>
        <p:nvSpPr>
          <p:cNvPr id="18" name="Rectangle 17"/>
          <p:cNvSpPr/>
          <p:nvPr/>
        </p:nvSpPr>
        <p:spPr>
          <a:xfrm>
            <a:off x="90297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F5A623"/>
                </a:solidFill>
                <a:latin typeface="Red Hat Display"/>
              </a:rPr>
              <a:t>throttled_usec</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cpu.stat's direct, unambiguous evidence of CFS throttling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Concurrency in containers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Concurrency in containers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55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Derive the pool size from the real constraint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The tighter of cpuset count and cgroup quota, never below 1</a:t>
            </a:r>
          </a:p>
          <a:p>
            <a:pPr algn="l">
              <a:lnSpc>
                <a:spcPct val="115000"/>
              </a:lnSpc>
            </a:pPr>
            <a:r>
              <a:rPr sz="1500" b="0" i="0">
                <a:solidFill>
                  <a:srgbClr val="1A2B3C"/>
                </a:solidFill>
                <a:latin typeface="Red Hat Text"/>
              </a:rPr>
              <a:t>•  an orchestrator-supplied CPU_LIMIT wins outright — it already knows allocations a generic cgroup reader has to work harder to characterize</a:t>
            </a:r>
          </a:p>
          <a:p>
            <a:pPr algn="l">
              <a:lnSpc>
                <a:spcPct val="115000"/>
              </a:lnSpc>
            </a:pPr>
            <a:r>
              <a:rPr sz="1500" b="0" i="0">
                <a:solidFill>
                  <a:srgbClr val="1A2B3C"/>
                </a:solidFill>
                <a:latin typeface="Red Hat Text"/>
              </a:rPr>
              <a:t>•  pinning under a pure quota stops migration but buys no additional CPU time — the quota is accounted across the whole cgroup regardless</a:t>
            </a:r>
          </a:p>
          <a:p>
            <a:pPr algn="l">
              <a:lnSpc>
                <a:spcPct val="115000"/>
              </a:lnSpc>
            </a:pPr>
            <a:r>
              <a:rPr sz="1500" b="0" i="0">
                <a:solidFill>
                  <a:srgbClr val="1A2B3C"/>
                </a:solidFill>
                <a:latin typeface="Red Hat Text"/>
              </a:rPr>
              <a:t>•  pinning under a cpuset composes cleanly and is what Kubernetes' CPU Manager static policy grants a Guaranteed-QoS pod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unsigned recommended_cpu_pool_size() {</a:t>
            </a:r>
          </a:p>
          <a:p>
            <a:r>
              <a:rPr sz="1200">
                <a:solidFill>
                  <a:srgbClr val="F4F4F4"/>
                </a:solidFill>
                <a:latin typeface="Red Hat Mono"/>
              </a:rPr>
              <a:t>    if (const char* env = std::getenv("CPU_LIMIT")) {</a:t>
            </a:r>
          </a:p>
          <a:p>
            <a:r>
              <a:rPr sz="1200">
                <a:solidFill>
                  <a:srgbClr val="F4F4F4"/>
                </a:solidFill>
                <a:latin typeface="Red Hat Mono"/>
              </a:rPr>
              <a:t>        double v = std::atof(env);</a:t>
            </a:r>
          </a:p>
          <a:p>
            <a:r>
              <a:rPr sz="1200">
                <a:solidFill>
                  <a:srgbClr val="F4F4F4"/>
                </a:solidFill>
                <a:latin typeface="Red Hat Mono"/>
              </a:rPr>
              <a:t>        if (v &gt; 0.0)</a:t>
            </a:r>
          </a:p>
          <a:p>
            <a:r>
              <a:rPr sz="1200">
                <a:solidFill>
                  <a:srgbClr val="F4F4F4"/>
                </a:solidFill>
                <a:latin typeface="Red Hat Mono"/>
              </a:rPr>
              <a:t>            return std::max(1u,</a:t>
            </a:r>
          </a:p>
          <a:p>
            <a:r>
              <a:rPr sz="1200">
                <a:solidFill>
                  <a:srgbClr val="F4F4F4"/>
                </a:solidFill>
                <a:latin typeface="Red Hat Mono"/>
              </a:rPr>
              <a:t>                (unsigned)std::floor(v));</a:t>
            </a:r>
          </a:p>
          <a:p>
            <a:r>
              <a:rPr sz="1200">
                <a:solidFill>
                  <a:srgbClr val="F4F4F4"/>
                </a:solidFill>
                <a:latin typeface="Red Hat Mono"/>
              </a:rPr>
              <a:t>    }</a:t>
            </a:r>
          </a:p>
          <a:p>
            <a:r>
              <a:rPr sz="1200">
                <a:solidFill>
                  <a:srgbClr val="F4F4F4"/>
                </a:solidFill>
                <a:latin typeface="Red Hat Mono"/>
              </a:rPr>
              <a:t>    unsigned affinity = affinity_cpu_count();</a:t>
            </a:r>
          </a:p>
          <a:p>
            <a:r>
              <a:rPr sz="1200">
                <a:solidFill>
                  <a:srgbClr val="F4F4F4"/>
                </a:solidFill>
                <a:latin typeface="Red Hat Mono"/>
              </a:rPr>
              <a:t>    if (auto quota = cgroup_cpu_quota()) {</a:t>
            </a:r>
          </a:p>
          <a:p>
            <a:r>
              <a:rPr sz="1200">
                <a:solidFill>
                  <a:srgbClr val="F4F4F4"/>
                </a:solidFill>
                <a:latin typeface="Red Hat Mono"/>
              </a:rPr>
              <a:t>        return std::max(1u, (unsigned)std::floor(</a:t>
            </a:r>
          </a:p>
          <a:p>
            <a:r>
              <a:rPr sz="1200">
                <a:solidFill>
                  <a:srgbClr val="F4F4F4"/>
                </a:solidFill>
                <a:latin typeface="Red Hat Mono"/>
              </a:rPr>
              <a:t>            std::min(*quota, (double)affinity)));</a:t>
            </a:r>
          </a:p>
          <a:p>
            <a:r>
              <a:rPr sz="1200">
                <a:solidFill>
                  <a:srgbClr val="F4F4F4"/>
                </a:solidFill>
                <a:latin typeface="Red Hat Mono"/>
              </a:rPr>
              <a:t>    }</a:t>
            </a:r>
          </a:p>
          <a:p>
            <a:r>
              <a:rPr sz="1200">
                <a:solidFill>
                  <a:srgbClr val="F4F4F4"/>
                </a:solidFill>
                <a:latin typeface="Red Hat Mono"/>
              </a:rPr>
              <a:t>    return std::max(1u, affinity);</a:t>
            </a:r>
          </a:p>
          <a:p>
            <a:r>
              <a:rPr sz="1200">
                <a:solidFill>
                  <a:srgbClr val="F4F4F4"/>
                </a:solidFill>
                <a:latin typeface="Red Hat Mono"/>
              </a:rPr>
              <a: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Red Hat Display"/>
              </a:rPr>
              <a:t>▶ DEMO 32</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Red Hat Display"/>
              </a:rPr>
              <a:t>cgroup-probe, run under a tightening sequence of limits</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F4F4F4"/>
                </a:solidFill>
                <a:latin typeface="Red Hat Text"/>
              </a:rPr>
              <a:t>Prints hardware_concurrency(), the sched_getaffinity-derived cpuset count, and the cgroup v2 cpu.max quota side by side. Progressively narrowing --cpuset-cpus and --cpus separately shows the two numbers moving for two different reasons — and, left unconstrained, the oversubscription gap.</a:t>
            </a:r>
          </a:p>
        </p:txBody>
      </p:sp>
      <p:sp>
        <p:nvSpPr>
          <p:cNvPr id="6" name="Rectangle 5"/>
          <p:cNvSpPr/>
          <p:nvPr/>
        </p:nvSpPr>
        <p:spPr>
          <a:xfrm>
            <a:off x="548640" y="4297680"/>
            <a:ext cx="11064240" cy="109728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EE0000"/>
                </a:solidFill>
                <a:latin typeface="Red Hat Mono"/>
              </a:rPr>
              <a:t>$ cd examples/concurrency/32-concurrency-in-containers &amp;&amp; ./demo.sh --cpus=2</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8A8A8A"/>
                </a:solidFill>
                <a:latin typeface="Red Hat Mono"/>
              </a:rPr>
              <a:t>  source on site: github.com/patterncatalyst/cpp-concurrency-and-parallelism/tree/main/examples/concurrency/32-concurrency-in-containers</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56 / 62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§14</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Full example: ingest, match, publish</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real low-latency service is never one technique running alone — it's several wired into stages.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57 / 62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Full example: ingest, match, publish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Full example: ingest, match, publish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58 / 62</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Three stages, three concurrency models</a:t>
            </a:r>
          </a:p>
        </p:txBody>
      </p:sp>
      <p:pic>
        <p:nvPicPr>
          <p:cNvPr id="9" name="Picture 8" descr="33-pipeline-architecture.jpg"/>
          <p:cNvPicPr>
            <a:picLocks noChangeAspect="1"/>
          </p:cNvPicPr>
          <p:nvPr/>
        </p:nvPicPr>
        <p:blipFill>
          <a:blip r:embed="rId2"/>
          <a:stretch>
            <a:fillRect/>
          </a:stretch>
        </p:blipFill>
        <p:spPr>
          <a:xfrm>
            <a:off x="1416607" y="1463040"/>
            <a:ext cx="9328306"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Many ingest threads feed a pinned single-writer match thread over a lock-free ring, fanning out through a second ring to publish threads.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Full example: ingest, match, publish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Full example: ingest, match, publish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59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Verify which thread ran it — don't assume the diagram</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Red Hat Text"/>
              </a:rPr>
              <a:t>A single OTel span per stage, carrying gettid() as an attribute</a:t>
            </a:r>
          </a:p>
          <a:p>
            <a:pPr algn="l">
              <a:lnSpc>
                <a:spcPct val="115000"/>
              </a:lnSpc>
            </a:pPr>
            <a:r>
              <a:rPr sz="1500" b="0" i="0">
                <a:solidFill>
                  <a:srgbClr val="1A2B3C"/>
                </a:solidFill>
                <a:latin typeface="Red Hat Text"/>
              </a:rPr>
              <a:t>•  every match span in every trace should carry the identical thread.id attribute — exactly one, not N</a:t>
            </a:r>
          </a:p>
          <a:p>
            <a:pPr algn="l">
              <a:lnSpc>
                <a:spcPct val="115000"/>
              </a:lnSpc>
            </a:pPr>
            <a:r>
              <a:rPr sz="1500" b="0" i="0">
                <a:solidFill>
                  <a:srgbClr val="1A2B3C"/>
                </a:solidFill>
                <a:latin typeface="Red Hat Text"/>
              </a:rPr>
              <a:t>•  a match stage reporting more than one distinct thread id has broken the design's central correctness guarantee</a:t>
            </a:r>
          </a:p>
          <a:p>
            <a:pPr algn="l">
              <a:lnSpc>
                <a:spcPct val="115000"/>
              </a:lnSpc>
            </a:pPr>
            <a:r>
              <a:rPr sz="1500" b="0" i="0">
                <a:solidFill>
                  <a:srgbClr val="1A2B3C"/>
                </a:solidFill>
                <a:latin typeface="Red Hat Text"/>
              </a:rPr>
              <a:t>•  the ring-occupancy attribute at each hand-off makes synchronization cost visible rather than inferred</a:t>
            </a:r>
          </a:p>
          <a:p>
            <a:pPr algn="l">
              <a:lnSpc>
                <a:spcPct val="115000"/>
              </a:lnSpc>
            </a:pPr>
            <a:r>
              <a:rPr sz="1500" b="0" i="0">
                <a:solidFill>
                  <a:srgbClr val="1A2B3C"/>
                </a:solidFill>
                <a:latin typeface="Red Hat Text"/>
              </a:rPr>
              <a:t>•  end-to-end latency gets the full Chapter 18 discipline: warmed, repeated, p50/p99/p99.9 — never a single std::chrono delta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Full example: ingest, match, publish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201   |   Full example: ingest, match, publish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60 / 62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 bounded spin, then a cheap fallback — never forever</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Red Hat Text"/>
              </a:rPr>
              <a:t>Cheap in both the hot case and the idle one</a:t>
            </a:r>
          </a:p>
          <a:p>
            <a:pPr algn="l">
              <a:lnSpc>
                <a:spcPct val="115000"/>
              </a:lnSpc>
            </a:pPr>
            <a:r>
              <a:rPr sz="1500" b="0" i="0">
                <a:solidFill>
                  <a:srgbClr val="1A2B3C"/>
                </a:solidFill>
                <a:latin typeface="Red Hat Text"/>
              </a:rPr>
              <a:t>•  the match thread busy-polls the ingest ring briefly, matching The Low-Latency Fast Path's busy-poll-versus-block trade-off directly</a:t>
            </a:r>
          </a:p>
          <a:p>
            <a:pPr algn="l">
              <a:lnSpc>
                <a:spcPct val="115000"/>
              </a:lnSpc>
            </a:pPr>
            <a:r>
              <a:rPr sz="1500" b="0" i="0">
                <a:solidFill>
                  <a:srgbClr val="1A2B3C"/>
                </a:solidFill>
                <a:latin typeface="Red Hat Text"/>
              </a:rPr>
              <a:t>•  a bounded spin budget keeps common-case latency at the busy-poll floor without pinning a core at 100% indefinitely</a:t>
            </a:r>
          </a:p>
          <a:p>
            <a:pPr algn="l">
              <a:lnSpc>
                <a:spcPct val="115000"/>
              </a:lnSpc>
            </a:pPr>
            <a:r>
              <a:rPr sz="1500" b="0" i="0">
                <a:solidFill>
                  <a:srgbClr val="1A2B3C"/>
                </a:solidFill>
                <a:latin typeface="Red Hat Text"/>
              </a:rPr>
              <a:t>•  std::expected carries a per-order outcome across the ring boundary — no exception, no stack on the other side to catch it</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std::uint64_t seen =</a:t>
            </a:r>
          </a:p>
          <a:p>
            <a:r>
              <a:rPr sz="1200">
                <a:solidFill>
                  <a:srgbClr val="F4F4F4"/>
                </a:solidFill>
                <a:latin typeface="Red Hat Mono"/>
              </a:rPr>
              <a:t>    ingest_ring.published.load(std::memory_order_acquire);</a:t>
            </a:r>
          </a:p>
          <a:p>
            <a:r>
              <a:rPr sz="1200">
                <a:solidFill>
                  <a:srgbClr val="F4F4F4"/>
                </a:solidFill>
                <a:latin typeface="Red Hat Mono"/>
              </a:rPr>
              <a:t>for (int spins = 0; spins &lt; kSpinBudget; ++spins) {</a:t>
            </a:r>
          </a:p>
          <a:p>
            <a:r>
              <a:rPr sz="1200">
                <a:solidFill>
                  <a:srgbClr val="F4F4F4"/>
                </a:solidFill>
                <a:latin typeface="Red Hat Mono"/>
              </a:rPr>
              <a:t>    if (seen != last_claimed) break;</a:t>
            </a:r>
          </a:p>
          <a:p>
            <a:r>
              <a:rPr sz="1200">
                <a:solidFill>
                  <a:srgbClr val="F4F4F4"/>
                </a:solidFill>
                <a:latin typeface="Red Hat Mono"/>
              </a:rPr>
              <a:t>    seen = ingest_ring.published.load(</a:t>
            </a:r>
          </a:p>
          <a:p>
            <a:r>
              <a:rPr sz="1200">
                <a:solidFill>
                  <a:srgbClr val="F4F4F4"/>
                </a:solidFill>
                <a:latin typeface="Red Hat Mono"/>
              </a:rPr>
              <a:t>        std::memory_order_acquire);</a:t>
            </a:r>
          </a:p>
          <a:p>
            <a:r>
              <a:rPr sz="1200">
                <a:solidFill>
                  <a:srgbClr val="F4F4F4"/>
                </a:solidFill>
                <a:latin typeface="Red Hat Mono"/>
              </a:rPr>
              <a:t>}</a:t>
            </a:r>
          </a:p>
          <a:p>
            <a:r>
              <a:rPr sz="1200">
                <a:solidFill>
                  <a:srgbClr val="F4F4F4"/>
                </a:solidFill>
                <a:latin typeface="Red Hat Mono"/>
              </a:rPr>
              <a:t>if (seen == last_claimed) {</a:t>
            </a:r>
          </a:p>
          <a:p>
            <a:r>
              <a:rPr sz="1200">
                <a:solidFill>
                  <a:srgbClr val="F4F4F4"/>
                </a:solidFill>
                <a:latin typeface="Red Hat Mono"/>
              </a:rPr>
              <a:t>    ingest_ring.published.wait(last_claimed,</a:t>
            </a:r>
          </a:p>
          <a:p>
            <a:r>
              <a:rPr sz="1200">
                <a:solidFill>
                  <a:srgbClr val="F4F4F4"/>
                </a:solidFill>
                <a:latin typeface="Red Hat Mono"/>
              </a:rPr>
              <a:t>                                std::memory_order_acquire);</a:t>
            </a:r>
          </a:p>
          <a:p>
            <a:r>
              <a:rPr sz="1200">
                <a:solidFill>
                  <a:srgbClr val="F4F4F4"/>
                </a:solidFill>
                <a:latin typeface="Red Hat Mono"/>
              </a:rP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Red Hat Display"/>
              </a:rPr>
              <a:t>▶ DEMO 33</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Red Hat Display"/>
              </a:rPr>
              <a:t>The full pipeline, under sustained load and a burst</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F4F4F4"/>
                </a:solidFill>
                <a:latin typeface="Red Hat Text"/>
              </a:rPr>
              <a:t>Runs pipeline once and checks that no accepted order was lost or duplicated through either ring, that the order book's own conservation counters balance, that match really is single-threaded, that the overload burst engaged back-pressure, and that p50/p99/p99.9 figures are present.</a:t>
            </a:r>
          </a:p>
        </p:txBody>
      </p:sp>
      <p:sp>
        <p:nvSpPr>
          <p:cNvPr id="6" name="Rectangle 5"/>
          <p:cNvSpPr/>
          <p:nvPr/>
        </p:nvSpPr>
        <p:spPr>
          <a:xfrm>
            <a:off x="548640" y="4297680"/>
            <a:ext cx="11064240" cy="109728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EE0000"/>
                </a:solidFill>
                <a:latin typeface="Red Hat Mono"/>
              </a:rPr>
              <a:t>$ cd examples/concurrency/33-ingest-match-publish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8A8A8A"/>
                </a:solidFill>
                <a:latin typeface="Red Hat Mono"/>
              </a:rPr>
              <a:t>  source on site: github.com/patterncatalyst/cpp-concurrency-and-parallelism/tree/main/examples/concurrency/33-ingest-match-publish</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61 / 62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51515"/>
        </a:solidFill>
        <a:effectLst/>
      </p:bgPr>
    </p:bg>
    <p:spTree>
      <p:nvGrpSpPr>
        <p:cNvPr id="1" name=""/>
        <p:cNvGrpSpPr/>
        <p:nvPr/>
      </p:nvGrpSpPr>
      <p:grpSpPr/>
      <p:sp>
        <p:nvSpPr>
          <p:cNvPr id="2" name="TextBox 1"/>
          <p:cNvSpPr txBox="1"/>
          <p:nvPr/>
        </p:nvSpPr>
        <p:spPr>
          <a:xfrm>
            <a:off x="914400" y="1463040"/>
            <a:ext cx="10332720" cy="914400"/>
          </a:xfrm>
          <a:prstGeom prst="rect">
            <a:avLst/>
          </a:prstGeom>
          <a:noFill/>
        </p:spPr>
        <p:txBody>
          <a:bodyPr wrap="square" anchor="t" lIns="45720" rIns="45720">
            <a:spAutoFit/>
          </a:bodyPr>
          <a:lstStyle/>
          <a:p>
            <a:pPr algn="l"/>
            <a:r>
              <a:rPr sz="3600" b="1" i="0">
                <a:solidFill>
                  <a:srgbClr val="FFFFFF"/>
                </a:solidFill>
                <a:latin typeface="Red Hat Display"/>
              </a:rPr>
              <a:t>Every claim here is runnable.</a:t>
            </a:r>
          </a:p>
        </p:txBody>
      </p:sp>
      <p:sp>
        <p:nvSpPr>
          <p:cNvPr id="3" name="TextBox 2"/>
          <p:cNvSpPr txBox="1"/>
          <p:nvPr/>
        </p:nvSpPr>
        <p:spPr>
          <a:xfrm>
            <a:off x="914400" y="2560320"/>
            <a:ext cx="10332720" cy="2377440"/>
          </a:xfrm>
          <a:prstGeom prst="rect">
            <a:avLst/>
          </a:prstGeom>
          <a:noFill/>
        </p:spPr>
        <p:txBody>
          <a:bodyPr wrap="square" anchor="t" lIns="45720" rIns="45720">
            <a:spAutoFit/>
          </a:bodyPr>
          <a:lstStyle/>
          <a:p>
            <a:pPr algn="l">
              <a:lnSpc>
                <a:spcPct val="115000"/>
              </a:lnSpc>
            </a:pPr>
            <a:r>
              <a:rPr sz="1800" b="0" i="0">
                <a:solidFill>
                  <a:srgbClr val="F4F4F4"/>
                </a:solidFill>
                <a:latin typeface="Red Hat Text"/>
              </a:rPr>
              <a:t>Locality, vectorization, and a trustworthy benchmark are the foundation everything else in this deck stands on.</a:t>
            </a:r>
          </a:p>
          <a:p>
            <a:pPr algn="l">
              <a:lnSpc>
                <a:spcPct val="115000"/>
              </a:lnSpc>
              <a:spcBef>
                <a:spcPts val="1000"/>
              </a:spcBef>
            </a:pPr>
            <a:r>
              <a:rPr sz="1800" b="0" i="0">
                <a:solidFill>
                  <a:srgbClr val="F4F4F4"/>
                </a:solidFill>
                <a:latin typeface="Red Hat Text"/>
              </a:rPr>
              <a:t>Mechanical sympathy and the Disruptor turn that foundation into a fast path; communication models and architecture patterns turn the fast path into a whole system.</a:t>
            </a:r>
          </a:p>
          <a:p>
            <a:pPr algn="l">
              <a:lnSpc>
                <a:spcPct val="115000"/>
              </a:lnSpc>
              <a:spcBef>
                <a:spcPts val="1000"/>
              </a:spcBef>
            </a:pPr>
            <a:r>
              <a:rPr sz="1800" b="0" i="0">
                <a:solidFill>
                  <a:srgbClr val="EE0000"/>
                </a:solidFill>
                <a:latin typeface="Red Hat Text"/>
              </a:rPr>
              <a:t>The full pipeline composes all of it, measured under load — and eight demos across this deck are where a reader's own hardware produces the real numbers.</a:t>
            </a:r>
          </a:p>
        </p:txBody>
      </p:sp>
      <p:sp>
        <p:nvSpPr>
          <p:cNvPr id="4" name="TextBox 3"/>
          <p:cNvSpPr txBox="1"/>
          <p:nvPr/>
        </p:nvSpPr>
        <p:spPr>
          <a:xfrm>
            <a:off x="914400" y="5120640"/>
            <a:ext cx="10332720" cy="457200"/>
          </a:xfrm>
          <a:prstGeom prst="rect">
            <a:avLst/>
          </a:prstGeom>
          <a:noFill/>
        </p:spPr>
        <p:txBody>
          <a:bodyPr wrap="square" anchor="t" lIns="45720" rIns="45720">
            <a:spAutoFit/>
          </a:bodyPr>
          <a:lstStyle/>
          <a:p>
            <a:pPr algn="l"/>
            <a:r>
              <a:rPr sz="1600" b="0" i="0">
                <a:solidFill>
                  <a:srgbClr val="8A8A8A"/>
                </a:solidFill>
                <a:latin typeface="Red Hat Text"/>
              </a:rPr>
              <a:t>Read the book  •  run the demos under examples/concurrency/  •  the source is on the repo</a:t>
            </a:r>
          </a:p>
        </p:txBody>
      </p:sp>
      <p:sp>
        <p:nvSpPr>
          <p:cNvPr id="5" name="TextBox 4"/>
          <p:cNvSpPr txBox="1"/>
          <p:nvPr/>
        </p:nvSpPr>
        <p:spPr>
          <a:xfrm>
            <a:off x="914400" y="5852160"/>
            <a:ext cx="10332720" cy="365760"/>
          </a:xfrm>
          <a:prstGeom prst="rect">
            <a:avLst/>
          </a:prstGeom>
          <a:noFill/>
        </p:spPr>
        <p:txBody>
          <a:bodyPr wrap="square" anchor="t" lIns="45720" rIns="45720">
            <a:spAutoFit/>
          </a:bodyPr>
          <a:lstStyle/>
          <a:p>
            <a:pPr algn="l"/>
            <a:r>
              <a:rPr sz="1100" b="0" i="0">
                <a:solidFill>
                  <a:srgbClr val="8A8A8A"/>
                </a:solidFill>
                <a:latin typeface="Red Hat Mono"/>
              </a:rPr>
              <a:t>github.com/patterncatalyst/cpp-concurrency-and-parallelism</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TextBox 1"/>
          <p:cNvSpPr txBox="1"/>
          <p:nvPr/>
        </p:nvSpPr>
        <p:spPr>
          <a:xfrm>
            <a:off x="566927" y="384047"/>
            <a:ext cx="11055095" cy="292607"/>
          </a:xfrm>
          <a:prstGeom prst="rect">
            <a:avLst/>
          </a:prstGeom>
          <a:noFill/>
        </p:spPr>
        <p:txBody>
          <a:bodyPr wrap="square" lIns="0" rIns="0" tIns="0" bIns="0" anchor="ctr">
            <a:spAutoFit/>
          </a:bodyPr>
          <a:lstStyle/>
          <a:p>
            <a:pPr algn="l"/>
            <a:r>
              <a:rPr sz="1199" b="1" i="0" spc="399">
                <a:solidFill>
                  <a:srgbClr val="EE0000"/>
                </a:solidFill>
                <a:latin typeface="Overpass"/>
                <a:cs typeface="Overpass"/>
              </a:rPr>
              <a:t>SCAN TO EXPLORE</a:t>
            </a:r>
          </a:p>
        </p:txBody>
      </p:sp>
      <p:sp>
        <p:nvSpPr>
          <p:cNvPr id="3" name="TextBox 2"/>
          <p:cNvSpPr txBox="1"/>
          <p:nvPr/>
        </p:nvSpPr>
        <p:spPr>
          <a:xfrm>
            <a:off x="566927" y="676655"/>
            <a:ext cx="11055095" cy="1005839"/>
          </a:xfrm>
          <a:prstGeom prst="rect">
            <a:avLst/>
          </a:prstGeom>
          <a:noFill/>
        </p:spPr>
        <p:txBody>
          <a:bodyPr wrap="square" lIns="0" rIns="0" tIns="0" bIns="0" anchor="t">
            <a:spAutoFit/>
          </a:bodyPr>
          <a:lstStyle/>
          <a:p>
            <a:pPr algn="l"/>
            <a:r>
              <a:rPr sz="2999" b="1" i="0">
                <a:solidFill>
                  <a:srgbClr val="151515"/>
                </a:solidFill>
                <a:latin typeface="Overpass"/>
                <a:cs typeface="Overpass"/>
              </a:rPr>
              <a:t>Take it with you</a:t>
            </a:r>
          </a:p>
        </p:txBody>
      </p:sp>
      <p:pic>
        <p:nvPicPr>
          <p:cNvPr id="4" name="Picture 3" descr="qr-cppc-site.png"/>
          <p:cNvPicPr>
            <a:picLocks noChangeAspect="1"/>
          </p:cNvPicPr>
          <p:nvPr/>
        </p:nvPicPr>
        <p:blipFill>
          <a:blip r:embed="rId2"/>
          <a:stretch>
            <a:fillRect/>
          </a:stretch>
        </p:blipFill>
        <p:spPr>
          <a:xfrm>
            <a:off x="2103119" y="1627631"/>
            <a:ext cx="2834639" cy="2834639"/>
          </a:xfrm>
          <a:prstGeom prst="rect">
            <a:avLst/>
          </a:prstGeom>
        </p:spPr>
      </p:pic>
      <p:sp>
        <p:nvSpPr>
          <p:cNvPr id="5" name="TextBox 4"/>
          <p:cNvSpPr txBox="1"/>
          <p:nvPr/>
        </p:nvSpPr>
        <p:spPr>
          <a:xfrm>
            <a:off x="1417319" y="4553711"/>
            <a:ext cx="4206239" cy="365759"/>
          </a:xfrm>
          <a:prstGeom prst="rect">
            <a:avLst/>
          </a:prstGeom>
          <a:noFill/>
        </p:spPr>
        <p:txBody>
          <a:bodyPr wrap="square" lIns="0" rIns="0" tIns="0" bIns="0" anchor="ctr">
            <a:spAutoFit/>
          </a:bodyPr>
          <a:lstStyle/>
          <a:p>
            <a:pPr algn="ctr"/>
            <a:r>
              <a:rPr sz="1799" b="1" i="0">
                <a:solidFill>
                  <a:srgbClr val="151515"/>
                </a:solidFill>
                <a:latin typeface="Overpass"/>
                <a:cs typeface="Overpass"/>
              </a:rPr>
              <a:t>The site</a:t>
            </a:r>
          </a:p>
        </p:txBody>
      </p:sp>
      <p:sp>
        <p:nvSpPr>
          <p:cNvPr id="6" name="TextBox 5"/>
          <p:cNvSpPr txBox="1"/>
          <p:nvPr/>
        </p:nvSpPr>
        <p:spPr>
          <a:xfrm>
            <a:off x="1325879" y="4937759"/>
            <a:ext cx="4389119" cy="658367"/>
          </a:xfrm>
          <a:prstGeom prst="rect">
            <a:avLst/>
          </a:prstGeom>
          <a:noFill/>
        </p:spPr>
        <p:txBody>
          <a:bodyPr wrap="square" lIns="0" rIns="0" tIns="0" bIns="0" anchor="t">
            <a:spAutoFit/>
          </a:bodyPr>
          <a:lstStyle/>
          <a:p>
            <a:pPr algn="ctr"/>
            <a:r>
              <a:rPr sz="1299" b="0" i="1">
                <a:solidFill>
                  <a:srgbClr val="5A5A5A"/>
                </a:solidFill>
                <a:latin typeface="Red Hat Text"/>
                <a:cs typeface="Red Hat Text"/>
              </a:rPr>
              <a:t>Chapters, the runnable C++ examples, and the benchmarks</a:t>
            </a:r>
          </a:p>
        </p:txBody>
      </p:sp>
      <p:sp>
        <p:nvSpPr>
          <p:cNvPr id="7" name="TextBox 6"/>
          <p:cNvSpPr txBox="1"/>
          <p:nvPr/>
        </p:nvSpPr>
        <p:spPr>
          <a:xfrm>
            <a:off x="1325879" y="5596127"/>
            <a:ext cx="4389119" cy="292607"/>
          </a:xfrm>
          <a:prstGeom prst="rect">
            <a:avLst/>
          </a:prstGeom>
          <a:noFill/>
        </p:spPr>
        <p:txBody>
          <a:bodyPr wrap="square" lIns="0" rIns="0" tIns="0" bIns="0" anchor="ctr">
            <a:spAutoFit/>
          </a:bodyPr>
          <a:lstStyle/>
          <a:p>
            <a:pPr algn="ctr"/>
            <a:r>
              <a:rPr sz="899" b="0" i="0">
                <a:solidFill>
                  <a:srgbClr val="EE0000"/>
                </a:solidFill>
                <a:latin typeface="Red Hat Mono"/>
                <a:cs typeface="Red Hat Mono"/>
              </a:rPr>
              <a:t>patterncatalyst.github.io/cpp-concurrency-and-parallelism</a:t>
            </a:r>
          </a:p>
        </p:txBody>
      </p:sp>
      <p:pic>
        <p:nvPicPr>
          <p:cNvPr id="8" name="Picture 7" descr="qr-hub.png"/>
          <p:cNvPicPr>
            <a:picLocks noChangeAspect="1"/>
          </p:cNvPicPr>
          <p:nvPr/>
        </p:nvPicPr>
        <p:blipFill>
          <a:blip r:embed="rId3"/>
          <a:stretch>
            <a:fillRect/>
          </a:stretch>
        </p:blipFill>
        <p:spPr>
          <a:xfrm>
            <a:off x="7251191" y="1627631"/>
            <a:ext cx="2834639" cy="2834639"/>
          </a:xfrm>
          <a:prstGeom prst="rect">
            <a:avLst/>
          </a:prstGeom>
        </p:spPr>
      </p:pic>
      <p:sp>
        <p:nvSpPr>
          <p:cNvPr id="9" name="TextBox 8"/>
          <p:cNvSpPr txBox="1"/>
          <p:nvPr/>
        </p:nvSpPr>
        <p:spPr>
          <a:xfrm>
            <a:off x="6565391" y="4553711"/>
            <a:ext cx="4206239" cy="365759"/>
          </a:xfrm>
          <a:prstGeom prst="rect">
            <a:avLst/>
          </a:prstGeom>
          <a:noFill/>
        </p:spPr>
        <p:txBody>
          <a:bodyPr wrap="square" lIns="0" rIns="0" tIns="0" bIns="0" anchor="ctr">
            <a:spAutoFit/>
          </a:bodyPr>
          <a:lstStyle/>
          <a:p>
            <a:pPr algn="ctr"/>
            <a:r>
              <a:rPr sz="1799" b="1" i="0">
                <a:solidFill>
                  <a:srgbClr val="151515"/>
                </a:solidFill>
                <a:latin typeface="Overpass"/>
                <a:cs typeface="Overpass"/>
              </a:rPr>
              <a:t>Workshops &amp; Tutorials</a:t>
            </a:r>
          </a:p>
        </p:txBody>
      </p:sp>
      <p:sp>
        <p:nvSpPr>
          <p:cNvPr id="10" name="TextBox 9"/>
          <p:cNvSpPr txBox="1"/>
          <p:nvPr/>
        </p:nvSpPr>
        <p:spPr>
          <a:xfrm>
            <a:off x="6473951" y="4937759"/>
            <a:ext cx="4389119" cy="658367"/>
          </a:xfrm>
          <a:prstGeom prst="rect">
            <a:avLst/>
          </a:prstGeom>
          <a:noFill/>
        </p:spPr>
        <p:txBody>
          <a:bodyPr wrap="square" lIns="0" rIns="0" tIns="0" bIns="0" anchor="t">
            <a:spAutoFit/>
          </a:bodyPr>
          <a:lstStyle/>
          <a:p>
            <a:pPr algn="ctr"/>
            <a:r>
              <a:rPr sz="1299" b="0" i="1">
                <a:solidFill>
                  <a:srgbClr val="5A5A5A"/>
                </a:solidFill>
                <a:latin typeface="Red Hat Text"/>
                <a:cs typeface="Red Hat Text"/>
              </a:rPr>
              <a:t>The whole series: every workshop, tutorial, and deck in one place</a:t>
            </a:r>
          </a:p>
        </p:txBody>
      </p:sp>
      <p:sp>
        <p:nvSpPr>
          <p:cNvPr id="11" name="TextBox 10"/>
          <p:cNvSpPr txBox="1"/>
          <p:nvPr/>
        </p:nvSpPr>
        <p:spPr>
          <a:xfrm>
            <a:off x="6473951" y="5596127"/>
            <a:ext cx="4389119" cy="292607"/>
          </a:xfrm>
          <a:prstGeom prst="rect">
            <a:avLst/>
          </a:prstGeom>
          <a:noFill/>
        </p:spPr>
        <p:txBody>
          <a:bodyPr wrap="square" lIns="0" rIns="0" tIns="0" bIns="0" anchor="ctr">
            <a:spAutoFit/>
          </a:bodyPr>
          <a:lstStyle/>
          <a:p>
            <a:pPr algn="ctr"/>
            <a:r>
              <a:rPr sz="899" b="0" i="0">
                <a:solidFill>
                  <a:srgbClr val="EE0000"/>
                </a:solidFill>
                <a:latin typeface="Red Hat Mono"/>
                <a:cs typeface="Red Hat Mono"/>
              </a:rPr>
              <a:t>patterncatalyst.github.io/patterncatalyst-workshops-tutorials-list</a:t>
            </a:r>
          </a:p>
        </p:txBody>
      </p:sp>
      <p:sp>
        <p:nvSpPr>
          <p:cNvPr id="12" name="TextBox 11"/>
          <p:cNvSpPr txBox="1"/>
          <p:nvPr/>
        </p:nvSpPr>
        <p:spPr>
          <a:xfrm>
            <a:off x="566927" y="6364223"/>
            <a:ext cx="914399" cy="274319"/>
          </a:xfrm>
          <a:prstGeom prst="rect">
            <a:avLst/>
          </a:prstGeom>
          <a:noFill/>
        </p:spPr>
        <p:txBody>
          <a:bodyPr wrap="square" lIns="0" rIns="0" tIns="0" bIns="0" anchor="ctr">
            <a:spAutoFit/>
          </a:bodyPr>
          <a:lstStyle/>
          <a:p>
            <a:pPr algn="l"/>
            <a:r>
              <a:rPr sz="999" b="0" i="0">
                <a:solidFill>
                  <a:srgbClr val="8A8A8A"/>
                </a:solidFill>
                <a:latin typeface="Red Hat Text"/>
                <a:cs typeface="Red Hat Text"/>
              </a:rPr>
              <a:t>63</a:t>
            </a:r>
          </a:p>
        </p:txBody>
      </p:sp>
      <p:pic>
        <p:nvPicPr>
          <p:cNvPr id="13" name="Picture 12" descr="logo-candidate-2.png"/>
          <p:cNvPicPr>
            <a:picLocks noChangeAspect="1"/>
          </p:cNvPicPr>
          <p:nvPr/>
        </p:nvPicPr>
        <p:blipFill>
          <a:blip r:embed="rId4"/>
          <a:stretch>
            <a:fillRect/>
          </a:stretch>
        </p:blipFill>
        <p:spPr>
          <a:xfrm>
            <a:off x="10561319" y="6355079"/>
            <a:ext cx="1033271" cy="2468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